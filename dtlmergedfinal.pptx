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3" r:id="rId3"/>
    <p:sldMasterId id="2147483665" r:id="rId4"/>
  </p:sldMasterIdLst>
  <p:notesMasterIdLst>
    <p:notesMasterId r:id="rId5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304" r:id="rId46"/>
    <p:sldId id="305" r:id="rId47"/>
    <p:sldId id="297" r:id="rId48"/>
    <p:sldId id="307" r:id="rId49"/>
    <p:sldId id="298" r:id="rId50"/>
    <p:sldId id="299" r:id="rId51"/>
    <p:sldId id="300" r:id="rId52"/>
    <p:sldId id="308" r:id="rId53"/>
    <p:sldId id="301" r:id="rId54"/>
    <p:sldId id="302" r:id="rId55"/>
    <p:sldId id="303" r:id="rId56"/>
  </p:sldIdLst>
  <p:sldSz cx="9144000" cy="5143500" type="screen16x9"/>
  <p:notesSz cx="6858000" cy="9144000"/>
  <p:embeddedFontLst>
    <p:embeddedFont>
      <p:font typeface="Average" panose="020B0604020202020204" charset="0"/>
      <p:regular r:id="rId58"/>
    </p:embeddedFont>
    <p:embeddedFont>
      <p:font typeface="Cabin" panose="020B0604020202020204" charset="0"/>
      <p:regular r:id="rId59"/>
    </p:embeddedFont>
    <p:embeddedFont>
      <p:font typeface="JetBrains Mono" panose="020B0604020202020204" charset="0"/>
      <p:regular r:id="rId60"/>
      <p:bold r:id="rId61"/>
      <p:italic r:id="rId62"/>
      <p:boldItalic r:id="rId63"/>
    </p:embeddedFont>
    <p:embeddedFont>
      <p:font typeface="Oswald" panose="00000500000000000000" pitchFamily="2" charset="0"/>
      <p:regular r:id="rId64"/>
      <p:bold r:id="rId65"/>
    </p:embeddedFont>
    <p:embeddedFont>
      <p:font typeface="Times" panose="02020603050405020304" pitchFamily="18" charset="0"/>
      <p:regular r:id="rId66"/>
      <p:bold r:id="rId67"/>
      <p:italic r:id="rId68"/>
      <p:boldItalic r:id="rId69"/>
    </p:embeddedFont>
    <p:embeddedFont>
      <p:font typeface="Unbounded" panose="020B0604020202020204" charset="0"/>
      <p:regular r:id="rId70"/>
    </p:embeddedFont>
    <p:embeddedFont>
      <p:font typeface="Urbanist" panose="020B0604020202020204" charset="0"/>
      <p:regular r:id="rId71"/>
      <p:bold r:id="rId72"/>
      <p:italic r:id="rId73"/>
      <p:boldItalic r:id="rId74"/>
    </p:embeddedFont>
    <p:embeddedFont>
      <p:font typeface="Urbanist SemiBold" panose="020B060402020202020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font" Target="fonts/font1.fntdata"/><Relationship Id="rId74" Type="http://schemas.openxmlformats.org/officeDocument/2006/relationships/font" Target="fonts/font17.fntdata"/><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font" Target="fonts/font4.fntdata"/><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font" Target="fonts/font20.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5.fntdata"/><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font" Target="fonts/font21.fntdata"/><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9.fntdata"/><Relationship Id="rId7" Type="http://schemas.openxmlformats.org/officeDocument/2006/relationships/slide" Target="slides/slide3.xml"/><Relationship Id="rId71"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9f8999f01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9f8999f01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9f8999f01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9f8999f01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9f8d2f162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9f8d2f162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9f8999f013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9f8999f01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9f8999f01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9f8999f01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9f8999f01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9f8999f01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f8999f013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f8999f01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eed907ae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8eed907ae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a8fe4a323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a8fe4a32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f8999f013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9f8999f01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9f8999f013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9f8999f01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aba0824ed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aba0824e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9f8999f013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9f8999f01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90289022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a9028902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9f8999f013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9f8999f013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72E8A86-3495-EFDD-A5FF-923E55CCDD36}"/>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F73318A1-D54A-AE2F-5E48-303D411FE4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09F3BB07-9EBB-C25C-2759-6D3558DAD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086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42900" y="4767262"/>
            <a:ext cx="1600200" cy="27384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343150" y="4767262"/>
            <a:ext cx="2171700" cy="27384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914900" y="4767262"/>
            <a:ext cx="1600200" cy="27384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8024509" y="4843462"/>
            <a:ext cx="1076628" cy="2571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42900" y="4767262"/>
            <a:ext cx="1600200" cy="27384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343150" y="4767262"/>
            <a:ext cx="2171700" cy="27384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914900" y="4767262"/>
            <a:ext cx="1600200" cy="27384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42900" y="205978"/>
            <a:ext cx="6172200" cy="85725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7" name="Google Shape;7;p1"/>
          <p:cNvSpPr txBox="1">
            <a:spLocks noGrp="1"/>
          </p:cNvSpPr>
          <p:nvPr>
            <p:ph type="body" idx="1"/>
          </p:nvPr>
        </p:nvSpPr>
        <p:spPr>
          <a:xfrm>
            <a:off x="342900" y="1200150"/>
            <a:ext cx="61722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24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42900" y="4767262"/>
            <a:ext cx="1600200" cy="27384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343150" y="4767262"/>
            <a:ext cx="2171700" cy="27384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914900" y="4767262"/>
            <a:ext cx="1600200" cy="27384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Lst>
  <p:hf sldNum="0" hdr="0" ftr="0" dt="0"/>
  <p:txStyles>
    <p:titleStyle>
      <a:lvl1pPr algn="ctr" defTabSz="914400" rtl="0" eaLnBrk="1" latinLnBrk="0" hangingPunct="1">
        <a:spcBef>
          <a:spcPct val="0"/>
        </a:spcBef>
        <a:buNone/>
        <a:defRPr sz="27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7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250" kern="1200">
          <a:solidFill>
            <a:schemeClr val="tx1"/>
          </a:solidFill>
          <a:latin typeface="+mn-lt"/>
          <a:ea typeface="+mn-ea"/>
          <a:cs typeface="+mn-cs"/>
        </a:defRPr>
      </a:lvl9pPr>
    </p:bodyStyle>
    <p:otherStyle>
      <a:defPPr>
        <a:defRPr lang="en-US"/>
      </a:defPPr>
      <a:lvl1pPr marL="0" algn="l" defTabSz="914400" rtl="0" eaLnBrk="1" latinLnBrk="0" hangingPunct="1">
        <a:defRPr sz="1125" kern="1200">
          <a:solidFill>
            <a:schemeClr val="tx1"/>
          </a:solidFill>
          <a:latin typeface="+mn-lt"/>
          <a:ea typeface="+mn-ea"/>
          <a:cs typeface="+mn-cs"/>
        </a:defRPr>
      </a:lvl1pPr>
      <a:lvl2pPr marL="457200" algn="l" defTabSz="914400" rtl="0" eaLnBrk="1" latinLnBrk="0" hangingPunct="1">
        <a:defRPr sz="1125" kern="1200">
          <a:solidFill>
            <a:schemeClr val="tx1"/>
          </a:solidFill>
          <a:latin typeface="+mn-lt"/>
          <a:ea typeface="+mn-ea"/>
          <a:cs typeface="+mn-cs"/>
        </a:defRPr>
      </a:lvl2pPr>
      <a:lvl3pPr marL="914400" algn="l" defTabSz="914400" rtl="0" eaLnBrk="1" latinLnBrk="0" hangingPunct="1">
        <a:defRPr sz="1125" kern="1200">
          <a:solidFill>
            <a:schemeClr val="tx1"/>
          </a:solidFill>
          <a:latin typeface="+mn-lt"/>
          <a:ea typeface="+mn-ea"/>
          <a:cs typeface="+mn-cs"/>
        </a:defRPr>
      </a:lvl3pPr>
      <a:lvl4pPr marL="1371600" algn="l" defTabSz="914400" rtl="0" eaLnBrk="1" latinLnBrk="0" hangingPunct="1">
        <a:defRPr sz="1125" kern="1200">
          <a:solidFill>
            <a:schemeClr val="tx1"/>
          </a:solidFill>
          <a:latin typeface="+mn-lt"/>
          <a:ea typeface="+mn-ea"/>
          <a:cs typeface="+mn-cs"/>
        </a:defRPr>
      </a:lvl4pPr>
      <a:lvl5pPr marL="1828800" algn="l" defTabSz="914400" rtl="0" eaLnBrk="1" latinLnBrk="0" hangingPunct="1">
        <a:defRPr sz="1125" kern="1200">
          <a:solidFill>
            <a:schemeClr val="tx1"/>
          </a:solidFill>
          <a:latin typeface="+mn-lt"/>
          <a:ea typeface="+mn-ea"/>
          <a:cs typeface="+mn-cs"/>
        </a:defRPr>
      </a:lvl5pPr>
      <a:lvl6pPr marL="2286000" algn="l" defTabSz="914400" rtl="0" eaLnBrk="1" latinLnBrk="0" hangingPunct="1">
        <a:defRPr sz="1125" kern="1200">
          <a:solidFill>
            <a:schemeClr val="tx1"/>
          </a:solidFill>
          <a:latin typeface="+mn-lt"/>
          <a:ea typeface="+mn-ea"/>
          <a:cs typeface="+mn-cs"/>
        </a:defRPr>
      </a:lvl6pPr>
      <a:lvl7pPr marL="2743200" algn="l" defTabSz="914400" rtl="0" eaLnBrk="1" latinLnBrk="0" hangingPunct="1">
        <a:defRPr sz="1125" kern="1200">
          <a:solidFill>
            <a:schemeClr val="tx1"/>
          </a:solidFill>
          <a:latin typeface="+mn-lt"/>
          <a:ea typeface="+mn-ea"/>
          <a:cs typeface="+mn-cs"/>
        </a:defRPr>
      </a:lvl7pPr>
      <a:lvl8pPr marL="3200400" algn="l" defTabSz="914400" rtl="0" eaLnBrk="1" latinLnBrk="0" hangingPunct="1">
        <a:defRPr sz="1125" kern="1200">
          <a:solidFill>
            <a:schemeClr val="tx1"/>
          </a:solidFill>
          <a:latin typeface="+mn-lt"/>
          <a:ea typeface="+mn-ea"/>
          <a:cs typeface="+mn-cs"/>
        </a:defRPr>
      </a:lvl8pPr>
      <a:lvl9pPr marL="3657600" algn="l" defTabSz="914400" rtl="0" eaLnBrk="1" latinLnBrk="0" hangingPunct="1">
        <a:defRPr sz="112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42900" y="205978"/>
            <a:ext cx="6172200" cy="85725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7" name="Google Shape;7;p1"/>
          <p:cNvSpPr txBox="1">
            <a:spLocks noGrp="1"/>
          </p:cNvSpPr>
          <p:nvPr>
            <p:ph type="body" idx="1"/>
          </p:nvPr>
        </p:nvSpPr>
        <p:spPr>
          <a:xfrm>
            <a:off x="342900" y="1200150"/>
            <a:ext cx="61722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24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42900" y="4767262"/>
            <a:ext cx="1600200" cy="27384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343150" y="4767262"/>
            <a:ext cx="2171700" cy="27384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914900" y="4767262"/>
            <a:ext cx="1600200" cy="27384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9.png"/><Relationship Id="rId7"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59.png"/><Relationship Id="rId7"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9.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0.png"/></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6.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3" Type="http://schemas.openxmlformats.org/officeDocument/2006/relationships/image" Target="../media/image81.png"/><Relationship Id="rId7" Type="http://schemas.openxmlformats.org/officeDocument/2006/relationships/image" Target="../media/image101.png"/><Relationship Id="rId12" Type="http://schemas.openxmlformats.org/officeDocument/2006/relationships/image" Target="../media/image106.png"/><Relationship Id="rId17" Type="http://schemas.openxmlformats.org/officeDocument/2006/relationships/image" Target="../media/image111.png"/><Relationship Id="rId2" Type="http://schemas.openxmlformats.org/officeDocument/2006/relationships/notesSlide" Target="../notesSlides/notesSlide40.xml"/><Relationship Id="rId16"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5" Type="http://schemas.openxmlformats.org/officeDocument/2006/relationships/image" Target="../media/image10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image" Target="../media/image108.png"/></Relationships>
</file>

<file path=ppt/slides/_rels/slide47.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image" Target="../media/image8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s>
</file>

<file path=ppt/slides/_rels/slide48.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3" Type="http://schemas.openxmlformats.org/officeDocument/2006/relationships/image" Target="../media/image81.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 Type="http://schemas.openxmlformats.org/officeDocument/2006/relationships/notesSlide" Target="../notesSlides/notesSlide42.xml"/><Relationship Id="rId16" Type="http://schemas.openxmlformats.org/officeDocument/2006/relationships/image" Target="../media/image136.png"/><Relationship Id="rId20" Type="http://schemas.openxmlformats.org/officeDocument/2006/relationships/image" Target="../media/image140.png"/><Relationship Id="rId1" Type="http://schemas.openxmlformats.org/officeDocument/2006/relationships/slideLayout" Target="../slideLayouts/slideLayout1.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s>
</file>

<file path=ppt/slides/_rels/slide49.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81.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s>
</file>

<file path=ppt/slides/_rels/slide50.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59.png"/><Relationship Id="rId7" Type="http://schemas.openxmlformats.org/officeDocument/2006/relationships/image" Target="../media/image15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155.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1433300" y="-49500"/>
            <a:ext cx="6445500" cy="115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20"/>
              <a:t>AI POWERED PLAGIARISM AND DATA INTEGRITY GUARDIAN FOR ACADEMIC SUBMISSIONS</a:t>
            </a:r>
            <a:endParaRPr sz="2820"/>
          </a:p>
        </p:txBody>
      </p:sp>
      <p:sp>
        <p:nvSpPr>
          <p:cNvPr id="60" name="Google Shape;60;p13"/>
          <p:cNvSpPr txBox="1">
            <a:spLocks noGrp="1"/>
          </p:cNvSpPr>
          <p:nvPr>
            <p:ph type="subTitle" idx="1"/>
          </p:nvPr>
        </p:nvSpPr>
        <p:spPr>
          <a:xfrm>
            <a:off x="6888850" y="3845800"/>
            <a:ext cx="2421000" cy="12978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sz="1700"/>
              <a:t>By-</a:t>
            </a:r>
            <a:br>
              <a:rPr lang="en" sz="1700"/>
            </a:br>
            <a:r>
              <a:rPr lang="en" sz="1700"/>
              <a:t>Sohan Sridhar</a:t>
            </a:r>
            <a:endParaRPr sz="1700"/>
          </a:p>
          <a:p>
            <a:pPr marL="0" lvl="0" indent="0" algn="l" rtl="0">
              <a:spcBef>
                <a:spcPts val="0"/>
              </a:spcBef>
              <a:spcAft>
                <a:spcPts val="0"/>
              </a:spcAft>
              <a:buNone/>
            </a:pPr>
            <a:r>
              <a:rPr lang="en" sz="1700"/>
              <a:t>Syed Sameer</a:t>
            </a:r>
            <a:endParaRPr sz="1700"/>
          </a:p>
          <a:p>
            <a:pPr marL="0" lvl="0" indent="0" algn="l" rtl="0">
              <a:spcBef>
                <a:spcPts val="0"/>
              </a:spcBef>
              <a:spcAft>
                <a:spcPts val="0"/>
              </a:spcAft>
              <a:buNone/>
            </a:pPr>
            <a:r>
              <a:rPr lang="en" sz="1700"/>
              <a:t>Srujan Nadig</a:t>
            </a:r>
            <a:endParaRPr sz="1700"/>
          </a:p>
          <a:p>
            <a:pPr marL="0" lvl="0" indent="0" algn="l" rtl="0">
              <a:spcBef>
                <a:spcPts val="0"/>
              </a:spcBef>
              <a:spcAft>
                <a:spcPts val="0"/>
              </a:spcAft>
              <a:buNone/>
            </a:pPr>
            <a:r>
              <a:rPr lang="en" sz="1700"/>
              <a:t>Yadhu Vamshi P</a:t>
            </a:r>
            <a:endParaRPr sz="1700"/>
          </a:p>
        </p:txBody>
      </p:sp>
      <p:sp>
        <p:nvSpPr>
          <p:cNvPr id="61" name="Google Shape;61;p13"/>
          <p:cNvSpPr txBox="1"/>
          <p:nvPr/>
        </p:nvSpPr>
        <p:spPr>
          <a:xfrm>
            <a:off x="2412500" y="1048075"/>
            <a:ext cx="4131900" cy="59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accent3"/>
                </a:solidFill>
                <a:latin typeface="Average"/>
                <a:ea typeface="Average"/>
                <a:cs typeface="Average"/>
                <a:sym typeface="Average"/>
              </a:rPr>
              <a:t>DTL </a:t>
            </a:r>
            <a:endParaRPr sz="1800" dirty="0">
              <a:solidFill>
                <a:schemeClr val="accent3"/>
              </a:solidFill>
              <a:latin typeface="Average"/>
              <a:ea typeface="Average"/>
              <a:cs typeface="Average"/>
              <a:sym typeface="Average"/>
            </a:endParaRPr>
          </a:p>
        </p:txBody>
      </p:sp>
      <p:pic>
        <p:nvPicPr>
          <p:cNvPr id="62" name="Google Shape;62;p13"/>
          <p:cNvPicPr preferRelativeResize="0"/>
          <p:nvPr/>
        </p:nvPicPr>
        <p:blipFill>
          <a:blip r:embed="rId3">
            <a:alphaModFix/>
          </a:blip>
          <a:stretch>
            <a:fillRect/>
          </a:stretch>
        </p:blipFill>
        <p:spPr>
          <a:xfrm>
            <a:off x="1301050" y="1564725"/>
            <a:ext cx="6710001" cy="2281075"/>
          </a:xfrm>
          <a:prstGeom prst="rect">
            <a:avLst/>
          </a:prstGeom>
          <a:noFill/>
          <a:ln>
            <a:noFill/>
          </a:ln>
        </p:spPr>
      </p:pic>
      <p:pic>
        <p:nvPicPr>
          <p:cNvPr id="63" name="Google Shape;63;p13"/>
          <p:cNvPicPr preferRelativeResize="0"/>
          <p:nvPr/>
        </p:nvPicPr>
        <p:blipFill>
          <a:blip r:embed="rId4">
            <a:alphaModFix/>
          </a:blip>
          <a:stretch>
            <a:fillRect/>
          </a:stretch>
        </p:blipFill>
        <p:spPr>
          <a:xfrm>
            <a:off x="0" y="0"/>
            <a:ext cx="1048075" cy="1048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9" name="Google Shape;69;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0" name="Google Shape;70;p14"/>
          <p:cNvPicPr preferRelativeResize="0"/>
          <p:nvPr/>
        </p:nvPicPr>
        <p:blipFill>
          <a:blip r:embed="rId3">
            <a:alphaModFix/>
          </a:blip>
          <a:stretch>
            <a:fillRect/>
          </a:stretch>
        </p:blipFill>
        <p:spPr>
          <a:xfrm>
            <a:off x="0" y="0"/>
            <a:ext cx="9144001" cy="5143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6" name="Google Shape;7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7" name="Google Shape;77;p15"/>
          <p:cNvPicPr preferRelativeResize="0"/>
          <p:nvPr/>
        </p:nvPicPr>
        <p:blipFill>
          <a:blip r:embed="rId3">
            <a:alphaModFix/>
          </a:blip>
          <a:stretch>
            <a:fillRect/>
          </a:stretch>
        </p:blipFill>
        <p:spPr>
          <a:xfrm>
            <a:off x="0" y="0"/>
            <a:ext cx="9144001"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3" name="Google Shape;8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4" name="Google Shape;84;p16"/>
          <p:cNvPicPr preferRelativeResize="0"/>
          <p:nvPr/>
        </p:nvPicPr>
        <p:blipFill>
          <a:blip r:embed="rId3">
            <a:alphaModFix/>
          </a:blip>
          <a:stretch>
            <a:fillRect/>
          </a:stretch>
        </p:blipFill>
        <p:spPr>
          <a:xfrm>
            <a:off x="0" y="0"/>
            <a:ext cx="9144002"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0" name="Google Shape;9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1" name="Google Shape;91;p17"/>
          <p:cNvPicPr preferRelativeResize="0"/>
          <p:nvPr/>
        </p:nvPicPr>
        <p:blipFill>
          <a:blip r:embed="rId3">
            <a:alphaModFix/>
          </a:blip>
          <a:stretch>
            <a:fillRect/>
          </a:stretch>
        </p:blipFill>
        <p:spPr>
          <a:xfrm>
            <a:off x="0" y="0"/>
            <a:ext cx="9143999"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7" name="Google Shape;9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8" name="Google Shape;98;p1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4" name="Google Shape;10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5" name="Google Shape;105;p19"/>
          <p:cNvPicPr preferRelativeResize="0"/>
          <p:nvPr/>
        </p:nvPicPr>
        <p:blipFill>
          <a:blip r:embed="rId3">
            <a:alphaModFix/>
          </a:blip>
          <a:stretch>
            <a:fillRect/>
          </a:stretch>
        </p:blipFill>
        <p:spPr>
          <a:xfrm>
            <a:off x="0" y="0"/>
            <a:ext cx="9143999" cy="940475"/>
          </a:xfrm>
          <a:prstGeom prst="rect">
            <a:avLst/>
          </a:prstGeom>
          <a:noFill/>
          <a:ln>
            <a:noFill/>
          </a:ln>
        </p:spPr>
      </p:pic>
      <p:pic>
        <p:nvPicPr>
          <p:cNvPr id="106" name="Google Shape;106;p19"/>
          <p:cNvPicPr preferRelativeResize="0"/>
          <p:nvPr/>
        </p:nvPicPr>
        <p:blipFill>
          <a:blip r:embed="rId4">
            <a:alphaModFix/>
          </a:blip>
          <a:stretch>
            <a:fillRect/>
          </a:stretch>
        </p:blipFill>
        <p:spPr>
          <a:xfrm>
            <a:off x="0" y="897425"/>
            <a:ext cx="4629150" cy="4246075"/>
          </a:xfrm>
          <a:prstGeom prst="rect">
            <a:avLst/>
          </a:prstGeom>
          <a:noFill/>
          <a:ln>
            <a:noFill/>
          </a:ln>
        </p:spPr>
      </p:pic>
      <p:pic>
        <p:nvPicPr>
          <p:cNvPr id="107" name="Google Shape;107;p19"/>
          <p:cNvPicPr preferRelativeResize="0"/>
          <p:nvPr/>
        </p:nvPicPr>
        <p:blipFill>
          <a:blip r:embed="rId5">
            <a:alphaModFix/>
          </a:blip>
          <a:stretch>
            <a:fillRect/>
          </a:stretch>
        </p:blipFill>
        <p:spPr>
          <a:xfrm>
            <a:off x="4344975" y="940475"/>
            <a:ext cx="4799025" cy="4203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3" name="Google Shape;113;p20"/>
          <p:cNvSpPr txBox="1">
            <a:spLocks noGrp="1"/>
          </p:cNvSpPr>
          <p:nvPr>
            <p:ph type="body" idx="1"/>
          </p:nvPr>
        </p:nvSpPr>
        <p:spPr>
          <a:xfrm>
            <a:off x="313419" y="839521"/>
            <a:ext cx="8588700" cy="1905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4" name="Google Shape;114;p20"/>
          <p:cNvPicPr preferRelativeResize="0"/>
          <p:nvPr/>
        </p:nvPicPr>
        <p:blipFill>
          <a:blip r:embed="rId3">
            <a:alphaModFix/>
          </a:blip>
          <a:stretch>
            <a:fillRect/>
          </a:stretch>
        </p:blipFill>
        <p:spPr>
          <a:xfrm>
            <a:off x="0" y="-3"/>
            <a:ext cx="9143999" cy="771255"/>
          </a:xfrm>
          <a:prstGeom prst="rect">
            <a:avLst/>
          </a:prstGeom>
          <a:noFill/>
          <a:ln>
            <a:noFill/>
          </a:ln>
        </p:spPr>
      </p:pic>
      <p:pic>
        <p:nvPicPr>
          <p:cNvPr id="115" name="Google Shape;115;p20"/>
          <p:cNvPicPr preferRelativeResize="0"/>
          <p:nvPr/>
        </p:nvPicPr>
        <p:blipFill>
          <a:blip r:embed="rId4">
            <a:alphaModFix/>
          </a:blip>
          <a:stretch>
            <a:fillRect/>
          </a:stretch>
        </p:blipFill>
        <p:spPr>
          <a:xfrm>
            <a:off x="0" y="445025"/>
            <a:ext cx="9143999" cy="2604499"/>
          </a:xfrm>
          <a:prstGeom prst="rect">
            <a:avLst/>
          </a:prstGeom>
          <a:noFill/>
          <a:ln>
            <a:noFill/>
          </a:ln>
        </p:spPr>
      </p:pic>
      <p:pic>
        <p:nvPicPr>
          <p:cNvPr id="116" name="Google Shape;116;p20"/>
          <p:cNvPicPr preferRelativeResize="0"/>
          <p:nvPr/>
        </p:nvPicPr>
        <p:blipFill>
          <a:blip r:embed="rId5">
            <a:alphaModFix/>
          </a:blip>
          <a:stretch>
            <a:fillRect/>
          </a:stretch>
        </p:blipFill>
        <p:spPr>
          <a:xfrm>
            <a:off x="0" y="3049525"/>
            <a:ext cx="9144001" cy="2093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2822100" y="122225"/>
            <a:ext cx="3499800" cy="516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solidFill>
                  <a:schemeClr val="lt1"/>
                </a:solidFill>
              </a:rPr>
              <a:t>VIDEO SURVEY</a:t>
            </a:r>
            <a:endParaRPr>
              <a:solidFill>
                <a:schemeClr val="lt1"/>
              </a:solidFill>
            </a:endParaRPr>
          </a:p>
        </p:txBody>
      </p:sp>
      <p:pic>
        <p:nvPicPr>
          <p:cNvPr id="122" name="Google Shape;122;p21"/>
          <p:cNvPicPr preferRelativeResize="0"/>
          <p:nvPr/>
        </p:nvPicPr>
        <p:blipFill>
          <a:blip r:embed="rId3">
            <a:alphaModFix/>
          </a:blip>
          <a:stretch>
            <a:fillRect/>
          </a:stretch>
        </p:blipFill>
        <p:spPr>
          <a:xfrm>
            <a:off x="367300" y="909900"/>
            <a:ext cx="2454800" cy="1332600"/>
          </a:xfrm>
          <a:prstGeom prst="rect">
            <a:avLst/>
          </a:prstGeom>
          <a:noFill/>
          <a:ln>
            <a:noFill/>
          </a:ln>
        </p:spPr>
      </p:pic>
      <p:pic>
        <p:nvPicPr>
          <p:cNvPr id="123" name="Google Shape;123;p21"/>
          <p:cNvPicPr preferRelativeResize="0"/>
          <p:nvPr/>
        </p:nvPicPr>
        <p:blipFill>
          <a:blip r:embed="rId4">
            <a:alphaModFix/>
          </a:blip>
          <a:stretch>
            <a:fillRect/>
          </a:stretch>
        </p:blipFill>
        <p:spPr>
          <a:xfrm>
            <a:off x="295937" y="2513275"/>
            <a:ext cx="2597533" cy="1450976"/>
          </a:xfrm>
          <a:prstGeom prst="rect">
            <a:avLst/>
          </a:prstGeom>
          <a:noFill/>
          <a:ln>
            <a:noFill/>
          </a:ln>
        </p:spPr>
      </p:pic>
      <p:pic>
        <p:nvPicPr>
          <p:cNvPr id="124" name="Google Shape;124;p21"/>
          <p:cNvPicPr preferRelativeResize="0"/>
          <p:nvPr/>
        </p:nvPicPr>
        <p:blipFill>
          <a:blip r:embed="rId5">
            <a:alphaModFix/>
          </a:blip>
          <a:stretch>
            <a:fillRect/>
          </a:stretch>
        </p:blipFill>
        <p:spPr>
          <a:xfrm>
            <a:off x="3145623" y="2459375"/>
            <a:ext cx="2542868" cy="1450975"/>
          </a:xfrm>
          <a:prstGeom prst="rect">
            <a:avLst/>
          </a:prstGeom>
          <a:noFill/>
          <a:ln>
            <a:noFill/>
          </a:ln>
        </p:spPr>
      </p:pic>
      <p:pic>
        <p:nvPicPr>
          <p:cNvPr id="125" name="Google Shape;125;p21"/>
          <p:cNvPicPr preferRelativeResize="0"/>
          <p:nvPr/>
        </p:nvPicPr>
        <p:blipFill>
          <a:blip r:embed="rId6">
            <a:alphaModFix/>
          </a:blip>
          <a:stretch>
            <a:fillRect/>
          </a:stretch>
        </p:blipFill>
        <p:spPr>
          <a:xfrm>
            <a:off x="3107366" y="861825"/>
            <a:ext cx="2619375" cy="1428750"/>
          </a:xfrm>
          <a:prstGeom prst="rect">
            <a:avLst/>
          </a:prstGeom>
          <a:noFill/>
          <a:ln>
            <a:noFill/>
          </a:ln>
        </p:spPr>
      </p:pic>
      <p:pic>
        <p:nvPicPr>
          <p:cNvPr id="126" name="Google Shape;126;p21"/>
          <p:cNvPicPr preferRelativeResize="0"/>
          <p:nvPr/>
        </p:nvPicPr>
        <p:blipFill>
          <a:blip r:embed="rId7">
            <a:alphaModFix/>
          </a:blip>
          <a:stretch>
            <a:fillRect/>
          </a:stretch>
        </p:blipFill>
        <p:spPr>
          <a:xfrm>
            <a:off x="5825341" y="866588"/>
            <a:ext cx="2638425" cy="1419225"/>
          </a:xfrm>
          <a:prstGeom prst="rect">
            <a:avLst/>
          </a:prstGeom>
          <a:noFill/>
          <a:ln>
            <a:noFill/>
          </a:ln>
        </p:spPr>
      </p:pic>
      <p:pic>
        <p:nvPicPr>
          <p:cNvPr id="127" name="Google Shape;127;p21"/>
          <p:cNvPicPr preferRelativeResize="0"/>
          <p:nvPr/>
        </p:nvPicPr>
        <p:blipFill>
          <a:blip r:embed="rId8">
            <a:alphaModFix/>
          </a:blip>
          <a:stretch>
            <a:fillRect/>
          </a:stretch>
        </p:blipFill>
        <p:spPr>
          <a:xfrm>
            <a:off x="5840891" y="2442975"/>
            <a:ext cx="2657475" cy="1438275"/>
          </a:xfrm>
          <a:prstGeom prst="rect">
            <a:avLst/>
          </a:prstGeom>
          <a:noFill/>
          <a:ln>
            <a:noFill/>
          </a:ln>
        </p:spPr>
      </p:pic>
      <p:sp>
        <p:nvSpPr>
          <p:cNvPr id="128" name="Google Shape;128;p21"/>
          <p:cNvSpPr txBox="1"/>
          <p:nvPr/>
        </p:nvSpPr>
        <p:spPr>
          <a:xfrm>
            <a:off x="367300" y="4079150"/>
            <a:ext cx="8475900" cy="7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Average"/>
                <a:ea typeface="Average"/>
                <a:cs typeface="Average"/>
                <a:sym typeface="Average"/>
              </a:rPr>
              <a:t>Drive link : </a:t>
            </a:r>
            <a:endParaRPr sz="1800">
              <a:latin typeface="Average"/>
              <a:ea typeface="Average"/>
              <a:cs typeface="Average"/>
              <a:sym typeface="Average"/>
            </a:endParaRPr>
          </a:p>
          <a:p>
            <a:pPr marL="0" lvl="0" indent="0" algn="l" rtl="0">
              <a:spcBef>
                <a:spcPts val="0"/>
              </a:spcBef>
              <a:spcAft>
                <a:spcPts val="0"/>
              </a:spcAft>
              <a:buNone/>
            </a:pPr>
            <a:r>
              <a:rPr lang="en" sz="1800">
                <a:latin typeface="Average"/>
                <a:ea typeface="Average"/>
                <a:cs typeface="Average"/>
                <a:sym typeface="Average"/>
              </a:rPr>
              <a:t>Form link: https://forms.gle/cmNt5LmnjfT7TxzAA</a:t>
            </a:r>
            <a:endParaRPr sz="1800">
              <a:latin typeface="Average"/>
              <a:ea typeface="Average"/>
              <a:cs typeface="Average"/>
              <a:sym typeface="Average"/>
            </a:endParaRPr>
          </a:p>
        </p:txBody>
      </p:sp>
      <p:sp>
        <p:nvSpPr>
          <p:cNvPr id="129" name="Google Shape;129;p21"/>
          <p:cNvSpPr txBox="1"/>
          <p:nvPr/>
        </p:nvSpPr>
        <p:spPr>
          <a:xfrm>
            <a:off x="1610013" y="4079150"/>
            <a:ext cx="7371000" cy="44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latin typeface="Average"/>
                <a:ea typeface="Average"/>
                <a:cs typeface="Average"/>
                <a:sym typeface="Average"/>
              </a:rPr>
              <a:t>https://drive.google.com/drive/folders/1XcjN4bQAlYtCC-dS2DzzChqvtQqr008j</a:t>
            </a:r>
            <a:endParaRPr sz="1700">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5" name="Google Shape;13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6" name="Google Shape;136;p2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2" name="Google Shape;142;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3" name="Google Shape;143;p23"/>
          <p:cNvPicPr preferRelativeResize="0"/>
          <p:nvPr/>
        </p:nvPicPr>
        <p:blipFill>
          <a:blip r:embed="rId3">
            <a:alphaModFix/>
          </a:blip>
          <a:stretch>
            <a:fillRect/>
          </a:stretch>
        </p:blipFill>
        <p:spPr>
          <a:xfrm>
            <a:off x="0" y="0"/>
            <a:ext cx="914399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9" name="Google Shape;14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0" name="Google Shape;150;p24"/>
          <p:cNvPicPr preferRelativeResize="0"/>
          <p:nvPr/>
        </p:nvPicPr>
        <p:blipFill>
          <a:blip r:embed="rId3">
            <a:alphaModFix/>
          </a:blip>
          <a:stretch>
            <a:fillRect/>
          </a:stretch>
        </p:blipFill>
        <p:spPr>
          <a:xfrm>
            <a:off x="0" y="0"/>
            <a:ext cx="9143999"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6" name="Google Shape;15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7" name="Google Shape;157;p25"/>
          <p:cNvPicPr preferRelativeResize="0"/>
          <p:nvPr/>
        </p:nvPicPr>
        <p:blipFill>
          <a:blip r:embed="rId3">
            <a:alphaModFix/>
          </a:blip>
          <a:stretch>
            <a:fillRect/>
          </a:stretch>
        </p:blipFill>
        <p:spPr>
          <a:xfrm>
            <a:off x="0" y="0"/>
            <a:ext cx="9144000"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3" name="Google Shape;163;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4" name="Google Shape;164;p26"/>
          <p:cNvPicPr preferRelativeResize="0"/>
          <p:nvPr/>
        </p:nvPicPr>
        <p:blipFill>
          <a:blip r:embed="rId3">
            <a:alphaModFix/>
          </a:blip>
          <a:stretch>
            <a:fillRect/>
          </a:stretch>
        </p:blipFill>
        <p:spPr>
          <a:xfrm>
            <a:off x="0" y="0"/>
            <a:ext cx="9144001" cy="5266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0" name="Google Shape;17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1" name="Google Shape;171;p27"/>
          <p:cNvPicPr preferRelativeResize="0"/>
          <p:nvPr/>
        </p:nvPicPr>
        <p:blipFill>
          <a:blip r:embed="rId3">
            <a:alphaModFix/>
          </a:blip>
          <a:stretch>
            <a:fillRect/>
          </a:stretch>
        </p:blipFill>
        <p:spPr>
          <a:xfrm>
            <a:off x="0" y="0"/>
            <a:ext cx="9144001"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7" name="Google Shape;17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8" name="Google Shape;178;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23577" y="2071687"/>
            <a:ext cx="5281538" cy="384943"/>
          </a:xfrm>
          <a:prstGeom prst="rect">
            <a:avLst/>
          </a:prstGeom>
          <a:noFill/>
          <a:ln/>
        </p:spPr>
        <p:txBody>
          <a:bodyPr wrap="none" lIns="0" tIns="0" rIns="0" bIns="0" rtlCol="0" anchor="t"/>
          <a:lstStyle/>
          <a:p>
            <a:pPr marL="0" indent="0" algn="l">
              <a:lnSpc>
                <a:spcPts val="4850"/>
              </a:lnSpc>
              <a:buNone/>
            </a:pPr>
            <a:endParaRPr lang="en-US" sz="2406" dirty="0"/>
          </a:p>
        </p:txBody>
      </p:sp>
      <p:pic>
        <p:nvPicPr>
          <p:cNvPr id="5" name="Picture 4">
            <a:extLst>
              <a:ext uri="{FF2B5EF4-FFF2-40B4-BE49-F238E27FC236}">
                <a16:creationId xmlns:a16="http://schemas.microsoft.com/office/drawing/2014/main" id="{D2615F3B-1B72-383F-46AF-CEDEA69A0C8E}"/>
              </a:ext>
            </a:extLst>
          </p:cNvPr>
          <p:cNvPicPr>
            <a:picLocks noChangeAspect="1"/>
          </p:cNvPicPr>
          <p:nvPr/>
        </p:nvPicPr>
        <p:blipFill>
          <a:blip r:embed="rId3"/>
          <a:stretch>
            <a:fillRect/>
          </a:stretch>
        </p:blipFill>
        <p:spPr>
          <a:xfrm>
            <a:off x="6894683" y="4845975"/>
            <a:ext cx="2235870" cy="263906"/>
          </a:xfrm>
          <a:prstGeom prst="rect">
            <a:avLst/>
          </a:prstGeom>
        </p:spPr>
      </p:pic>
      <p:sp>
        <p:nvSpPr>
          <p:cNvPr id="6" name="TextBox 5">
            <a:extLst>
              <a:ext uri="{FF2B5EF4-FFF2-40B4-BE49-F238E27FC236}">
                <a16:creationId xmlns:a16="http://schemas.microsoft.com/office/drawing/2014/main" id="{01CBAB99-BDF2-0533-5FF8-3C0E07DA296B}"/>
              </a:ext>
            </a:extLst>
          </p:cNvPr>
          <p:cNvSpPr txBox="1"/>
          <p:nvPr/>
        </p:nvSpPr>
        <p:spPr>
          <a:xfrm>
            <a:off x="833717" y="1526241"/>
            <a:ext cx="7295029" cy="1615826"/>
          </a:xfrm>
          <a:prstGeom prst="rect">
            <a:avLst/>
          </a:prstGeom>
          <a:noFill/>
        </p:spPr>
        <p:txBody>
          <a:bodyPr wrap="square" rtlCol="0">
            <a:spAutoFit/>
          </a:bodyPr>
          <a:lstStyle/>
          <a:p>
            <a:r>
              <a:rPr lang="en-US" sz="3375" dirty="0">
                <a:solidFill>
                  <a:schemeClr val="bg1"/>
                </a:solidFill>
                <a:latin typeface="Times New Roman" panose="02020603050405020304" pitchFamily="18" charset="0"/>
                <a:cs typeface="Times New Roman" panose="02020603050405020304" pitchFamily="18" charset="0"/>
              </a:rPr>
              <a:t>AI Powered Plagiarism and Data Integrity Guardian For Academic Submissions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BAE873-E194-36BB-845D-503EB280FF05}"/>
              </a:ext>
            </a:extLst>
          </p:cNvPr>
          <p:cNvPicPr>
            <a:picLocks noChangeAspect="1"/>
          </p:cNvPicPr>
          <p:nvPr/>
        </p:nvPicPr>
        <p:blipFill>
          <a:blip r:embed="rId2"/>
          <a:stretch>
            <a:fillRect/>
          </a:stretch>
        </p:blipFill>
        <p:spPr>
          <a:xfrm>
            <a:off x="6894683" y="4845975"/>
            <a:ext cx="2235870" cy="263906"/>
          </a:xfrm>
          <a:prstGeom prst="rect">
            <a:avLst/>
          </a:prstGeom>
        </p:spPr>
      </p:pic>
      <p:sp>
        <p:nvSpPr>
          <p:cNvPr id="7" name="TextBox 6">
            <a:extLst>
              <a:ext uri="{FF2B5EF4-FFF2-40B4-BE49-F238E27FC236}">
                <a16:creationId xmlns:a16="http://schemas.microsoft.com/office/drawing/2014/main" id="{D463D472-18A9-39A1-AB80-3588FF73C8E8}"/>
              </a:ext>
            </a:extLst>
          </p:cNvPr>
          <p:cNvSpPr txBox="1"/>
          <p:nvPr/>
        </p:nvSpPr>
        <p:spPr>
          <a:xfrm>
            <a:off x="1418664" y="509664"/>
            <a:ext cx="6306670" cy="442428"/>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IDEATION</a:t>
            </a:r>
          </a:p>
        </p:txBody>
      </p:sp>
      <p:pic>
        <p:nvPicPr>
          <p:cNvPr id="10" name="Picture 9">
            <a:extLst>
              <a:ext uri="{FF2B5EF4-FFF2-40B4-BE49-F238E27FC236}">
                <a16:creationId xmlns:a16="http://schemas.microsoft.com/office/drawing/2014/main" id="{FEDC3429-B9B0-1950-F792-B5A6D9D70C15}"/>
              </a:ext>
            </a:extLst>
          </p:cNvPr>
          <p:cNvPicPr>
            <a:picLocks noChangeAspect="1"/>
          </p:cNvPicPr>
          <p:nvPr/>
        </p:nvPicPr>
        <p:blipFill>
          <a:blip r:embed="rId3"/>
          <a:stretch>
            <a:fillRect/>
          </a:stretch>
        </p:blipFill>
        <p:spPr>
          <a:xfrm>
            <a:off x="2719813" y="1053356"/>
            <a:ext cx="3704372" cy="3954910"/>
          </a:xfrm>
          <a:prstGeom prst="rect">
            <a:avLst/>
          </a:prstGeom>
        </p:spPr>
      </p:pic>
    </p:spTree>
    <p:extLst>
      <p:ext uri="{BB962C8B-B14F-4D97-AF65-F5344CB8AC3E}">
        <p14:creationId xmlns:p14="http://schemas.microsoft.com/office/powerpoint/2010/main" val="3796662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23577" y="1204260"/>
            <a:ext cx="5197822"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Engagement &amp; Gamification</a:t>
            </a:r>
            <a:endParaRPr lang="en-US" sz="2406" dirty="0"/>
          </a:p>
        </p:txBody>
      </p:sp>
      <p:sp>
        <p:nvSpPr>
          <p:cNvPr id="4" name="Shape 1"/>
          <p:cNvSpPr/>
          <p:nvPr/>
        </p:nvSpPr>
        <p:spPr>
          <a:xfrm>
            <a:off x="523577" y="1785508"/>
            <a:ext cx="3982938" cy="1893986"/>
          </a:xfrm>
          <a:prstGeom prst="roundRect">
            <a:avLst>
              <a:gd name="adj" fmla="val 1037"/>
            </a:avLst>
          </a:prstGeom>
          <a:solidFill>
            <a:srgbClr val="304755"/>
          </a:solidFill>
          <a:ln/>
        </p:spPr>
      </p:sp>
      <p:sp>
        <p:nvSpPr>
          <p:cNvPr id="5" name="Shape 2"/>
          <p:cNvSpPr/>
          <p:nvPr/>
        </p:nvSpPr>
        <p:spPr>
          <a:xfrm>
            <a:off x="654471" y="1916402"/>
            <a:ext cx="392683" cy="392683"/>
          </a:xfrm>
          <a:prstGeom prst="roundRect">
            <a:avLst>
              <a:gd name="adj" fmla="val 14552264"/>
            </a:avLst>
          </a:prstGeom>
          <a:solidFill>
            <a:srgbClr val="0A988B"/>
          </a:solidFill>
          <a:ln/>
        </p:spPr>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446" y="2024377"/>
            <a:ext cx="176658" cy="176658"/>
          </a:xfrm>
          <a:prstGeom prst="rect">
            <a:avLst/>
          </a:prstGeom>
        </p:spPr>
      </p:pic>
      <p:sp>
        <p:nvSpPr>
          <p:cNvPr id="7" name="Text 3"/>
          <p:cNvSpPr/>
          <p:nvPr/>
        </p:nvSpPr>
        <p:spPr>
          <a:xfrm>
            <a:off x="654471" y="2439980"/>
            <a:ext cx="1540073"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Gamified Utility</a:t>
            </a:r>
            <a:endParaRPr lang="en-US" sz="1187" dirty="0"/>
          </a:p>
        </p:txBody>
      </p:sp>
      <p:sp>
        <p:nvSpPr>
          <p:cNvPr id="8" name="Text 4"/>
          <p:cNvSpPr/>
          <p:nvPr/>
        </p:nvSpPr>
        <p:spPr>
          <a:xfrm>
            <a:off x="654471" y="2710995"/>
            <a:ext cx="3721149" cy="837605"/>
          </a:xfrm>
          <a:prstGeom prst="rect">
            <a:avLst/>
          </a:prstGeom>
          <a:noFill/>
          <a:ln/>
        </p:spPr>
        <p:txBody>
          <a:bodyPr wrap="squar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Integrate elements that encourage positive behavior, such as using the Draft Check tool frequently or maintaining a "zero similarity streak," turning the tool into something students want to interact with rather than avoid.</a:t>
            </a:r>
            <a:endParaRPr lang="en-US" sz="1000" dirty="0"/>
          </a:p>
        </p:txBody>
      </p:sp>
      <p:sp>
        <p:nvSpPr>
          <p:cNvPr id="9" name="Shape 5"/>
          <p:cNvSpPr/>
          <p:nvPr/>
        </p:nvSpPr>
        <p:spPr>
          <a:xfrm>
            <a:off x="4637410" y="1785508"/>
            <a:ext cx="3983012" cy="1893986"/>
          </a:xfrm>
          <a:prstGeom prst="roundRect">
            <a:avLst>
              <a:gd name="adj" fmla="val 1037"/>
            </a:avLst>
          </a:prstGeom>
          <a:solidFill>
            <a:srgbClr val="304755"/>
          </a:solidFill>
          <a:ln/>
        </p:spPr>
      </p:sp>
      <p:sp>
        <p:nvSpPr>
          <p:cNvPr id="10" name="Shape 6"/>
          <p:cNvSpPr/>
          <p:nvPr/>
        </p:nvSpPr>
        <p:spPr>
          <a:xfrm>
            <a:off x="4768304" y="1916402"/>
            <a:ext cx="392683" cy="392683"/>
          </a:xfrm>
          <a:prstGeom prst="roundRect">
            <a:avLst>
              <a:gd name="adj" fmla="val 14552264"/>
            </a:avLst>
          </a:prstGeom>
          <a:solidFill>
            <a:srgbClr val="0A988B"/>
          </a:solidFill>
          <a:ln/>
        </p:spPr>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76279" y="2024377"/>
            <a:ext cx="176658" cy="176658"/>
          </a:xfrm>
          <a:prstGeom prst="rect">
            <a:avLst/>
          </a:prstGeom>
        </p:spPr>
      </p:pic>
      <p:sp>
        <p:nvSpPr>
          <p:cNvPr id="12" name="Text 7"/>
          <p:cNvSpPr/>
          <p:nvPr/>
        </p:nvSpPr>
        <p:spPr>
          <a:xfrm>
            <a:off x="4768304" y="2439980"/>
            <a:ext cx="2520255"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Continuous Feedback Loop</a:t>
            </a:r>
            <a:endParaRPr lang="en-US" sz="1187" dirty="0"/>
          </a:p>
        </p:txBody>
      </p:sp>
      <p:sp>
        <p:nvSpPr>
          <p:cNvPr id="13" name="Text 8"/>
          <p:cNvSpPr/>
          <p:nvPr/>
        </p:nvSpPr>
        <p:spPr>
          <a:xfrm>
            <a:off x="4768304" y="2710995"/>
            <a:ext cx="3721223" cy="837605"/>
          </a:xfrm>
          <a:prstGeom prst="rect">
            <a:avLst/>
          </a:prstGeom>
          <a:noFill/>
          <a:ln/>
        </p:spPr>
        <p:txBody>
          <a:bodyPr wrap="squar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Integrate the AI analysis directly into a Draft Check Editor. This means the AI provides suggestions, like an "AI Paraphrasing Coach," allowing the student to correct and re-check instantly. Changes the tool from a final judge to a development aid.</a:t>
            </a:r>
            <a:endParaRPr lang="en-US" sz="1000" dirty="0"/>
          </a:p>
        </p:txBody>
      </p:sp>
      <p:pic>
        <p:nvPicPr>
          <p:cNvPr id="14" name="Picture 13">
            <a:extLst>
              <a:ext uri="{FF2B5EF4-FFF2-40B4-BE49-F238E27FC236}">
                <a16:creationId xmlns:a16="http://schemas.microsoft.com/office/drawing/2014/main" id="{B8AA1062-F1FD-B07D-862F-3F9731E83915}"/>
              </a:ext>
            </a:extLst>
          </p:cNvPr>
          <p:cNvPicPr>
            <a:picLocks noChangeAspect="1"/>
          </p:cNvPicPr>
          <p:nvPr/>
        </p:nvPicPr>
        <p:blipFill>
          <a:blip r:embed="rId7"/>
          <a:stretch>
            <a:fillRect/>
          </a:stretch>
        </p:blipFill>
        <p:spPr>
          <a:xfrm>
            <a:off x="6894683" y="4845975"/>
            <a:ext cx="2235870" cy="2639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3577" y="582811"/>
            <a:ext cx="5090963"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Frontend Security &amp; Privacy</a:t>
            </a:r>
            <a:endParaRPr lang="en-US" sz="2406" dirty="0"/>
          </a:p>
        </p:txBody>
      </p:sp>
      <p:sp>
        <p:nvSpPr>
          <p:cNvPr id="3" name="Text 1"/>
          <p:cNvSpPr/>
          <p:nvPr/>
        </p:nvSpPr>
        <p:spPr>
          <a:xfrm>
            <a:off x="523577" y="1294953"/>
            <a:ext cx="2888530" cy="192509"/>
          </a:xfrm>
          <a:prstGeom prst="rect">
            <a:avLst/>
          </a:prstGeom>
          <a:noFill/>
          <a:ln/>
        </p:spPr>
        <p:txBody>
          <a:bodyPr wrap="none" lIns="0" tIns="0" rIns="0" bIns="0" rtlCol="0" anchor="t"/>
          <a:lstStyle/>
          <a:p>
            <a:pPr marL="0" indent="0" algn="l">
              <a:lnSpc>
                <a:spcPts val="2400"/>
              </a:lnSpc>
              <a:buNone/>
            </a:pPr>
            <a:r>
              <a:rPr lang="en-US" sz="1187" dirty="0">
                <a:solidFill>
                  <a:srgbClr val="FFFFFF"/>
                </a:solidFill>
                <a:latin typeface="Unbounded" pitchFamily="34" charset="0"/>
                <a:ea typeface="Unbounded" pitchFamily="34" charset="-122"/>
                <a:cs typeface="Unbounded" pitchFamily="34" charset="-120"/>
              </a:rPr>
              <a:t>WebAssembly (WASM) Hashing</a:t>
            </a:r>
            <a:endParaRPr lang="en-US" sz="1187" dirty="0"/>
          </a:p>
        </p:txBody>
      </p:sp>
      <p:sp>
        <p:nvSpPr>
          <p:cNvPr id="4" name="Text 2"/>
          <p:cNvSpPr/>
          <p:nvPr/>
        </p:nvSpPr>
        <p:spPr>
          <a:xfrm>
            <a:off x="523577" y="1618356"/>
            <a:ext cx="3888730"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Use WebAssembly to execute the cryptographic hashing function directly in the student's browser.</a:t>
            </a:r>
            <a:endParaRPr lang="en-US" sz="1000" dirty="0"/>
          </a:p>
        </p:txBody>
      </p:sp>
      <p:sp>
        <p:nvSpPr>
          <p:cNvPr id="5" name="Text 3"/>
          <p:cNvSpPr/>
          <p:nvPr/>
        </p:nvSpPr>
        <p:spPr>
          <a:xfrm>
            <a:off x="523577" y="2154956"/>
            <a:ext cx="3888730"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Faster and more secure than JavaScript, ensuring reliable hash calculation before data leaves the client device.</a:t>
            </a:r>
            <a:endParaRPr lang="en-US" sz="1000" dirty="0"/>
          </a:p>
        </p:txBody>
      </p:sp>
      <p:sp>
        <p:nvSpPr>
          <p:cNvPr id="6" name="Shape 4"/>
          <p:cNvSpPr/>
          <p:nvPr/>
        </p:nvSpPr>
        <p:spPr>
          <a:xfrm>
            <a:off x="523577" y="2786420"/>
            <a:ext cx="3888730" cy="21059"/>
          </a:xfrm>
          <a:prstGeom prst="rect">
            <a:avLst/>
          </a:prstGeom>
          <a:solidFill>
            <a:srgbClr val="CAD6DE">
              <a:alpha val="50000"/>
            </a:srgbClr>
          </a:solidFill>
          <a:ln/>
        </p:spPr>
      </p:sp>
      <p:sp>
        <p:nvSpPr>
          <p:cNvPr id="7" name="Text 5"/>
          <p:cNvSpPr/>
          <p:nvPr/>
        </p:nvSpPr>
        <p:spPr>
          <a:xfrm>
            <a:off x="523577" y="2954685"/>
            <a:ext cx="2435572" cy="192509"/>
          </a:xfrm>
          <a:prstGeom prst="rect">
            <a:avLst/>
          </a:prstGeom>
          <a:noFill/>
          <a:ln/>
        </p:spPr>
        <p:txBody>
          <a:bodyPr wrap="none" lIns="0" tIns="0" rIns="0" bIns="0" rtlCol="0" anchor="t"/>
          <a:lstStyle/>
          <a:p>
            <a:pPr marL="0" indent="0" algn="l">
              <a:lnSpc>
                <a:spcPts val="2400"/>
              </a:lnSpc>
              <a:buNone/>
            </a:pPr>
            <a:r>
              <a:rPr lang="en-US" sz="1187" dirty="0">
                <a:solidFill>
                  <a:srgbClr val="FFFFFF"/>
                </a:solidFill>
                <a:latin typeface="Unbounded" pitchFamily="34" charset="0"/>
                <a:ea typeface="Unbounded" pitchFamily="34" charset="-122"/>
                <a:cs typeface="Unbounded" pitchFamily="34" charset="-120"/>
              </a:rPr>
              <a:t>"Zero-Knowledge" Protocol</a:t>
            </a:r>
            <a:endParaRPr lang="en-US" sz="1187" dirty="0"/>
          </a:p>
        </p:txBody>
      </p:sp>
      <p:sp>
        <p:nvSpPr>
          <p:cNvPr id="8" name="Text 6"/>
          <p:cNvSpPr/>
          <p:nvPr/>
        </p:nvSpPr>
        <p:spPr>
          <a:xfrm>
            <a:off x="523577" y="3278088"/>
            <a:ext cx="3888730" cy="628203"/>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Strong cryptographic hashing (SHA-256) creates a unique identifier. Raw documents are never stored on the blockchain—only the hash.</a:t>
            </a:r>
            <a:endParaRPr lang="en-US" sz="1000" dirty="0"/>
          </a:p>
        </p:txBody>
      </p:sp>
      <p:sp>
        <p:nvSpPr>
          <p:cNvPr id="9" name="Text 7"/>
          <p:cNvSpPr/>
          <p:nvPr/>
        </p:nvSpPr>
        <p:spPr>
          <a:xfrm>
            <a:off x="523577" y="4024089"/>
            <a:ext cx="3888730"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Preserves student privacy while ensuring document authenticity and verification.</a:t>
            </a:r>
            <a:endParaRPr lang="en-US" sz="1000" dirty="0"/>
          </a:p>
        </p:txBody>
      </p:sp>
      <p:pic>
        <p:nvPicPr>
          <p:cNvPr id="12" name="Picture 11">
            <a:extLst>
              <a:ext uri="{FF2B5EF4-FFF2-40B4-BE49-F238E27FC236}">
                <a16:creationId xmlns:a16="http://schemas.microsoft.com/office/drawing/2014/main" id="{FDDBD3AA-866A-51CA-5C8C-FF1B1416929F}"/>
              </a:ext>
            </a:extLst>
          </p:cNvPr>
          <p:cNvPicPr>
            <a:picLocks noChangeAspect="1"/>
          </p:cNvPicPr>
          <p:nvPr/>
        </p:nvPicPr>
        <p:blipFill>
          <a:blip r:embed="rId3"/>
          <a:stretch>
            <a:fillRect/>
          </a:stretch>
        </p:blipFill>
        <p:spPr>
          <a:xfrm>
            <a:off x="4655355" y="1294953"/>
            <a:ext cx="3808686" cy="2530933"/>
          </a:xfrm>
          <a:prstGeom prst="rect">
            <a:avLst/>
          </a:prstGeom>
        </p:spPr>
      </p:pic>
      <p:pic>
        <p:nvPicPr>
          <p:cNvPr id="13" name="Picture 12">
            <a:extLst>
              <a:ext uri="{FF2B5EF4-FFF2-40B4-BE49-F238E27FC236}">
                <a16:creationId xmlns:a16="http://schemas.microsoft.com/office/drawing/2014/main" id="{297873C1-65CD-186B-EA97-5AFF3E667FBF}"/>
              </a:ext>
            </a:extLst>
          </p:cNvPr>
          <p:cNvPicPr>
            <a:picLocks noChangeAspect="1"/>
          </p:cNvPicPr>
          <p:nvPr/>
        </p:nvPicPr>
        <p:blipFill>
          <a:blip r:embed="rId4"/>
          <a:stretch>
            <a:fillRect/>
          </a:stretch>
        </p:blipFill>
        <p:spPr>
          <a:xfrm>
            <a:off x="6894683" y="4845975"/>
            <a:ext cx="2235870" cy="2639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23577" y="1506673"/>
            <a:ext cx="4691285"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On-Premise Management</a:t>
            </a:r>
            <a:endParaRPr lang="en-US" sz="2406" dirty="0"/>
          </a:p>
        </p:txBody>
      </p:sp>
      <p:sp>
        <p:nvSpPr>
          <p:cNvPr id="4" name="Shape 1"/>
          <p:cNvSpPr/>
          <p:nvPr/>
        </p:nvSpPr>
        <p:spPr>
          <a:xfrm>
            <a:off x="523577" y="2087921"/>
            <a:ext cx="3982938" cy="1477491"/>
          </a:xfrm>
          <a:prstGeom prst="roundRect">
            <a:avLst>
              <a:gd name="adj" fmla="val 4642"/>
            </a:avLst>
          </a:prstGeom>
          <a:solidFill>
            <a:srgbClr val="112836"/>
          </a:solidFill>
          <a:ln w="22860">
            <a:solidFill>
              <a:srgbClr val="49606E"/>
            </a:solidFill>
            <a:prstDash val="solid"/>
          </a:ln>
        </p:spPr>
      </p:sp>
      <p:sp>
        <p:nvSpPr>
          <p:cNvPr id="5" name="Shape 2"/>
          <p:cNvSpPr/>
          <p:nvPr/>
        </p:nvSpPr>
        <p:spPr>
          <a:xfrm>
            <a:off x="509290" y="2087921"/>
            <a:ext cx="57150" cy="1477491"/>
          </a:xfrm>
          <a:prstGeom prst="roundRect">
            <a:avLst>
              <a:gd name="adj" fmla="val 34360"/>
            </a:avLst>
          </a:prstGeom>
          <a:solidFill>
            <a:srgbClr val="0A988B"/>
          </a:solidFill>
          <a:ln/>
        </p:spPr>
      </p:sp>
      <p:sp>
        <p:nvSpPr>
          <p:cNvPr id="6" name="Text 3"/>
          <p:cNvSpPr/>
          <p:nvPr/>
        </p:nvSpPr>
        <p:spPr>
          <a:xfrm>
            <a:off x="711621" y="2233103"/>
            <a:ext cx="2753171"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Secured Data Lake (SAN/NAS)</a:t>
            </a:r>
            <a:endParaRPr lang="en-US" sz="1187" dirty="0"/>
          </a:p>
        </p:txBody>
      </p:sp>
      <p:sp>
        <p:nvSpPr>
          <p:cNvPr id="7" name="Text 4"/>
          <p:cNvSpPr/>
          <p:nvPr/>
        </p:nvSpPr>
        <p:spPr>
          <a:xfrm>
            <a:off x="711621" y="2504118"/>
            <a:ext cx="3649711"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Integrate storage with the university's existing SAN/NAS infrastructure.</a:t>
            </a:r>
            <a:endParaRPr lang="en-US" sz="1000" dirty="0"/>
          </a:p>
        </p:txBody>
      </p:sp>
      <p:sp>
        <p:nvSpPr>
          <p:cNvPr id="8" name="Text 5"/>
          <p:cNvSpPr/>
          <p:nvPr/>
        </p:nvSpPr>
        <p:spPr>
          <a:xfrm>
            <a:off x="711621" y="3001428"/>
            <a:ext cx="3649711"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Ensures files never touch external cloud storage and are governed by existing university security protocols.</a:t>
            </a:r>
            <a:endParaRPr lang="en-US" sz="1000" dirty="0"/>
          </a:p>
        </p:txBody>
      </p:sp>
      <p:sp>
        <p:nvSpPr>
          <p:cNvPr id="9" name="Shape 6"/>
          <p:cNvSpPr/>
          <p:nvPr/>
        </p:nvSpPr>
        <p:spPr>
          <a:xfrm>
            <a:off x="4637410" y="2087921"/>
            <a:ext cx="3983012" cy="1477491"/>
          </a:xfrm>
          <a:prstGeom prst="roundRect">
            <a:avLst>
              <a:gd name="adj" fmla="val 4642"/>
            </a:avLst>
          </a:prstGeom>
          <a:solidFill>
            <a:srgbClr val="112836"/>
          </a:solidFill>
          <a:ln w="22860">
            <a:solidFill>
              <a:srgbClr val="49606E"/>
            </a:solidFill>
            <a:prstDash val="solid"/>
          </a:ln>
        </p:spPr>
      </p:sp>
      <p:sp>
        <p:nvSpPr>
          <p:cNvPr id="10" name="Shape 7"/>
          <p:cNvSpPr/>
          <p:nvPr/>
        </p:nvSpPr>
        <p:spPr>
          <a:xfrm>
            <a:off x="4623122" y="2087921"/>
            <a:ext cx="57150" cy="1477491"/>
          </a:xfrm>
          <a:prstGeom prst="roundRect">
            <a:avLst>
              <a:gd name="adj" fmla="val 34360"/>
            </a:avLst>
          </a:prstGeom>
          <a:solidFill>
            <a:srgbClr val="0A988B"/>
          </a:solidFill>
          <a:ln/>
        </p:spPr>
      </p:sp>
      <p:sp>
        <p:nvSpPr>
          <p:cNvPr id="11" name="Text 8"/>
          <p:cNvSpPr/>
          <p:nvPr/>
        </p:nvSpPr>
        <p:spPr>
          <a:xfrm>
            <a:off x="4825454" y="2233103"/>
            <a:ext cx="2318742"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Ephemeral Draft Storage</a:t>
            </a:r>
            <a:endParaRPr lang="en-US" sz="1187" dirty="0"/>
          </a:p>
        </p:txBody>
      </p:sp>
      <p:sp>
        <p:nvSpPr>
          <p:cNvPr id="12" name="Text 9"/>
          <p:cNvSpPr/>
          <p:nvPr/>
        </p:nvSpPr>
        <p:spPr>
          <a:xfrm>
            <a:off x="4825454" y="2504118"/>
            <a:ext cx="3649786"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Short-lived, encrypted Redis instances for "Draft Check" sessions.</a:t>
            </a:r>
            <a:endParaRPr lang="en-US" sz="1000" dirty="0"/>
          </a:p>
        </p:txBody>
      </p:sp>
      <p:sp>
        <p:nvSpPr>
          <p:cNvPr id="13" name="Text 10"/>
          <p:cNvSpPr/>
          <p:nvPr/>
        </p:nvSpPr>
        <p:spPr>
          <a:xfrm>
            <a:off x="4825454" y="3001428"/>
            <a:ext cx="3649786"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Data automatically wiped after sessions; addresses anxiety over draft storage and maintains student trust.</a:t>
            </a:r>
            <a:endParaRPr lang="en-US" sz="1000" dirty="0"/>
          </a:p>
        </p:txBody>
      </p:sp>
      <p:pic>
        <p:nvPicPr>
          <p:cNvPr id="14" name="Picture 13">
            <a:extLst>
              <a:ext uri="{FF2B5EF4-FFF2-40B4-BE49-F238E27FC236}">
                <a16:creationId xmlns:a16="http://schemas.microsoft.com/office/drawing/2014/main" id="{73A927EC-D324-F759-FF90-77C23F3E4078}"/>
              </a:ext>
            </a:extLst>
          </p:cNvPr>
          <p:cNvPicPr>
            <a:picLocks noChangeAspect="1"/>
          </p:cNvPicPr>
          <p:nvPr/>
        </p:nvPicPr>
        <p:blipFill>
          <a:blip r:embed="rId3"/>
          <a:stretch>
            <a:fillRect/>
          </a:stretch>
        </p:blipFill>
        <p:spPr>
          <a:xfrm>
            <a:off x="6894683" y="4845975"/>
            <a:ext cx="2235870" cy="26390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1364233"/>
            <a:ext cx="4342358"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Control &amp; Transparency</a:t>
            </a:r>
            <a:endParaRPr lang="en-US" sz="2406" dirty="0"/>
          </a:p>
        </p:txBody>
      </p:sp>
      <p:sp>
        <p:nvSpPr>
          <p:cNvPr id="3" name="Text 1"/>
          <p:cNvSpPr/>
          <p:nvPr/>
        </p:nvSpPr>
        <p:spPr>
          <a:xfrm>
            <a:off x="523577" y="2010965"/>
            <a:ext cx="8096845" cy="209401"/>
          </a:xfrm>
          <a:prstGeom prst="rect">
            <a:avLst/>
          </a:prstGeom>
          <a:noFill/>
          <a:ln/>
        </p:spPr>
        <p:txBody>
          <a:bodyPr wrap="non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Directly addresses data governance worries through explicit UI transparency and student empowerment.</a:t>
            </a:r>
            <a:endParaRPr lang="en-US" sz="10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77" y="2367632"/>
            <a:ext cx="392683" cy="392683"/>
          </a:xfrm>
          <a:prstGeom prst="rect">
            <a:avLst/>
          </a:prstGeom>
        </p:spPr>
      </p:pic>
      <p:sp>
        <p:nvSpPr>
          <p:cNvPr id="5" name="Text 2"/>
          <p:cNvSpPr/>
          <p:nvPr/>
        </p:nvSpPr>
        <p:spPr>
          <a:xfrm>
            <a:off x="1079896" y="2478062"/>
            <a:ext cx="2015133"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Intuitive Control Panel</a:t>
            </a:r>
            <a:endParaRPr lang="en-US" sz="1187" dirty="0"/>
          </a:p>
        </p:txBody>
      </p:sp>
      <p:sp>
        <p:nvSpPr>
          <p:cNvPr id="6" name="Text 3"/>
          <p:cNvSpPr/>
          <p:nvPr/>
        </p:nvSpPr>
        <p:spPr>
          <a:xfrm>
            <a:off x="1079896" y="2749078"/>
            <a:ext cx="2033513" cy="837605"/>
          </a:xfrm>
          <a:prstGeom prst="rect">
            <a:avLst/>
          </a:prstGeom>
          <a:noFill/>
          <a:ln/>
        </p:spPr>
        <p:txBody>
          <a:bodyPr wrap="squar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Centralized panel with one-click controls for deletion requests and access logs, putting students in command of their data.</a:t>
            </a:r>
            <a:endParaRPr lang="en-US" sz="10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7046" y="2367632"/>
            <a:ext cx="392683" cy="392683"/>
          </a:xfrm>
          <a:prstGeom prst="rect">
            <a:avLst/>
          </a:prstGeom>
        </p:spPr>
      </p:pic>
      <p:sp>
        <p:nvSpPr>
          <p:cNvPr id="8" name="Text 4"/>
          <p:cNvSpPr/>
          <p:nvPr/>
        </p:nvSpPr>
        <p:spPr>
          <a:xfrm>
            <a:off x="3833366" y="2478062"/>
            <a:ext cx="1985069"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Clear Data Contracts</a:t>
            </a:r>
            <a:endParaRPr lang="en-US" sz="1187" dirty="0"/>
          </a:p>
        </p:txBody>
      </p:sp>
      <p:sp>
        <p:nvSpPr>
          <p:cNvPr id="9" name="Text 5"/>
          <p:cNvSpPr/>
          <p:nvPr/>
        </p:nvSpPr>
        <p:spPr>
          <a:xfrm>
            <a:off x="3833366" y="2749078"/>
            <a:ext cx="2033513" cy="837605"/>
          </a:xfrm>
          <a:prstGeom prst="rect">
            <a:avLst/>
          </a:prstGeom>
          <a:noFill/>
          <a:ln/>
        </p:spPr>
        <p:txBody>
          <a:bodyPr wrap="squar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Codified privacy pledge into a legally binding contract presented at sign-up, establishing trust from the first interaction.</a:t>
            </a:r>
            <a:endParaRPr lang="en-US" sz="10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30515" y="2367632"/>
            <a:ext cx="392683" cy="392683"/>
          </a:xfrm>
          <a:prstGeom prst="rect">
            <a:avLst/>
          </a:prstGeom>
        </p:spPr>
      </p:pic>
      <p:sp>
        <p:nvSpPr>
          <p:cNvPr id="11" name="Text 6"/>
          <p:cNvSpPr/>
          <p:nvPr/>
        </p:nvSpPr>
        <p:spPr>
          <a:xfrm>
            <a:off x="6586835" y="2478062"/>
            <a:ext cx="2033587" cy="385018"/>
          </a:xfrm>
          <a:prstGeom prst="rect">
            <a:avLst/>
          </a:prstGeom>
          <a:noFill/>
          <a:ln/>
        </p:spPr>
        <p:txBody>
          <a:bodyPr wrap="squar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Student Empowerment</a:t>
            </a:r>
            <a:endParaRPr lang="en-US" sz="1187" dirty="0"/>
          </a:p>
        </p:txBody>
      </p:sp>
      <p:sp>
        <p:nvSpPr>
          <p:cNvPr id="12" name="Text 7"/>
          <p:cNvSpPr/>
          <p:nvPr/>
        </p:nvSpPr>
        <p:spPr>
          <a:xfrm>
            <a:off x="6586835" y="2941588"/>
            <a:ext cx="2033587" cy="837605"/>
          </a:xfrm>
          <a:prstGeom prst="rect">
            <a:avLst/>
          </a:prstGeom>
          <a:noFill/>
          <a:ln/>
        </p:spPr>
        <p:txBody>
          <a:bodyPr wrap="square" lIns="0" tIns="0" rIns="0" bIns="0" rtlCol="0" anchor="t"/>
          <a:lstStyle/>
          <a:p>
            <a:pPr marL="0" indent="0" algn="l">
              <a:lnSpc>
                <a:spcPts val="2600"/>
              </a:lnSpc>
              <a:buNone/>
            </a:pPr>
            <a:r>
              <a:rPr lang="en-US" sz="1000" dirty="0">
                <a:solidFill>
                  <a:srgbClr val="CAD6DE"/>
                </a:solidFill>
                <a:latin typeface="Cabin" pitchFamily="34" charset="0"/>
                <a:ea typeface="Cabin" pitchFamily="34" charset="-122"/>
                <a:cs typeface="Cabin" pitchFamily="34" charset="-120"/>
              </a:rPr>
              <a:t>Transparent data governance through explicit UI controls that give students visibility and control over their information.</a:t>
            </a:r>
            <a:endParaRPr lang="en-US" sz="1000" dirty="0"/>
          </a:p>
        </p:txBody>
      </p:sp>
      <p:pic>
        <p:nvPicPr>
          <p:cNvPr id="13" name="Picture 12">
            <a:extLst>
              <a:ext uri="{FF2B5EF4-FFF2-40B4-BE49-F238E27FC236}">
                <a16:creationId xmlns:a16="http://schemas.microsoft.com/office/drawing/2014/main" id="{4BF9A121-F85A-A44C-6977-34EA8F247F9F}"/>
              </a:ext>
            </a:extLst>
          </p:cNvPr>
          <p:cNvPicPr>
            <a:picLocks noChangeAspect="1"/>
          </p:cNvPicPr>
          <p:nvPr/>
        </p:nvPicPr>
        <p:blipFill>
          <a:blip r:embed="rId9"/>
          <a:stretch>
            <a:fillRect/>
          </a:stretch>
        </p:blipFill>
        <p:spPr>
          <a:xfrm>
            <a:off x="6894683" y="4845975"/>
            <a:ext cx="2235870" cy="26390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41126" y="376981"/>
            <a:ext cx="6855246" cy="324445"/>
          </a:xfrm>
          <a:prstGeom prst="rect">
            <a:avLst/>
          </a:prstGeom>
          <a:noFill/>
          <a:ln/>
        </p:spPr>
        <p:txBody>
          <a:bodyPr wrap="none" lIns="0" tIns="0" rIns="0" bIns="0" rtlCol="0" anchor="t"/>
          <a:lstStyle/>
          <a:p>
            <a:pPr marL="0" indent="0" algn="l">
              <a:lnSpc>
                <a:spcPts val="4050"/>
              </a:lnSpc>
              <a:buNone/>
            </a:pPr>
            <a:r>
              <a:rPr lang="en-US" sz="2031" dirty="0">
                <a:solidFill>
                  <a:srgbClr val="FFFFFF"/>
                </a:solidFill>
                <a:latin typeface="Unbounded" pitchFamily="34" charset="0"/>
                <a:ea typeface="Unbounded" pitchFamily="34" charset="-122"/>
                <a:cs typeface="Unbounded" pitchFamily="34" charset="-120"/>
              </a:rPr>
              <a:t>Scalable Architecture &amp; Enterprise Reliability</a:t>
            </a:r>
            <a:endParaRPr lang="en-US" sz="2031" dirty="0"/>
          </a:p>
        </p:txBody>
      </p:sp>
      <p:pic>
        <p:nvPicPr>
          <p:cNvPr id="3" name="Image 0" descr="preencoded.png"/>
          <p:cNvPicPr>
            <a:picLocks noChangeAspect="1"/>
          </p:cNvPicPr>
          <p:nvPr/>
        </p:nvPicPr>
        <p:blipFill>
          <a:blip r:embed="rId3"/>
          <a:stretch>
            <a:fillRect/>
          </a:stretch>
        </p:blipFill>
        <p:spPr>
          <a:xfrm>
            <a:off x="441126" y="921990"/>
            <a:ext cx="4130873" cy="441126"/>
          </a:xfrm>
          <a:prstGeom prst="rect">
            <a:avLst/>
          </a:prstGeom>
        </p:spPr>
      </p:pic>
      <p:sp>
        <p:nvSpPr>
          <p:cNvPr id="4" name="Text 1"/>
          <p:cNvSpPr/>
          <p:nvPr/>
        </p:nvSpPr>
        <p:spPr>
          <a:xfrm>
            <a:off x="551408" y="1473398"/>
            <a:ext cx="1516633" cy="162222"/>
          </a:xfrm>
          <a:prstGeom prst="rect">
            <a:avLst/>
          </a:prstGeom>
          <a:noFill/>
          <a:ln/>
        </p:spPr>
        <p:txBody>
          <a:bodyPr wrap="none" lIns="0" tIns="0" rIns="0" bIns="0" rtlCol="0" anchor="t"/>
          <a:lstStyle/>
          <a:p>
            <a:pPr marL="0" indent="0" algn="l">
              <a:lnSpc>
                <a:spcPts val="2000"/>
              </a:lnSpc>
              <a:buNone/>
            </a:pPr>
            <a:r>
              <a:rPr lang="en-US" sz="1000" dirty="0">
                <a:solidFill>
                  <a:srgbClr val="CAD6DE"/>
                </a:solidFill>
                <a:latin typeface="Unbounded" pitchFamily="34" charset="0"/>
                <a:ea typeface="Unbounded" pitchFamily="34" charset="-122"/>
                <a:cs typeface="Unbounded" pitchFamily="34" charset="-120"/>
              </a:rPr>
              <a:t>Auth &amp; User Service</a:t>
            </a:r>
            <a:endParaRPr lang="en-US" sz="1000" dirty="0"/>
          </a:p>
        </p:txBody>
      </p:sp>
      <p:sp>
        <p:nvSpPr>
          <p:cNvPr id="5" name="Text 2"/>
          <p:cNvSpPr/>
          <p:nvPr/>
        </p:nvSpPr>
        <p:spPr>
          <a:xfrm>
            <a:off x="551408" y="1701775"/>
            <a:ext cx="3910310" cy="176435"/>
          </a:xfrm>
          <a:prstGeom prst="rect">
            <a:avLst/>
          </a:prstGeom>
          <a:noFill/>
          <a:ln/>
        </p:spPr>
        <p:txBody>
          <a:bodyPr wrap="none" lIns="0" tIns="0" rIns="0" bIns="0" rtlCol="0" anchor="t"/>
          <a:lstStyle/>
          <a:p>
            <a:pPr marL="0" indent="0" algn="l">
              <a:lnSpc>
                <a:spcPts val="2200"/>
              </a:lnSpc>
              <a:buNone/>
            </a:pPr>
            <a:r>
              <a:rPr lang="en-US" sz="843" dirty="0">
                <a:solidFill>
                  <a:srgbClr val="CAD6DE"/>
                </a:solidFill>
                <a:latin typeface="Cabin" pitchFamily="34" charset="0"/>
                <a:ea typeface="Cabin" pitchFamily="34" charset="-122"/>
                <a:cs typeface="Cabin" pitchFamily="34" charset="-120"/>
              </a:rPr>
              <a:t>Handles user profiles and authentication for the entire university network.</a:t>
            </a:r>
            <a:endParaRPr lang="en-US" sz="843" dirty="0"/>
          </a:p>
        </p:txBody>
      </p:sp>
      <p:pic>
        <p:nvPicPr>
          <p:cNvPr id="6" name="Image 1" descr="preencoded.png"/>
          <p:cNvPicPr>
            <a:picLocks noChangeAspect="1"/>
          </p:cNvPicPr>
          <p:nvPr/>
        </p:nvPicPr>
        <p:blipFill>
          <a:blip r:embed="rId4"/>
          <a:stretch>
            <a:fillRect/>
          </a:stretch>
        </p:blipFill>
        <p:spPr>
          <a:xfrm>
            <a:off x="4572000" y="921990"/>
            <a:ext cx="4130873" cy="441126"/>
          </a:xfrm>
          <a:prstGeom prst="rect">
            <a:avLst/>
          </a:prstGeom>
        </p:spPr>
      </p:pic>
      <p:sp>
        <p:nvSpPr>
          <p:cNvPr id="7" name="Text 3"/>
          <p:cNvSpPr/>
          <p:nvPr/>
        </p:nvSpPr>
        <p:spPr>
          <a:xfrm>
            <a:off x="4682281" y="1473398"/>
            <a:ext cx="1702668" cy="162222"/>
          </a:xfrm>
          <a:prstGeom prst="rect">
            <a:avLst/>
          </a:prstGeom>
          <a:noFill/>
          <a:ln/>
        </p:spPr>
        <p:txBody>
          <a:bodyPr wrap="none" lIns="0" tIns="0" rIns="0" bIns="0" rtlCol="0" anchor="t"/>
          <a:lstStyle/>
          <a:p>
            <a:pPr marL="0" indent="0" algn="l">
              <a:lnSpc>
                <a:spcPts val="2000"/>
              </a:lnSpc>
              <a:buNone/>
            </a:pPr>
            <a:r>
              <a:rPr lang="en-US" sz="1000" dirty="0">
                <a:solidFill>
                  <a:srgbClr val="CAD6DE"/>
                </a:solidFill>
                <a:latin typeface="Unbounded" pitchFamily="34" charset="0"/>
                <a:ea typeface="Unbounded" pitchFamily="34" charset="-122"/>
                <a:cs typeface="Unbounded" pitchFamily="34" charset="-120"/>
              </a:rPr>
              <a:t>Submission &amp; Storage</a:t>
            </a:r>
            <a:endParaRPr lang="en-US" sz="1000" dirty="0"/>
          </a:p>
        </p:txBody>
      </p:sp>
      <p:sp>
        <p:nvSpPr>
          <p:cNvPr id="8" name="Text 4"/>
          <p:cNvSpPr/>
          <p:nvPr/>
        </p:nvSpPr>
        <p:spPr>
          <a:xfrm>
            <a:off x="4682281" y="1701775"/>
            <a:ext cx="3910310" cy="176435"/>
          </a:xfrm>
          <a:prstGeom prst="rect">
            <a:avLst/>
          </a:prstGeom>
          <a:noFill/>
          <a:ln/>
        </p:spPr>
        <p:txBody>
          <a:bodyPr wrap="none" lIns="0" tIns="0" rIns="0" bIns="0" rtlCol="0" anchor="t"/>
          <a:lstStyle/>
          <a:p>
            <a:pPr marL="0" indent="0" algn="l">
              <a:lnSpc>
                <a:spcPts val="2200"/>
              </a:lnSpc>
              <a:buNone/>
            </a:pPr>
            <a:r>
              <a:rPr lang="en-US" sz="843" dirty="0">
                <a:solidFill>
                  <a:srgbClr val="CAD6DE"/>
                </a:solidFill>
                <a:latin typeface="Cabin" pitchFamily="34" charset="0"/>
                <a:ea typeface="Cabin" pitchFamily="34" charset="-122"/>
                <a:cs typeface="Cabin" pitchFamily="34" charset="-120"/>
              </a:rPr>
              <a:t>Handles secure file uploads and on-premise SAN/NAS integration.</a:t>
            </a:r>
            <a:endParaRPr lang="en-US" sz="843" dirty="0"/>
          </a:p>
        </p:txBody>
      </p:sp>
      <p:pic>
        <p:nvPicPr>
          <p:cNvPr id="9" name="Image 2" descr="preencoded.png"/>
          <p:cNvPicPr>
            <a:picLocks noChangeAspect="1"/>
          </p:cNvPicPr>
          <p:nvPr/>
        </p:nvPicPr>
        <p:blipFill>
          <a:blip r:embed="rId5"/>
          <a:stretch>
            <a:fillRect/>
          </a:stretch>
        </p:blipFill>
        <p:spPr>
          <a:xfrm>
            <a:off x="441126" y="1988492"/>
            <a:ext cx="4130873" cy="441126"/>
          </a:xfrm>
          <a:prstGeom prst="rect">
            <a:avLst/>
          </a:prstGeom>
        </p:spPr>
      </p:pic>
      <p:sp>
        <p:nvSpPr>
          <p:cNvPr id="10" name="Text 5"/>
          <p:cNvSpPr/>
          <p:nvPr/>
        </p:nvSpPr>
        <p:spPr>
          <a:xfrm>
            <a:off x="551408" y="2539900"/>
            <a:ext cx="1447428" cy="162222"/>
          </a:xfrm>
          <a:prstGeom prst="rect">
            <a:avLst/>
          </a:prstGeom>
          <a:noFill/>
          <a:ln/>
        </p:spPr>
        <p:txBody>
          <a:bodyPr wrap="none" lIns="0" tIns="0" rIns="0" bIns="0" rtlCol="0" anchor="t"/>
          <a:lstStyle/>
          <a:p>
            <a:pPr marL="0" indent="0" algn="l">
              <a:lnSpc>
                <a:spcPts val="2000"/>
              </a:lnSpc>
              <a:buNone/>
            </a:pPr>
            <a:r>
              <a:rPr lang="en-US" sz="1000" dirty="0">
                <a:solidFill>
                  <a:srgbClr val="CAD6DE"/>
                </a:solidFill>
                <a:latin typeface="Unbounded" pitchFamily="34" charset="0"/>
                <a:ea typeface="Unbounded" pitchFamily="34" charset="-122"/>
                <a:cs typeface="Unbounded" pitchFamily="34" charset="-120"/>
              </a:rPr>
              <a:t>AI Analysis Service</a:t>
            </a:r>
            <a:endParaRPr lang="en-US" sz="1000" dirty="0"/>
          </a:p>
        </p:txBody>
      </p:sp>
      <p:sp>
        <p:nvSpPr>
          <p:cNvPr id="11" name="Text 6"/>
          <p:cNvSpPr/>
          <p:nvPr/>
        </p:nvSpPr>
        <p:spPr>
          <a:xfrm>
            <a:off x="551408" y="2768277"/>
            <a:ext cx="3910310" cy="176435"/>
          </a:xfrm>
          <a:prstGeom prst="rect">
            <a:avLst/>
          </a:prstGeom>
          <a:noFill/>
          <a:ln/>
        </p:spPr>
        <p:txBody>
          <a:bodyPr wrap="none" lIns="0" tIns="0" rIns="0" bIns="0" rtlCol="0" anchor="t"/>
          <a:lstStyle/>
          <a:p>
            <a:pPr marL="0" indent="0" algn="l">
              <a:lnSpc>
                <a:spcPts val="2200"/>
              </a:lnSpc>
              <a:buNone/>
            </a:pPr>
            <a:r>
              <a:rPr lang="en-US" sz="843" dirty="0">
                <a:solidFill>
                  <a:srgbClr val="CAD6DE"/>
                </a:solidFill>
                <a:latin typeface="Cabin" pitchFamily="34" charset="0"/>
                <a:ea typeface="Cabin" pitchFamily="34" charset="-122"/>
                <a:cs typeface="Cabin" pitchFamily="34" charset="-120"/>
              </a:rPr>
              <a:t>Houses computationally intensive NLP models running on dedicated GPU clusters.</a:t>
            </a:r>
            <a:endParaRPr lang="en-US" sz="843" dirty="0"/>
          </a:p>
        </p:txBody>
      </p:sp>
      <p:pic>
        <p:nvPicPr>
          <p:cNvPr id="12" name="Image 3" descr="preencoded.png"/>
          <p:cNvPicPr>
            <a:picLocks noChangeAspect="1"/>
          </p:cNvPicPr>
          <p:nvPr/>
        </p:nvPicPr>
        <p:blipFill>
          <a:blip r:embed="rId6"/>
          <a:stretch>
            <a:fillRect/>
          </a:stretch>
        </p:blipFill>
        <p:spPr>
          <a:xfrm>
            <a:off x="4572000" y="1988492"/>
            <a:ext cx="4130873" cy="441126"/>
          </a:xfrm>
          <a:prstGeom prst="rect">
            <a:avLst/>
          </a:prstGeom>
        </p:spPr>
      </p:pic>
      <p:sp>
        <p:nvSpPr>
          <p:cNvPr id="13" name="Text 7"/>
          <p:cNvSpPr/>
          <p:nvPr/>
        </p:nvSpPr>
        <p:spPr>
          <a:xfrm>
            <a:off x="4682281" y="2539900"/>
            <a:ext cx="1425326" cy="162222"/>
          </a:xfrm>
          <a:prstGeom prst="rect">
            <a:avLst/>
          </a:prstGeom>
          <a:noFill/>
          <a:ln/>
        </p:spPr>
        <p:txBody>
          <a:bodyPr wrap="none" lIns="0" tIns="0" rIns="0" bIns="0" rtlCol="0" anchor="t"/>
          <a:lstStyle/>
          <a:p>
            <a:pPr marL="0" indent="0" algn="l">
              <a:lnSpc>
                <a:spcPts val="2000"/>
              </a:lnSpc>
              <a:buNone/>
            </a:pPr>
            <a:r>
              <a:rPr lang="en-US" sz="1000" dirty="0">
                <a:solidFill>
                  <a:srgbClr val="CAD6DE"/>
                </a:solidFill>
                <a:latin typeface="Unbounded" pitchFamily="34" charset="0"/>
                <a:ea typeface="Unbounded" pitchFamily="34" charset="-122"/>
                <a:cs typeface="Unbounded" pitchFamily="34" charset="-120"/>
              </a:rPr>
              <a:t>Blockchain Ledger</a:t>
            </a:r>
            <a:endParaRPr lang="en-US" sz="1000" dirty="0"/>
          </a:p>
        </p:txBody>
      </p:sp>
      <p:sp>
        <p:nvSpPr>
          <p:cNvPr id="14" name="Text 8"/>
          <p:cNvSpPr/>
          <p:nvPr/>
        </p:nvSpPr>
        <p:spPr>
          <a:xfrm>
            <a:off x="4682281" y="2768277"/>
            <a:ext cx="3910310" cy="176435"/>
          </a:xfrm>
          <a:prstGeom prst="rect">
            <a:avLst/>
          </a:prstGeom>
          <a:noFill/>
          <a:ln/>
        </p:spPr>
        <p:txBody>
          <a:bodyPr wrap="none" lIns="0" tIns="0" rIns="0" bIns="0" rtlCol="0" anchor="t"/>
          <a:lstStyle/>
          <a:p>
            <a:pPr marL="0" indent="0" algn="l">
              <a:lnSpc>
                <a:spcPts val="2200"/>
              </a:lnSpc>
              <a:buNone/>
            </a:pPr>
            <a:r>
              <a:rPr lang="en-US" sz="843" dirty="0">
                <a:solidFill>
                  <a:srgbClr val="CAD6DE"/>
                </a:solidFill>
                <a:latin typeface="Cabin" pitchFamily="34" charset="0"/>
                <a:ea typeface="Cabin" pitchFamily="34" charset="-122"/>
                <a:cs typeface="Cabin" pitchFamily="34" charset="-120"/>
              </a:rPr>
              <a:t>Manages smart contract calls and hash generation for immutable verification.</a:t>
            </a:r>
            <a:endParaRPr lang="en-US" sz="843" dirty="0"/>
          </a:p>
        </p:txBody>
      </p:sp>
      <p:sp>
        <p:nvSpPr>
          <p:cNvPr id="15" name="Text 9"/>
          <p:cNvSpPr/>
          <p:nvPr/>
        </p:nvSpPr>
        <p:spPr>
          <a:xfrm>
            <a:off x="441126" y="3179043"/>
            <a:ext cx="8261746" cy="176435"/>
          </a:xfrm>
          <a:prstGeom prst="rect">
            <a:avLst/>
          </a:prstGeom>
          <a:noFill/>
          <a:ln/>
        </p:spPr>
        <p:txBody>
          <a:bodyPr wrap="none" lIns="0" tIns="0" rIns="0" bIns="0" rtlCol="0" anchor="t"/>
          <a:lstStyle/>
          <a:p>
            <a:pPr marL="0" indent="0" algn="l">
              <a:lnSpc>
                <a:spcPts val="2200"/>
              </a:lnSpc>
              <a:buNone/>
            </a:pPr>
            <a:r>
              <a:rPr lang="en-US" sz="843" b="1" dirty="0">
                <a:solidFill>
                  <a:srgbClr val="CAD6DE"/>
                </a:solidFill>
                <a:latin typeface="Cabin" pitchFamily="34" charset="0"/>
                <a:ea typeface="Cabin" pitchFamily="34" charset="-122"/>
                <a:cs typeface="Cabin" pitchFamily="34" charset="-120"/>
              </a:rPr>
              <a:t>Key Benefit:</a:t>
            </a:r>
            <a:r>
              <a:rPr lang="en-US" sz="843" dirty="0">
                <a:solidFill>
                  <a:srgbClr val="CAD6DE"/>
                </a:solidFill>
                <a:latin typeface="Cabin" pitchFamily="34" charset="0"/>
                <a:ea typeface="Cabin" pitchFamily="34" charset="-122"/>
                <a:cs typeface="Cabin" pitchFamily="34" charset="-120"/>
              </a:rPr>
              <a:t> Allows AI services to scale independently during peak exam weeks without system-wide crashes.</a:t>
            </a:r>
            <a:endParaRPr lang="en-US" sz="843" dirty="0"/>
          </a:p>
        </p:txBody>
      </p:sp>
      <p:sp>
        <p:nvSpPr>
          <p:cNvPr id="16" name="Text 10"/>
          <p:cNvSpPr/>
          <p:nvPr/>
        </p:nvSpPr>
        <p:spPr>
          <a:xfrm>
            <a:off x="441126" y="3966324"/>
            <a:ext cx="2450157" cy="162222"/>
          </a:xfrm>
          <a:prstGeom prst="rect">
            <a:avLst/>
          </a:prstGeom>
          <a:noFill/>
          <a:ln/>
        </p:spPr>
        <p:txBody>
          <a:bodyPr wrap="none" lIns="0" tIns="0" rIns="0" bIns="0" rtlCol="0" anchor="t"/>
          <a:lstStyle/>
          <a:p>
            <a:pPr marL="0" indent="0" algn="l">
              <a:lnSpc>
                <a:spcPts val="2000"/>
              </a:lnSpc>
              <a:buNone/>
            </a:pPr>
            <a:r>
              <a:rPr lang="en-US" sz="1000" dirty="0">
                <a:solidFill>
                  <a:srgbClr val="FFFFFF"/>
                </a:solidFill>
                <a:latin typeface="Unbounded" pitchFamily="34" charset="0"/>
                <a:ea typeface="Unbounded" pitchFamily="34" charset="-122"/>
                <a:cs typeface="Unbounded" pitchFamily="34" charset="-120"/>
              </a:rPr>
              <a:t>Kubernetes (K8s) Orchestration</a:t>
            </a:r>
            <a:endParaRPr lang="en-US" sz="1000" dirty="0"/>
          </a:p>
        </p:txBody>
      </p:sp>
      <p:sp>
        <p:nvSpPr>
          <p:cNvPr id="17" name="Text 11"/>
          <p:cNvSpPr/>
          <p:nvPr/>
        </p:nvSpPr>
        <p:spPr>
          <a:xfrm>
            <a:off x="441126" y="4238828"/>
            <a:ext cx="3996333" cy="176435"/>
          </a:xfrm>
          <a:prstGeom prst="rect">
            <a:avLst/>
          </a:prstGeom>
          <a:noFill/>
          <a:ln/>
        </p:spPr>
        <p:txBody>
          <a:bodyPr wrap="none" lIns="0" tIns="0" rIns="0" bIns="0" rtlCol="0" anchor="t"/>
          <a:lstStyle/>
          <a:p>
            <a:pPr marL="0" indent="0" algn="l">
              <a:lnSpc>
                <a:spcPts val="2200"/>
              </a:lnSpc>
              <a:buNone/>
            </a:pPr>
            <a:r>
              <a:rPr lang="en-US" sz="843" b="1" dirty="0">
                <a:solidFill>
                  <a:srgbClr val="CAD6DE"/>
                </a:solidFill>
                <a:latin typeface="Cabin" pitchFamily="34" charset="0"/>
                <a:ea typeface="Cabin" pitchFamily="34" charset="-122"/>
                <a:cs typeface="Cabin" pitchFamily="34" charset="-120"/>
              </a:rPr>
              <a:t>Implementation:</a:t>
            </a:r>
            <a:r>
              <a:rPr lang="en-US" sz="843" dirty="0">
                <a:solidFill>
                  <a:srgbClr val="CAD6DE"/>
                </a:solidFill>
                <a:latin typeface="Cabin" pitchFamily="34" charset="0"/>
                <a:ea typeface="Cabin" pitchFamily="34" charset="-122"/>
                <a:cs typeface="Cabin" pitchFamily="34" charset="-120"/>
              </a:rPr>
              <a:t> Use Docker to containerize services and K8s for orchestration.</a:t>
            </a:r>
            <a:endParaRPr lang="en-US" sz="843" dirty="0"/>
          </a:p>
        </p:txBody>
      </p:sp>
      <p:sp>
        <p:nvSpPr>
          <p:cNvPr id="18" name="Text 12"/>
          <p:cNvSpPr/>
          <p:nvPr/>
        </p:nvSpPr>
        <p:spPr>
          <a:xfrm>
            <a:off x="441126" y="4494288"/>
            <a:ext cx="3996333" cy="352871"/>
          </a:xfrm>
          <a:prstGeom prst="rect">
            <a:avLst/>
          </a:prstGeom>
          <a:noFill/>
          <a:ln/>
        </p:spPr>
        <p:txBody>
          <a:bodyPr wrap="square" lIns="0" tIns="0" rIns="0" bIns="0" rtlCol="0" anchor="t"/>
          <a:lstStyle/>
          <a:p>
            <a:pPr marL="0" indent="0" algn="l">
              <a:lnSpc>
                <a:spcPts val="2200"/>
              </a:lnSpc>
              <a:buNone/>
            </a:pPr>
            <a:r>
              <a:rPr lang="en-US" sz="843" b="1" dirty="0">
                <a:solidFill>
                  <a:srgbClr val="CAD6DE"/>
                </a:solidFill>
                <a:latin typeface="Cabin" pitchFamily="34" charset="0"/>
                <a:ea typeface="Cabin" pitchFamily="34" charset="-122"/>
                <a:cs typeface="Cabin" pitchFamily="34" charset="-120"/>
              </a:rPr>
              <a:t>Benefit:</a:t>
            </a:r>
            <a:r>
              <a:rPr lang="en-US" sz="843" dirty="0">
                <a:solidFill>
                  <a:srgbClr val="CAD6DE"/>
                </a:solidFill>
                <a:latin typeface="Cabin" pitchFamily="34" charset="0"/>
                <a:ea typeface="Cabin" pitchFamily="34" charset="-122"/>
                <a:cs typeface="Cabin" pitchFamily="34" charset="-120"/>
              </a:rPr>
              <a:t> High availability; if a service fails, K8s automatically restarts it on a healthy node.</a:t>
            </a:r>
            <a:endParaRPr lang="en-US" sz="843" dirty="0"/>
          </a:p>
        </p:txBody>
      </p:sp>
      <p:sp>
        <p:nvSpPr>
          <p:cNvPr id="19" name="Text 13"/>
          <p:cNvSpPr/>
          <p:nvPr/>
        </p:nvSpPr>
        <p:spPr>
          <a:xfrm>
            <a:off x="5060926" y="3946159"/>
            <a:ext cx="1777380" cy="162222"/>
          </a:xfrm>
          <a:prstGeom prst="rect">
            <a:avLst/>
          </a:prstGeom>
          <a:noFill/>
          <a:ln/>
        </p:spPr>
        <p:txBody>
          <a:bodyPr wrap="none" lIns="0" tIns="0" rIns="0" bIns="0" rtlCol="0" anchor="t"/>
          <a:lstStyle/>
          <a:p>
            <a:pPr marL="0" indent="0" algn="l">
              <a:lnSpc>
                <a:spcPts val="2000"/>
              </a:lnSpc>
              <a:buNone/>
            </a:pPr>
            <a:r>
              <a:rPr lang="en-US" sz="1000" dirty="0">
                <a:solidFill>
                  <a:srgbClr val="FFFFFF"/>
                </a:solidFill>
                <a:latin typeface="Unbounded" pitchFamily="34" charset="0"/>
                <a:ea typeface="Unbounded" pitchFamily="34" charset="-122"/>
                <a:cs typeface="Unbounded" pitchFamily="34" charset="-120"/>
              </a:rPr>
              <a:t>Infrastructure as Code</a:t>
            </a:r>
            <a:endParaRPr lang="en-US" sz="1000" dirty="0"/>
          </a:p>
        </p:txBody>
      </p:sp>
      <p:sp>
        <p:nvSpPr>
          <p:cNvPr id="20" name="Text 14"/>
          <p:cNvSpPr/>
          <p:nvPr/>
        </p:nvSpPr>
        <p:spPr>
          <a:xfrm>
            <a:off x="5060926" y="4218663"/>
            <a:ext cx="3996333" cy="352871"/>
          </a:xfrm>
          <a:prstGeom prst="rect">
            <a:avLst/>
          </a:prstGeom>
          <a:noFill/>
          <a:ln/>
        </p:spPr>
        <p:txBody>
          <a:bodyPr wrap="square" lIns="0" tIns="0" rIns="0" bIns="0" rtlCol="0" anchor="t"/>
          <a:lstStyle/>
          <a:p>
            <a:pPr marL="0" indent="0" algn="l">
              <a:lnSpc>
                <a:spcPts val="2200"/>
              </a:lnSpc>
              <a:buNone/>
            </a:pPr>
            <a:r>
              <a:rPr lang="en-US" sz="843" b="1" dirty="0">
                <a:solidFill>
                  <a:srgbClr val="CAD6DE"/>
                </a:solidFill>
                <a:latin typeface="Cabin" pitchFamily="34" charset="0"/>
                <a:ea typeface="Cabin" pitchFamily="34" charset="-122"/>
                <a:cs typeface="Cabin" pitchFamily="34" charset="-120"/>
              </a:rPr>
              <a:t>Implementation:</a:t>
            </a:r>
            <a:r>
              <a:rPr lang="en-US" sz="843" dirty="0">
                <a:solidFill>
                  <a:srgbClr val="CAD6DE"/>
                </a:solidFill>
                <a:latin typeface="Cabin" pitchFamily="34" charset="0"/>
                <a:ea typeface="Cabin" pitchFamily="34" charset="-122"/>
                <a:cs typeface="Cabin" pitchFamily="34" charset="-120"/>
              </a:rPr>
              <a:t> Define server setup and network configuration using Terraform or Ansible.</a:t>
            </a:r>
            <a:endParaRPr lang="en-US" sz="843" dirty="0"/>
          </a:p>
        </p:txBody>
      </p:sp>
      <p:sp>
        <p:nvSpPr>
          <p:cNvPr id="21" name="Text 15"/>
          <p:cNvSpPr/>
          <p:nvPr/>
        </p:nvSpPr>
        <p:spPr>
          <a:xfrm>
            <a:off x="5060926" y="4670729"/>
            <a:ext cx="3996333" cy="352871"/>
          </a:xfrm>
          <a:prstGeom prst="rect">
            <a:avLst/>
          </a:prstGeom>
          <a:noFill/>
          <a:ln/>
        </p:spPr>
        <p:txBody>
          <a:bodyPr wrap="square" lIns="0" tIns="0" rIns="0" bIns="0" rtlCol="0" anchor="t"/>
          <a:lstStyle/>
          <a:p>
            <a:pPr marL="0" indent="0" algn="l">
              <a:lnSpc>
                <a:spcPts val="2200"/>
              </a:lnSpc>
              <a:buNone/>
            </a:pPr>
            <a:r>
              <a:rPr lang="en-US" sz="843" b="1" dirty="0">
                <a:solidFill>
                  <a:srgbClr val="CAD6DE"/>
                </a:solidFill>
                <a:latin typeface="Cabin" pitchFamily="34" charset="0"/>
                <a:ea typeface="Cabin" pitchFamily="34" charset="-122"/>
                <a:cs typeface="Cabin" pitchFamily="34" charset="-120"/>
              </a:rPr>
              <a:t>Benefit:</a:t>
            </a:r>
            <a:r>
              <a:rPr lang="en-US" sz="843" dirty="0">
                <a:solidFill>
                  <a:srgbClr val="CAD6DE"/>
                </a:solidFill>
                <a:latin typeface="Cabin" pitchFamily="34" charset="0"/>
                <a:ea typeface="Cabin" pitchFamily="34" charset="-122"/>
                <a:cs typeface="Cabin" pitchFamily="34" charset="-120"/>
              </a:rPr>
              <a:t> IT can replicate dev, test, and production environments instantly and consistently.</a:t>
            </a:r>
            <a:endParaRPr lang="en-US" sz="843" dirty="0"/>
          </a:p>
        </p:txBody>
      </p:sp>
      <p:pic>
        <p:nvPicPr>
          <p:cNvPr id="22" name="Picture 21">
            <a:extLst>
              <a:ext uri="{FF2B5EF4-FFF2-40B4-BE49-F238E27FC236}">
                <a16:creationId xmlns:a16="http://schemas.microsoft.com/office/drawing/2014/main" id="{1A3D95B4-0E60-209F-1232-EE4CA8A48432}"/>
              </a:ext>
            </a:extLst>
          </p:cNvPr>
          <p:cNvPicPr>
            <a:picLocks noChangeAspect="1"/>
          </p:cNvPicPr>
          <p:nvPr/>
        </p:nvPicPr>
        <p:blipFill>
          <a:blip r:embed="rId7"/>
          <a:stretch>
            <a:fillRect/>
          </a:stretch>
        </p:blipFill>
        <p:spPr>
          <a:xfrm>
            <a:off x="6894683" y="4845975"/>
            <a:ext cx="2235870" cy="263906"/>
          </a:xfrm>
          <a:prstGeom prst="rect">
            <a:avLst/>
          </a:prstGeom>
        </p:spPr>
      </p:pic>
      <p:pic>
        <p:nvPicPr>
          <p:cNvPr id="23" name="Image 2" descr="preencoded.png">
            <a:extLst>
              <a:ext uri="{FF2B5EF4-FFF2-40B4-BE49-F238E27FC236}">
                <a16:creationId xmlns:a16="http://schemas.microsoft.com/office/drawing/2014/main" id="{84EA93EF-079F-A131-17BE-31ED74B6D9E6}"/>
              </a:ext>
            </a:extLst>
          </p:cNvPr>
          <p:cNvPicPr>
            <a:picLocks noChangeAspect="1"/>
          </p:cNvPicPr>
          <p:nvPr/>
        </p:nvPicPr>
        <p:blipFill>
          <a:blip r:embed="rId5"/>
          <a:stretch>
            <a:fillRect/>
          </a:stretch>
        </p:blipFill>
        <p:spPr>
          <a:xfrm>
            <a:off x="441126" y="3444479"/>
            <a:ext cx="4130873" cy="441126"/>
          </a:xfrm>
          <a:prstGeom prst="rect">
            <a:avLst/>
          </a:prstGeom>
        </p:spPr>
      </p:pic>
      <p:pic>
        <p:nvPicPr>
          <p:cNvPr id="24" name="Image 2" descr="preencoded.png">
            <a:extLst>
              <a:ext uri="{FF2B5EF4-FFF2-40B4-BE49-F238E27FC236}">
                <a16:creationId xmlns:a16="http://schemas.microsoft.com/office/drawing/2014/main" id="{9B0F8C7E-20E3-AC82-7926-016E2599EA4C}"/>
              </a:ext>
            </a:extLst>
          </p:cNvPr>
          <p:cNvPicPr>
            <a:picLocks noChangeAspect="1"/>
          </p:cNvPicPr>
          <p:nvPr/>
        </p:nvPicPr>
        <p:blipFill>
          <a:blip r:embed="rId5"/>
          <a:stretch>
            <a:fillRect/>
          </a:stretch>
        </p:blipFill>
        <p:spPr>
          <a:xfrm>
            <a:off x="4572000" y="3446691"/>
            <a:ext cx="4130873" cy="44112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23577" y="1362469"/>
            <a:ext cx="4462462"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High-Load Management</a:t>
            </a:r>
            <a:endParaRPr lang="en-US" sz="2406" dirty="0"/>
          </a:p>
        </p:txBody>
      </p:sp>
      <p:sp>
        <p:nvSpPr>
          <p:cNvPr id="4" name="Shape 1"/>
          <p:cNvSpPr/>
          <p:nvPr/>
        </p:nvSpPr>
        <p:spPr>
          <a:xfrm>
            <a:off x="523577" y="1943717"/>
            <a:ext cx="3982938" cy="1658317"/>
          </a:xfrm>
          <a:prstGeom prst="roundRect">
            <a:avLst>
              <a:gd name="adj" fmla="val 1184"/>
            </a:avLst>
          </a:prstGeom>
          <a:solidFill>
            <a:srgbClr val="304755"/>
          </a:solidFill>
          <a:ln/>
        </p:spPr>
      </p:sp>
      <p:sp>
        <p:nvSpPr>
          <p:cNvPr id="5" name="Text 2"/>
          <p:cNvSpPr/>
          <p:nvPr/>
        </p:nvSpPr>
        <p:spPr>
          <a:xfrm>
            <a:off x="654471" y="2074611"/>
            <a:ext cx="2202507"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Async Message Queues</a:t>
            </a:r>
            <a:endParaRPr lang="en-US" sz="1187" dirty="0"/>
          </a:p>
        </p:txBody>
      </p:sp>
      <p:sp>
        <p:nvSpPr>
          <p:cNvPr id="6" name="Text 3"/>
          <p:cNvSpPr/>
          <p:nvPr/>
        </p:nvSpPr>
        <p:spPr>
          <a:xfrm>
            <a:off x="654471" y="2345627"/>
            <a:ext cx="3721149"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RabbitMQ or Apache Kafka implementation between services.</a:t>
            </a:r>
            <a:endParaRPr lang="en-US" sz="1000" dirty="0"/>
          </a:p>
        </p:txBody>
      </p:sp>
      <p:sp>
        <p:nvSpPr>
          <p:cNvPr id="7" name="Text 4"/>
          <p:cNvSpPr/>
          <p:nvPr/>
        </p:nvSpPr>
        <p:spPr>
          <a:xfrm>
            <a:off x="654471" y="2842936"/>
            <a:ext cx="3721149" cy="628203"/>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Prevents crashes during simultaneous submissions by 5,000+ students via buffering, ensuring system stability during peak usage.</a:t>
            </a:r>
            <a:endParaRPr lang="en-US" sz="1000" dirty="0"/>
          </a:p>
        </p:txBody>
      </p:sp>
      <p:sp>
        <p:nvSpPr>
          <p:cNvPr id="8" name="Shape 5"/>
          <p:cNvSpPr/>
          <p:nvPr/>
        </p:nvSpPr>
        <p:spPr>
          <a:xfrm>
            <a:off x="4637410" y="1943717"/>
            <a:ext cx="3983012" cy="1658317"/>
          </a:xfrm>
          <a:prstGeom prst="roundRect">
            <a:avLst>
              <a:gd name="adj" fmla="val 1184"/>
            </a:avLst>
          </a:prstGeom>
          <a:solidFill>
            <a:srgbClr val="304755"/>
          </a:solidFill>
          <a:ln/>
        </p:spPr>
      </p:sp>
      <p:sp>
        <p:nvSpPr>
          <p:cNvPr id="9" name="Text 6"/>
          <p:cNvSpPr/>
          <p:nvPr/>
        </p:nvSpPr>
        <p:spPr>
          <a:xfrm>
            <a:off x="4768304" y="2074611"/>
            <a:ext cx="2165821" cy="192509"/>
          </a:xfrm>
          <a:prstGeom prst="rect">
            <a:avLst/>
          </a:prstGeom>
          <a:noFill/>
          <a:ln/>
        </p:spPr>
        <p:txBody>
          <a:bodyPr wrap="none" lIns="0" tIns="0" rIns="0" bIns="0" rtlCol="0" anchor="t"/>
          <a:lstStyle/>
          <a:p>
            <a:pPr marL="0" indent="0" algn="l">
              <a:lnSpc>
                <a:spcPts val="2400"/>
              </a:lnSpc>
              <a:buNone/>
            </a:pPr>
            <a:r>
              <a:rPr lang="en-US" sz="1187" dirty="0">
                <a:solidFill>
                  <a:srgbClr val="CAD6DE"/>
                </a:solidFill>
                <a:latin typeface="Unbounded" pitchFamily="34" charset="0"/>
                <a:ea typeface="Unbounded" pitchFamily="34" charset="-122"/>
                <a:cs typeface="Unbounded" pitchFamily="34" charset="-120"/>
              </a:rPr>
              <a:t>Blue/Green Deployment</a:t>
            </a:r>
            <a:endParaRPr lang="en-US" sz="1187" dirty="0"/>
          </a:p>
        </p:txBody>
      </p:sp>
      <p:sp>
        <p:nvSpPr>
          <p:cNvPr id="10" name="Text 7"/>
          <p:cNvSpPr/>
          <p:nvPr/>
        </p:nvSpPr>
        <p:spPr>
          <a:xfrm>
            <a:off x="4768304" y="2345627"/>
            <a:ext cx="3721223"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Automated zero-downtime updates within Kubernetes.</a:t>
            </a:r>
            <a:endParaRPr lang="en-US" sz="1000" dirty="0"/>
          </a:p>
        </p:txBody>
      </p:sp>
      <p:sp>
        <p:nvSpPr>
          <p:cNvPr id="11" name="Text 8"/>
          <p:cNvSpPr/>
          <p:nvPr/>
        </p:nvSpPr>
        <p:spPr>
          <a:xfrm>
            <a:off x="4768304" y="2842936"/>
            <a:ext cx="3721223"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Critical maintenance occurs without interrupting students during submission windows, maintaining continuous availability.</a:t>
            </a:r>
            <a:endParaRPr lang="en-US" sz="1000" dirty="0"/>
          </a:p>
        </p:txBody>
      </p:sp>
      <p:pic>
        <p:nvPicPr>
          <p:cNvPr id="12" name="Picture 11">
            <a:extLst>
              <a:ext uri="{FF2B5EF4-FFF2-40B4-BE49-F238E27FC236}">
                <a16:creationId xmlns:a16="http://schemas.microsoft.com/office/drawing/2014/main" id="{70622584-F5BB-A083-ED86-11DC20343FEE}"/>
              </a:ext>
            </a:extLst>
          </p:cNvPr>
          <p:cNvPicPr>
            <a:picLocks noChangeAspect="1"/>
          </p:cNvPicPr>
          <p:nvPr/>
        </p:nvPicPr>
        <p:blipFill>
          <a:blip r:embed="rId3"/>
          <a:stretch>
            <a:fillRect/>
          </a:stretch>
        </p:blipFill>
        <p:spPr>
          <a:xfrm>
            <a:off x="6894683" y="4845975"/>
            <a:ext cx="2235870" cy="2639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792211"/>
            <a:ext cx="3223096" cy="384943"/>
          </a:xfrm>
          <a:prstGeom prst="rect">
            <a:avLst/>
          </a:prstGeom>
          <a:noFill/>
          <a:ln/>
        </p:spPr>
        <p:txBody>
          <a:bodyPr wrap="none" lIns="0" tIns="0" rIns="0" bIns="0" rtlCol="0" anchor="t"/>
          <a:lstStyle/>
          <a:p>
            <a:pPr marL="0" indent="0" algn="l">
              <a:lnSpc>
                <a:spcPts val="4850"/>
              </a:lnSpc>
              <a:buNone/>
            </a:pPr>
            <a:r>
              <a:rPr lang="en-US" sz="2406" dirty="0">
                <a:solidFill>
                  <a:srgbClr val="FFFFFF"/>
                </a:solidFill>
                <a:latin typeface="Unbounded" pitchFamily="34" charset="0"/>
                <a:ea typeface="Unbounded" pitchFamily="34" charset="-122"/>
                <a:cs typeface="Unbounded" pitchFamily="34" charset="-120"/>
              </a:rPr>
              <a:t>AI &amp; Explainability</a:t>
            </a:r>
            <a:endParaRPr lang="en-US" sz="2406" dirty="0"/>
          </a:p>
        </p:txBody>
      </p:sp>
      <p:sp>
        <p:nvSpPr>
          <p:cNvPr id="3" name="Text 1"/>
          <p:cNvSpPr/>
          <p:nvPr/>
        </p:nvSpPr>
        <p:spPr>
          <a:xfrm>
            <a:off x="523577" y="1504355"/>
            <a:ext cx="1784300" cy="192509"/>
          </a:xfrm>
          <a:prstGeom prst="rect">
            <a:avLst/>
          </a:prstGeom>
          <a:noFill/>
          <a:ln/>
        </p:spPr>
        <p:txBody>
          <a:bodyPr wrap="none" lIns="0" tIns="0" rIns="0" bIns="0" rtlCol="0" anchor="t"/>
          <a:lstStyle/>
          <a:p>
            <a:pPr marL="0" indent="0" algn="l">
              <a:lnSpc>
                <a:spcPts val="2400"/>
              </a:lnSpc>
              <a:buNone/>
            </a:pPr>
            <a:r>
              <a:rPr lang="en-US" sz="1187" dirty="0">
                <a:solidFill>
                  <a:srgbClr val="FFFFFF"/>
                </a:solidFill>
                <a:latin typeface="Unbounded" pitchFamily="34" charset="0"/>
                <a:ea typeface="Unbounded" pitchFamily="34" charset="-122"/>
                <a:cs typeface="Unbounded" pitchFamily="34" charset="-120"/>
              </a:rPr>
              <a:t>Semantic Similarity</a:t>
            </a:r>
            <a:endParaRPr lang="en-US" sz="1187" dirty="0"/>
          </a:p>
        </p:txBody>
      </p:sp>
      <p:sp>
        <p:nvSpPr>
          <p:cNvPr id="4" name="Text 2"/>
          <p:cNvSpPr/>
          <p:nvPr/>
        </p:nvSpPr>
        <p:spPr>
          <a:xfrm>
            <a:off x="523577" y="1827758"/>
            <a:ext cx="4730353"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Vector Embedding system (Sentence-BERT models) measuring meaning rather than string matching.</a:t>
            </a:r>
            <a:endParaRPr lang="en-US" sz="1000" dirty="0"/>
          </a:p>
        </p:txBody>
      </p:sp>
      <p:sp>
        <p:nvSpPr>
          <p:cNvPr id="5" name="Text 3"/>
          <p:cNvSpPr/>
          <p:nvPr/>
        </p:nvSpPr>
        <p:spPr>
          <a:xfrm>
            <a:off x="523577" y="2364358"/>
            <a:ext cx="4730353"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Reduces false positives and improves accuracy on paraphrasing detection, providing more nuanced analysis than traditional methods.</a:t>
            </a:r>
            <a:endParaRPr lang="en-US" sz="1000" dirty="0"/>
          </a:p>
        </p:txBody>
      </p:sp>
      <p:sp>
        <p:nvSpPr>
          <p:cNvPr id="6" name="Shape 4"/>
          <p:cNvSpPr/>
          <p:nvPr/>
        </p:nvSpPr>
        <p:spPr>
          <a:xfrm>
            <a:off x="523577" y="2995821"/>
            <a:ext cx="4730353" cy="21059"/>
          </a:xfrm>
          <a:prstGeom prst="rect">
            <a:avLst/>
          </a:prstGeom>
          <a:solidFill>
            <a:srgbClr val="CAD6DE">
              <a:alpha val="50000"/>
            </a:srgbClr>
          </a:solidFill>
          <a:ln/>
        </p:spPr>
      </p:sp>
      <p:sp>
        <p:nvSpPr>
          <p:cNvPr id="7" name="Text 5"/>
          <p:cNvSpPr/>
          <p:nvPr/>
        </p:nvSpPr>
        <p:spPr>
          <a:xfrm>
            <a:off x="523577" y="3164085"/>
            <a:ext cx="1777231" cy="192509"/>
          </a:xfrm>
          <a:prstGeom prst="rect">
            <a:avLst/>
          </a:prstGeom>
          <a:noFill/>
          <a:ln/>
        </p:spPr>
        <p:txBody>
          <a:bodyPr wrap="none" lIns="0" tIns="0" rIns="0" bIns="0" rtlCol="0" anchor="t"/>
          <a:lstStyle/>
          <a:p>
            <a:pPr marL="0" indent="0" algn="l">
              <a:lnSpc>
                <a:spcPts val="2400"/>
              </a:lnSpc>
              <a:buNone/>
            </a:pPr>
            <a:r>
              <a:rPr lang="en-US" sz="1187" dirty="0">
                <a:solidFill>
                  <a:srgbClr val="FFFFFF"/>
                </a:solidFill>
                <a:latin typeface="Unbounded" pitchFamily="34" charset="0"/>
                <a:ea typeface="Unbounded" pitchFamily="34" charset="-122"/>
                <a:cs typeface="Unbounded" pitchFamily="34" charset="-120"/>
              </a:rPr>
              <a:t>Explainability Layer</a:t>
            </a:r>
            <a:endParaRPr lang="en-US" sz="1187" dirty="0"/>
          </a:p>
        </p:txBody>
      </p:sp>
      <p:sp>
        <p:nvSpPr>
          <p:cNvPr id="8" name="Text 6"/>
          <p:cNvSpPr/>
          <p:nvPr/>
        </p:nvSpPr>
        <p:spPr>
          <a:xfrm>
            <a:off x="523577" y="3487489"/>
            <a:ext cx="4730353" cy="209401"/>
          </a:xfrm>
          <a:prstGeom prst="rect">
            <a:avLst/>
          </a:prstGeom>
          <a:noFill/>
          <a:ln/>
        </p:spPr>
        <p:txBody>
          <a:bodyPr wrap="non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Implementation:</a:t>
            </a:r>
            <a:r>
              <a:rPr lang="en-US" sz="1000" dirty="0">
                <a:solidFill>
                  <a:srgbClr val="CAD6DE"/>
                </a:solidFill>
                <a:latin typeface="Cabin" pitchFamily="34" charset="0"/>
                <a:ea typeface="Cabin" pitchFamily="34" charset="-122"/>
                <a:cs typeface="Cabin" pitchFamily="34" charset="-120"/>
              </a:rPr>
              <a:t> Use SHAP or LIME libraries to generate sentence-level weight maps.</a:t>
            </a:r>
            <a:endParaRPr lang="en-US" sz="1000" dirty="0"/>
          </a:p>
        </p:txBody>
      </p:sp>
      <p:sp>
        <p:nvSpPr>
          <p:cNvPr id="9" name="Text 7"/>
          <p:cNvSpPr/>
          <p:nvPr/>
        </p:nvSpPr>
        <p:spPr>
          <a:xfrm>
            <a:off x="523577" y="3814688"/>
            <a:ext cx="4730353" cy="418802"/>
          </a:xfrm>
          <a:prstGeom prst="rect">
            <a:avLst/>
          </a:prstGeom>
          <a:noFill/>
          <a:ln/>
        </p:spPr>
        <p:txBody>
          <a:bodyPr wrap="square" lIns="0" tIns="0" rIns="0" bIns="0" rtlCol="0" anchor="t"/>
          <a:lstStyle/>
          <a:p>
            <a:pPr marL="0" indent="0" algn="l">
              <a:lnSpc>
                <a:spcPts val="2600"/>
              </a:lnSpc>
              <a:buNone/>
            </a:pPr>
            <a:r>
              <a:rPr lang="en-US" sz="1000" b="1" dirty="0">
                <a:solidFill>
                  <a:srgbClr val="CAD6DE"/>
                </a:solidFill>
                <a:latin typeface="Cabin" pitchFamily="34" charset="0"/>
                <a:ea typeface="Cabin" pitchFamily="34" charset="-122"/>
                <a:cs typeface="Cabin" pitchFamily="34" charset="-120"/>
              </a:rPr>
              <a:t>Benefit:</a:t>
            </a:r>
            <a:r>
              <a:rPr lang="en-US" sz="1000" dirty="0">
                <a:solidFill>
                  <a:srgbClr val="CAD6DE"/>
                </a:solidFill>
                <a:latin typeface="Cabin" pitchFamily="34" charset="0"/>
                <a:ea typeface="Cabin" pitchFamily="34" charset="-122"/>
                <a:cs typeface="Cabin" pitchFamily="34" charset="-120"/>
              </a:rPr>
              <a:t> Directly feeds the "Why" into the requested Heatmap visualization, giving students and faculty clear understanding of AI decisions.</a:t>
            </a:r>
            <a:endParaRPr lang="en-US" sz="1000" dirty="0"/>
          </a:p>
        </p:txBody>
      </p:sp>
      <p:pic>
        <p:nvPicPr>
          <p:cNvPr id="10" name="Image 0" descr="preencoded.png"/>
          <p:cNvPicPr>
            <a:picLocks noChangeAspect="1"/>
          </p:cNvPicPr>
          <p:nvPr/>
        </p:nvPicPr>
        <p:blipFill>
          <a:blip r:embed="rId3"/>
          <a:stretch>
            <a:fillRect/>
          </a:stretch>
        </p:blipFill>
        <p:spPr>
          <a:xfrm>
            <a:off x="5578078" y="1520725"/>
            <a:ext cx="3047106" cy="1714797"/>
          </a:xfrm>
          <a:prstGeom prst="rect">
            <a:avLst/>
          </a:prstGeom>
        </p:spPr>
      </p:pic>
      <p:pic>
        <p:nvPicPr>
          <p:cNvPr id="11" name="Picture 10">
            <a:extLst>
              <a:ext uri="{FF2B5EF4-FFF2-40B4-BE49-F238E27FC236}">
                <a16:creationId xmlns:a16="http://schemas.microsoft.com/office/drawing/2014/main" id="{1476520C-2DC9-05A0-8A9D-3EA9C2DF91EE}"/>
              </a:ext>
            </a:extLst>
          </p:cNvPr>
          <p:cNvPicPr>
            <a:picLocks noChangeAspect="1"/>
          </p:cNvPicPr>
          <p:nvPr/>
        </p:nvPicPr>
        <p:blipFill>
          <a:blip r:embed="rId4"/>
          <a:stretch>
            <a:fillRect/>
          </a:stretch>
        </p:blipFill>
        <p:spPr>
          <a:xfrm>
            <a:off x="6894683" y="4845975"/>
            <a:ext cx="2235870" cy="26390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485081"/>
          </a:xfrm>
          <a:prstGeom prst="rect">
            <a:avLst/>
          </a:prstGeom>
        </p:spPr>
      </p:pic>
      <p:sp>
        <p:nvSpPr>
          <p:cNvPr id="3" name="Text 0"/>
          <p:cNvSpPr/>
          <p:nvPr/>
        </p:nvSpPr>
        <p:spPr>
          <a:xfrm>
            <a:off x="475208" y="1905297"/>
            <a:ext cx="5352752" cy="349448"/>
          </a:xfrm>
          <a:prstGeom prst="rect">
            <a:avLst/>
          </a:prstGeom>
          <a:noFill/>
          <a:ln/>
        </p:spPr>
        <p:txBody>
          <a:bodyPr wrap="none" lIns="0" tIns="0" rIns="0" bIns="0" rtlCol="0" anchor="t"/>
          <a:lstStyle/>
          <a:p>
            <a:pPr marL="0" indent="0" algn="l">
              <a:lnSpc>
                <a:spcPts val="4400"/>
              </a:lnSpc>
              <a:buNone/>
            </a:pPr>
            <a:r>
              <a:rPr lang="en-US" sz="2187" dirty="0">
                <a:solidFill>
                  <a:srgbClr val="FFFFFF"/>
                </a:solidFill>
                <a:latin typeface="Unbounded" pitchFamily="34" charset="0"/>
                <a:ea typeface="Unbounded" pitchFamily="34" charset="-122"/>
                <a:cs typeface="Unbounded" pitchFamily="34" charset="-120"/>
              </a:rPr>
              <a:t>Sovereignty, Privacy &amp; Forensics</a:t>
            </a:r>
            <a:endParaRPr lang="en-US" sz="2187" dirty="0"/>
          </a:p>
        </p:txBody>
      </p:sp>
      <p:sp>
        <p:nvSpPr>
          <p:cNvPr id="4" name="Text 1"/>
          <p:cNvSpPr/>
          <p:nvPr/>
        </p:nvSpPr>
        <p:spPr>
          <a:xfrm>
            <a:off x="475208" y="2432893"/>
            <a:ext cx="118765" cy="148456"/>
          </a:xfrm>
          <a:prstGeom prst="rect">
            <a:avLst/>
          </a:prstGeom>
          <a:noFill/>
          <a:ln/>
        </p:spPr>
        <p:txBody>
          <a:bodyPr wrap="none" lIns="0" tIns="0" rIns="0" bIns="0" rtlCol="0" anchor="t"/>
          <a:lstStyle/>
          <a:p>
            <a:pPr marL="0" indent="0" algn="l">
              <a:lnSpc>
                <a:spcPts val="2350"/>
              </a:lnSpc>
              <a:buNone/>
            </a:pPr>
            <a:r>
              <a:rPr lang="en-US" sz="906" dirty="0">
                <a:solidFill>
                  <a:srgbClr val="CAD6DE"/>
                </a:solidFill>
                <a:latin typeface="Unbounded Light" pitchFamily="34" charset="0"/>
                <a:ea typeface="Unbounded Light" pitchFamily="34" charset="-122"/>
                <a:cs typeface="Unbounded Light" pitchFamily="34" charset="-120"/>
              </a:rPr>
              <a:t>01</a:t>
            </a:r>
            <a:endParaRPr lang="en-US" sz="906" dirty="0"/>
          </a:p>
        </p:txBody>
      </p:sp>
      <p:sp>
        <p:nvSpPr>
          <p:cNvPr id="5" name="Shape 2"/>
          <p:cNvSpPr/>
          <p:nvPr/>
        </p:nvSpPr>
        <p:spPr>
          <a:xfrm>
            <a:off x="475208" y="2620491"/>
            <a:ext cx="4037409" cy="14287"/>
          </a:xfrm>
          <a:prstGeom prst="rect">
            <a:avLst/>
          </a:prstGeom>
          <a:solidFill>
            <a:srgbClr val="0A988B"/>
          </a:solidFill>
          <a:ln/>
        </p:spPr>
      </p:sp>
      <p:sp>
        <p:nvSpPr>
          <p:cNvPr id="6" name="Text 3"/>
          <p:cNvSpPr/>
          <p:nvPr/>
        </p:nvSpPr>
        <p:spPr>
          <a:xfrm>
            <a:off x="475208" y="2708448"/>
            <a:ext cx="1544017" cy="174650"/>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Private Blockchain</a:t>
            </a:r>
            <a:endParaRPr lang="en-US" sz="1093" dirty="0"/>
          </a:p>
        </p:txBody>
      </p:sp>
      <p:sp>
        <p:nvSpPr>
          <p:cNvPr id="7" name="Text 4"/>
          <p:cNvSpPr/>
          <p:nvPr/>
        </p:nvSpPr>
        <p:spPr>
          <a:xfrm>
            <a:off x="475208" y="2954312"/>
            <a:ext cx="4037409" cy="570383"/>
          </a:xfrm>
          <a:prstGeom prst="rect">
            <a:avLst/>
          </a:prstGeom>
          <a:noFill/>
          <a:ln/>
        </p:spPr>
        <p:txBody>
          <a:bodyPr wrap="square" lIns="0" tIns="0" rIns="0" bIns="0" rtlCol="0" anchor="t"/>
          <a:lstStyle/>
          <a:p>
            <a:pPr marL="0" indent="0" algn="l">
              <a:lnSpc>
                <a:spcPts val="2350"/>
              </a:lnSpc>
              <a:buNone/>
            </a:pPr>
            <a:r>
              <a:rPr lang="en-US" sz="906" b="1" dirty="0">
                <a:solidFill>
                  <a:srgbClr val="CAD6DE"/>
                </a:solidFill>
                <a:latin typeface="Cabin" pitchFamily="34" charset="0"/>
                <a:ea typeface="Cabin" pitchFamily="34" charset="-122"/>
                <a:cs typeface="Cabin" pitchFamily="34" charset="-120"/>
              </a:rPr>
              <a:t>Implementation:</a:t>
            </a:r>
            <a:r>
              <a:rPr lang="en-US" sz="906" dirty="0">
                <a:solidFill>
                  <a:srgbClr val="CAD6DE"/>
                </a:solidFill>
                <a:latin typeface="Cabin" pitchFamily="34" charset="0"/>
                <a:ea typeface="Cabin" pitchFamily="34" charset="-122"/>
                <a:cs typeface="Cabin" pitchFamily="34" charset="-120"/>
              </a:rPr>
              <a:t> Hyperledger Fabric or Besu owned and operated by the university consortium. </a:t>
            </a:r>
            <a:r>
              <a:rPr lang="en-US" sz="906" b="1" dirty="0">
                <a:solidFill>
                  <a:srgbClr val="CAD6DE"/>
                </a:solidFill>
                <a:latin typeface="Cabin" pitchFamily="34" charset="0"/>
                <a:ea typeface="Cabin" pitchFamily="34" charset="-122"/>
                <a:cs typeface="Cabin" pitchFamily="34" charset="-120"/>
              </a:rPr>
              <a:t>Internal Control:</a:t>
            </a:r>
            <a:r>
              <a:rPr lang="en-US" sz="906" dirty="0">
                <a:solidFill>
                  <a:srgbClr val="CAD6DE"/>
                </a:solidFill>
                <a:latin typeface="Cabin" pitchFamily="34" charset="0"/>
                <a:ea typeface="Cabin" pitchFamily="34" charset="-122"/>
                <a:cs typeface="Cabin" pitchFamily="34" charset="-120"/>
              </a:rPr>
              <a:t> Meets mandatory requirements for institutional governance.</a:t>
            </a:r>
            <a:endParaRPr lang="en-US" sz="906" dirty="0"/>
          </a:p>
        </p:txBody>
      </p:sp>
      <p:sp>
        <p:nvSpPr>
          <p:cNvPr id="8" name="Text 5"/>
          <p:cNvSpPr/>
          <p:nvPr/>
        </p:nvSpPr>
        <p:spPr>
          <a:xfrm>
            <a:off x="4631382" y="2432893"/>
            <a:ext cx="118765" cy="148456"/>
          </a:xfrm>
          <a:prstGeom prst="rect">
            <a:avLst/>
          </a:prstGeom>
          <a:noFill/>
          <a:ln/>
        </p:spPr>
        <p:txBody>
          <a:bodyPr wrap="none" lIns="0" tIns="0" rIns="0" bIns="0" rtlCol="0" anchor="t"/>
          <a:lstStyle/>
          <a:p>
            <a:pPr marL="0" indent="0" algn="l">
              <a:lnSpc>
                <a:spcPts val="2350"/>
              </a:lnSpc>
              <a:buNone/>
            </a:pPr>
            <a:r>
              <a:rPr lang="en-US" sz="906" dirty="0">
                <a:solidFill>
                  <a:srgbClr val="CAD6DE"/>
                </a:solidFill>
                <a:latin typeface="Unbounded Light" pitchFamily="34" charset="0"/>
                <a:ea typeface="Unbounded Light" pitchFamily="34" charset="-122"/>
                <a:cs typeface="Unbounded Light" pitchFamily="34" charset="-120"/>
              </a:rPr>
              <a:t>02</a:t>
            </a:r>
            <a:endParaRPr lang="en-US" sz="906" dirty="0"/>
          </a:p>
        </p:txBody>
      </p:sp>
      <p:sp>
        <p:nvSpPr>
          <p:cNvPr id="9" name="Shape 6"/>
          <p:cNvSpPr/>
          <p:nvPr/>
        </p:nvSpPr>
        <p:spPr>
          <a:xfrm>
            <a:off x="4631382" y="2620491"/>
            <a:ext cx="4037409" cy="14287"/>
          </a:xfrm>
          <a:prstGeom prst="rect">
            <a:avLst/>
          </a:prstGeom>
          <a:solidFill>
            <a:srgbClr val="0A988B"/>
          </a:solidFill>
          <a:ln/>
        </p:spPr>
      </p:sp>
      <p:sp>
        <p:nvSpPr>
          <p:cNvPr id="10" name="Text 7"/>
          <p:cNvSpPr/>
          <p:nvPr/>
        </p:nvSpPr>
        <p:spPr>
          <a:xfrm>
            <a:off x="4631382" y="2708448"/>
            <a:ext cx="1973610" cy="174650"/>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Local-Only LLM Hosting</a:t>
            </a:r>
            <a:endParaRPr lang="en-US" sz="1093" dirty="0"/>
          </a:p>
        </p:txBody>
      </p:sp>
      <p:sp>
        <p:nvSpPr>
          <p:cNvPr id="11" name="Text 8"/>
          <p:cNvSpPr/>
          <p:nvPr/>
        </p:nvSpPr>
        <p:spPr>
          <a:xfrm>
            <a:off x="4631382" y="2954312"/>
            <a:ext cx="4037409" cy="570383"/>
          </a:xfrm>
          <a:prstGeom prst="rect">
            <a:avLst/>
          </a:prstGeom>
          <a:noFill/>
          <a:ln/>
        </p:spPr>
        <p:txBody>
          <a:bodyPr wrap="square" lIns="0" tIns="0" rIns="0" bIns="0" rtlCol="0" anchor="t"/>
          <a:lstStyle/>
          <a:p>
            <a:pPr marL="0" indent="0" algn="l">
              <a:lnSpc>
                <a:spcPts val="2350"/>
              </a:lnSpc>
              <a:buNone/>
            </a:pPr>
            <a:r>
              <a:rPr lang="en-US" sz="906" b="1" dirty="0">
                <a:solidFill>
                  <a:srgbClr val="CAD6DE"/>
                </a:solidFill>
                <a:latin typeface="Cabin" pitchFamily="34" charset="0"/>
                <a:ea typeface="Cabin" pitchFamily="34" charset="-122"/>
                <a:cs typeface="Cabin" pitchFamily="34" charset="-120"/>
              </a:rPr>
              <a:t>Implementation:</a:t>
            </a:r>
            <a:r>
              <a:rPr lang="en-US" sz="906" dirty="0">
                <a:solidFill>
                  <a:srgbClr val="CAD6DE"/>
                </a:solidFill>
                <a:latin typeface="Cabin" pitchFamily="34" charset="0"/>
                <a:ea typeface="Cabin" pitchFamily="34" charset="-122"/>
                <a:cs typeface="Cabin" pitchFamily="34" charset="-120"/>
              </a:rPr>
              <a:t> Host all similarity scoring models on-premise using dedicated GPUs. </a:t>
            </a:r>
            <a:r>
              <a:rPr lang="en-US" sz="906" b="1" dirty="0">
                <a:solidFill>
                  <a:srgbClr val="CAD6DE"/>
                </a:solidFill>
                <a:latin typeface="Cabin" pitchFamily="34" charset="0"/>
                <a:ea typeface="Cabin" pitchFamily="34" charset="-122"/>
                <a:cs typeface="Cabin" pitchFamily="34" charset="-120"/>
              </a:rPr>
              <a:t>Non-Negotiable:</a:t>
            </a:r>
            <a:r>
              <a:rPr lang="en-US" sz="906" dirty="0">
                <a:solidFill>
                  <a:srgbClr val="CAD6DE"/>
                </a:solidFill>
                <a:latin typeface="Cabin" pitchFamily="34" charset="0"/>
                <a:ea typeface="Cabin" pitchFamily="34" charset="-122"/>
                <a:cs typeface="Cabin" pitchFamily="34" charset="-120"/>
              </a:rPr>
              <a:t> Guarantees AI does not expose data to external cloud providers.</a:t>
            </a:r>
            <a:endParaRPr lang="en-US" sz="906" dirty="0"/>
          </a:p>
        </p:txBody>
      </p:sp>
      <p:sp>
        <p:nvSpPr>
          <p:cNvPr id="12" name="Text 9"/>
          <p:cNvSpPr/>
          <p:nvPr/>
        </p:nvSpPr>
        <p:spPr>
          <a:xfrm>
            <a:off x="475208" y="3732535"/>
            <a:ext cx="118765" cy="148456"/>
          </a:xfrm>
          <a:prstGeom prst="rect">
            <a:avLst/>
          </a:prstGeom>
          <a:noFill/>
          <a:ln/>
        </p:spPr>
        <p:txBody>
          <a:bodyPr wrap="none" lIns="0" tIns="0" rIns="0" bIns="0" rtlCol="0" anchor="t"/>
          <a:lstStyle/>
          <a:p>
            <a:pPr marL="0" indent="0" algn="l">
              <a:lnSpc>
                <a:spcPts val="2350"/>
              </a:lnSpc>
              <a:buNone/>
            </a:pPr>
            <a:r>
              <a:rPr lang="en-US" sz="906" dirty="0">
                <a:solidFill>
                  <a:srgbClr val="CAD6DE"/>
                </a:solidFill>
                <a:latin typeface="Unbounded Light" pitchFamily="34" charset="0"/>
                <a:ea typeface="Unbounded Light" pitchFamily="34" charset="-122"/>
                <a:cs typeface="Unbounded Light" pitchFamily="34" charset="-120"/>
              </a:rPr>
              <a:t>03</a:t>
            </a:r>
            <a:endParaRPr lang="en-US" sz="906" dirty="0"/>
          </a:p>
        </p:txBody>
      </p:sp>
      <p:sp>
        <p:nvSpPr>
          <p:cNvPr id="13" name="Shape 10"/>
          <p:cNvSpPr/>
          <p:nvPr/>
        </p:nvSpPr>
        <p:spPr>
          <a:xfrm>
            <a:off x="475208" y="3920132"/>
            <a:ext cx="4037409" cy="14287"/>
          </a:xfrm>
          <a:prstGeom prst="rect">
            <a:avLst/>
          </a:prstGeom>
          <a:solidFill>
            <a:srgbClr val="0A988B"/>
          </a:solidFill>
          <a:ln/>
        </p:spPr>
      </p:sp>
      <p:sp>
        <p:nvSpPr>
          <p:cNvPr id="14" name="Text 11"/>
          <p:cNvSpPr/>
          <p:nvPr/>
        </p:nvSpPr>
        <p:spPr>
          <a:xfrm>
            <a:off x="475208" y="4008090"/>
            <a:ext cx="1796653" cy="174650"/>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Auditability by Design</a:t>
            </a:r>
            <a:endParaRPr lang="en-US" sz="1093" dirty="0"/>
          </a:p>
        </p:txBody>
      </p:sp>
      <p:sp>
        <p:nvSpPr>
          <p:cNvPr id="15" name="Text 12"/>
          <p:cNvSpPr/>
          <p:nvPr/>
        </p:nvSpPr>
        <p:spPr>
          <a:xfrm>
            <a:off x="475208" y="4253954"/>
            <a:ext cx="4037409" cy="380255"/>
          </a:xfrm>
          <a:prstGeom prst="rect">
            <a:avLst/>
          </a:prstGeom>
          <a:noFill/>
          <a:ln/>
        </p:spPr>
        <p:txBody>
          <a:bodyPr wrap="square" lIns="0" tIns="0" rIns="0" bIns="0" rtlCol="0" anchor="t"/>
          <a:lstStyle/>
          <a:p>
            <a:pPr marL="0" indent="0" algn="l">
              <a:lnSpc>
                <a:spcPts val="2350"/>
              </a:lnSpc>
              <a:buNone/>
            </a:pPr>
            <a:r>
              <a:rPr lang="en-US" sz="906" dirty="0">
                <a:solidFill>
                  <a:srgbClr val="CAD6DE"/>
                </a:solidFill>
                <a:latin typeface="Cabin" pitchFamily="34" charset="0"/>
                <a:ea typeface="Cabin" pitchFamily="34" charset="-122"/>
                <a:cs typeface="Cabin" pitchFamily="34" charset="-120"/>
              </a:rPr>
              <a:t>Every action (file upload, hash generation, faculty access) is logged immutably in a separate audit ledger for forensic reliability.</a:t>
            </a:r>
            <a:endParaRPr lang="en-US" sz="906" dirty="0"/>
          </a:p>
        </p:txBody>
      </p:sp>
      <p:sp>
        <p:nvSpPr>
          <p:cNvPr id="16" name="Text 13"/>
          <p:cNvSpPr/>
          <p:nvPr/>
        </p:nvSpPr>
        <p:spPr>
          <a:xfrm>
            <a:off x="4631382" y="3732535"/>
            <a:ext cx="118765" cy="148456"/>
          </a:xfrm>
          <a:prstGeom prst="rect">
            <a:avLst/>
          </a:prstGeom>
          <a:noFill/>
          <a:ln/>
        </p:spPr>
        <p:txBody>
          <a:bodyPr wrap="none" lIns="0" tIns="0" rIns="0" bIns="0" rtlCol="0" anchor="t"/>
          <a:lstStyle/>
          <a:p>
            <a:pPr marL="0" indent="0" algn="l">
              <a:lnSpc>
                <a:spcPts val="2350"/>
              </a:lnSpc>
              <a:buNone/>
            </a:pPr>
            <a:r>
              <a:rPr lang="en-US" sz="906" dirty="0">
                <a:solidFill>
                  <a:srgbClr val="CAD6DE"/>
                </a:solidFill>
                <a:latin typeface="Unbounded Light" pitchFamily="34" charset="0"/>
                <a:ea typeface="Unbounded Light" pitchFamily="34" charset="-122"/>
                <a:cs typeface="Unbounded Light" pitchFamily="34" charset="-120"/>
              </a:rPr>
              <a:t>04</a:t>
            </a:r>
            <a:endParaRPr lang="en-US" sz="906" dirty="0"/>
          </a:p>
        </p:txBody>
      </p:sp>
      <p:sp>
        <p:nvSpPr>
          <p:cNvPr id="17" name="Shape 14"/>
          <p:cNvSpPr/>
          <p:nvPr/>
        </p:nvSpPr>
        <p:spPr>
          <a:xfrm>
            <a:off x="4631382" y="3920132"/>
            <a:ext cx="4037409" cy="14287"/>
          </a:xfrm>
          <a:prstGeom prst="rect">
            <a:avLst/>
          </a:prstGeom>
          <a:solidFill>
            <a:srgbClr val="0A988B"/>
          </a:solidFill>
          <a:ln/>
        </p:spPr>
      </p:sp>
      <p:sp>
        <p:nvSpPr>
          <p:cNvPr id="18" name="Text 15"/>
          <p:cNvSpPr/>
          <p:nvPr/>
        </p:nvSpPr>
        <p:spPr>
          <a:xfrm>
            <a:off x="4631382" y="4008090"/>
            <a:ext cx="2075185" cy="174650"/>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External Immutable Logs</a:t>
            </a:r>
            <a:endParaRPr lang="en-US" sz="1093" dirty="0"/>
          </a:p>
        </p:txBody>
      </p:sp>
      <p:sp>
        <p:nvSpPr>
          <p:cNvPr id="19" name="Text 16"/>
          <p:cNvSpPr/>
          <p:nvPr/>
        </p:nvSpPr>
        <p:spPr>
          <a:xfrm>
            <a:off x="4631382" y="4253954"/>
            <a:ext cx="4037409" cy="380255"/>
          </a:xfrm>
          <a:prstGeom prst="rect">
            <a:avLst/>
          </a:prstGeom>
          <a:noFill/>
          <a:ln/>
        </p:spPr>
        <p:txBody>
          <a:bodyPr wrap="square" lIns="0" tIns="0" rIns="0" bIns="0" rtlCol="0" anchor="t"/>
          <a:lstStyle/>
          <a:p>
            <a:pPr marL="0" indent="0" algn="l">
              <a:lnSpc>
                <a:spcPts val="2350"/>
              </a:lnSpc>
              <a:buNone/>
            </a:pPr>
            <a:r>
              <a:rPr lang="en-US" sz="906" dirty="0">
                <a:solidFill>
                  <a:srgbClr val="CAD6DE"/>
                </a:solidFill>
                <a:latin typeface="Cabin" pitchFamily="34" charset="0"/>
                <a:ea typeface="Cabin" pitchFamily="34" charset="-122"/>
                <a:cs typeface="Cabin" pitchFamily="34" charset="-120"/>
              </a:rPr>
              <a:t>Integration with cold storage to track actions for long-term forensic reliability, providing irrefutable proof of submission and verification timing.</a:t>
            </a:r>
            <a:endParaRPr lang="en-US" sz="906" dirty="0"/>
          </a:p>
        </p:txBody>
      </p:sp>
      <p:pic>
        <p:nvPicPr>
          <p:cNvPr id="20" name="Picture 19">
            <a:extLst>
              <a:ext uri="{FF2B5EF4-FFF2-40B4-BE49-F238E27FC236}">
                <a16:creationId xmlns:a16="http://schemas.microsoft.com/office/drawing/2014/main" id="{7D66978B-F218-7009-CC5F-80737D8122F3}"/>
              </a:ext>
            </a:extLst>
          </p:cNvPr>
          <p:cNvPicPr>
            <a:picLocks noChangeAspect="1"/>
          </p:cNvPicPr>
          <p:nvPr/>
        </p:nvPicPr>
        <p:blipFill>
          <a:blip r:embed="rId4"/>
          <a:stretch>
            <a:fillRect/>
          </a:stretch>
        </p:blipFill>
        <p:spPr>
          <a:xfrm>
            <a:off x="6894683" y="4845975"/>
            <a:ext cx="2235870" cy="26390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84138" y="526107"/>
            <a:ext cx="7422579" cy="355922"/>
          </a:xfrm>
          <a:prstGeom prst="rect">
            <a:avLst/>
          </a:prstGeom>
          <a:noFill/>
          <a:ln/>
        </p:spPr>
        <p:txBody>
          <a:bodyPr wrap="none" lIns="0" tIns="0" rIns="0" bIns="0" rtlCol="0" anchor="t"/>
          <a:lstStyle/>
          <a:p>
            <a:pPr marL="0" indent="0" algn="l">
              <a:lnSpc>
                <a:spcPts val="4450"/>
              </a:lnSpc>
              <a:buNone/>
            </a:pPr>
            <a:r>
              <a:rPr lang="en-US" sz="2218" dirty="0">
                <a:solidFill>
                  <a:srgbClr val="FFFFFF"/>
                </a:solidFill>
                <a:latin typeface="Unbounded" pitchFamily="34" charset="0"/>
                <a:ea typeface="Unbounded" pitchFamily="34" charset="-122"/>
                <a:cs typeface="Unbounded" pitchFamily="34" charset="-120"/>
              </a:rPr>
              <a:t>Reporting, Certification &amp; System Resilience</a:t>
            </a:r>
            <a:endParaRPr lang="en-US" sz="2218" dirty="0"/>
          </a:p>
        </p:txBody>
      </p:sp>
      <p:sp>
        <p:nvSpPr>
          <p:cNvPr id="3" name="Shape 1"/>
          <p:cNvSpPr/>
          <p:nvPr/>
        </p:nvSpPr>
        <p:spPr>
          <a:xfrm>
            <a:off x="484138" y="1305669"/>
            <a:ext cx="2644526" cy="1463278"/>
          </a:xfrm>
          <a:prstGeom prst="roundRect">
            <a:avLst>
              <a:gd name="adj" fmla="val 4687"/>
            </a:avLst>
          </a:prstGeom>
          <a:solidFill>
            <a:srgbClr val="112836"/>
          </a:solidFill>
          <a:ln/>
        </p:spPr>
      </p:sp>
      <p:sp>
        <p:nvSpPr>
          <p:cNvPr id="4" name="Shape 2"/>
          <p:cNvSpPr/>
          <p:nvPr/>
        </p:nvSpPr>
        <p:spPr>
          <a:xfrm>
            <a:off x="484138" y="1291381"/>
            <a:ext cx="2644526" cy="57150"/>
          </a:xfrm>
          <a:prstGeom prst="roundRect">
            <a:avLst>
              <a:gd name="adj" fmla="val 31771"/>
            </a:avLst>
          </a:prstGeom>
          <a:solidFill>
            <a:srgbClr val="0A988B"/>
          </a:solidFill>
          <a:ln/>
        </p:spPr>
      </p:sp>
      <p:sp>
        <p:nvSpPr>
          <p:cNvPr id="5" name="Shape 3"/>
          <p:cNvSpPr/>
          <p:nvPr/>
        </p:nvSpPr>
        <p:spPr>
          <a:xfrm>
            <a:off x="1624831" y="1124098"/>
            <a:ext cx="363140" cy="363140"/>
          </a:xfrm>
          <a:prstGeom prst="roundRect">
            <a:avLst>
              <a:gd name="adj" fmla="val 157377"/>
            </a:avLst>
          </a:prstGeom>
          <a:solidFill>
            <a:srgbClr val="0A988B"/>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3773" y="1233041"/>
            <a:ext cx="145256" cy="145256"/>
          </a:xfrm>
          <a:prstGeom prst="rect">
            <a:avLst/>
          </a:prstGeom>
        </p:spPr>
      </p:pic>
      <p:sp>
        <p:nvSpPr>
          <p:cNvPr id="7" name="Text 4"/>
          <p:cNvSpPr/>
          <p:nvPr/>
        </p:nvSpPr>
        <p:spPr>
          <a:xfrm>
            <a:off x="619422" y="1608236"/>
            <a:ext cx="2043782" cy="177998"/>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Role-Based Dashboards</a:t>
            </a:r>
            <a:endParaRPr lang="en-US" sz="1093" dirty="0"/>
          </a:p>
        </p:txBody>
      </p:sp>
      <p:sp>
        <p:nvSpPr>
          <p:cNvPr id="8" name="Text 5"/>
          <p:cNvSpPr/>
          <p:nvPr/>
        </p:nvSpPr>
        <p:spPr>
          <a:xfrm>
            <a:off x="619422" y="1858863"/>
            <a:ext cx="2373957" cy="774799"/>
          </a:xfrm>
          <a:prstGeom prst="rect">
            <a:avLst/>
          </a:prstGeom>
          <a:noFill/>
          <a:ln/>
        </p:spPr>
        <p:txBody>
          <a:bodyPr wrap="square" lIns="0" tIns="0" rIns="0" bIns="0" rtlCol="0" anchor="t"/>
          <a:lstStyle/>
          <a:p>
            <a:pPr marL="0" indent="0" algn="l">
              <a:lnSpc>
                <a:spcPts val="2400"/>
              </a:lnSpc>
              <a:buNone/>
            </a:pPr>
            <a:r>
              <a:rPr lang="en-US" sz="937" b="1" dirty="0">
                <a:solidFill>
                  <a:srgbClr val="CAD6DE"/>
                </a:solidFill>
                <a:latin typeface="Cabin" pitchFamily="34" charset="0"/>
                <a:ea typeface="Cabin" pitchFamily="34" charset="-122"/>
                <a:cs typeface="Cabin" pitchFamily="34" charset="-120"/>
              </a:rPr>
              <a:t>Student:</a:t>
            </a:r>
            <a:r>
              <a:rPr lang="en-US" sz="937" dirty="0">
                <a:solidFill>
                  <a:srgbClr val="CAD6DE"/>
                </a:solidFill>
                <a:latin typeface="Cabin" pitchFamily="34" charset="0"/>
                <a:ea typeface="Cabin" pitchFamily="34" charset="-122"/>
                <a:cs typeface="Cabin" pitchFamily="34" charset="-120"/>
              </a:rPr>
              <a:t> Focused on formative tools (Draft Check) and Digital Wallets. </a:t>
            </a:r>
            <a:r>
              <a:rPr lang="en-US" sz="937" b="1" dirty="0">
                <a:solidFill>
                  <a:srgbClr val="CAD6DE"/>
                </a:solidFill>
                <a:latin typeface="Cabin" pitchFamily="34" charset="0"/>
                <a:ea typeface="Cabin" pitchFamily="34" charset="-122"/>
                <a:cs typeface="Cabin" pitchFamily="34" charset="-120"/>
              </a:rPr>
              <a:t>Faculty:</a:t>
            </a:r>
            <a:r>
              <a:rPr lang="en-US" sz="937" dirty="0">
                <a:solidFill>
                  <a:srgbClr val="CAD6DE"/>
                </a:solidFill>
                <a:latin typeface="Cabin" pitchFamily="34" charset="0"/>
                <a:ea typeface="Cabin" pitchFamily="34" charset="-122"/>
                <a:cs typeface="Cabin" pitchFamily="34" charset="-120"/>
              </a:rPr>
              <a:t> Focused on admin review and detailed similarity reports with multi-dimensional scoring.</a:t>
            </a:r>
            <a:endParaRPr lang="en-US" sz="937" dirty="0"/>
          </a:p>
        </p:txBody>
      </p:sp>
      <p:sp>
        <p:nvSpPr>
          <p:cNvPr id="9" name="Shape 6"/>
          <p:cNvSpPr/>
          <p:nvPr/>
        </p:nvSpPr>
        <p:spPr>
          <a:xfrm>
            <a:off x="3249661" y="1305669"/>
            <a:ext cx="2644601" cy="1463278"/>
          </a:xfrm>
          <a:prstGeom prst="roundRect">
            <a:avLst>
              <a:gd name="adj" fmla="val 4687"/>
            </a:avLst>
          </a:prstGeom>
          <a:solidFill>
            <a:srgbClr val="112836"/>
          </a:solidFill>
          <a:ln/>
        </p:spPr>
      </p:sp>
      <p:sp>
        <p:nvSpPr>
          <p:cNvPr id="10" name="Shape 7"/>
          <p:cNvSpPr/>
          <p:nvPr/>
        </p:nvSpPr>
        <p:spPr>
          <a:xfrm>
            <a:off x="3249661" y="1291381"/>
            <a:ext cx="2644601" cy="57150"/>
          </a:xfrm>
          <a:prstGeom prst="roundRect">
            <a:avLst>
              <a:gd name="adj" fmla="val 31771"/>
            </a:avLst>
          </a:prstGeom>
          <a:solidFill>
            <a:srgbClr val="0A988B"/>
          </a:solidFill>
          <a:ln/>
        </p:spPr>
      </p:sp>
      <p:sp>
        <p:nvSpPr>
          <p:cNvPr id="11" name="Shape 8"/>
          <p:cNvSpPr/>
          <p:nvPr/>
        </p:nvSpPr>
        <p:spPr>
          <a:xfrm>
            <a:off x="4390355" y="1124098"/>
            <a:ext cx="363140" cy="363140"/>
          </a:xfrm>
          <a:prstGeom prst="roundRect">
            <a:avLst>
              <a:gd name="adj" fmla="val 157377"/>
            </a:avLst>
          </a:prstGeom>
          <a:solidFill>
            <a:srgbClr val="0A988B"/>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9297" y="1233041"/>
            <a:ext cx="145256" cy="145256"/>
          </a:xfrm>
          <a:prstGeom prst="rect">
            <a:avLst/>
          </a:prstGeom>
        </p:spPr>
      </p:pic>
      <p:sp>
        <p:nvSpPr>
          <p:cNvPr id="13" name="Text 9"/>
          <p:cNvSpPr/>
          <p:nvPr/>
        </p:nvSpPr>
        <p:spPr>
          <a:xfrm>
            <a:off x="3384946" y="1608236"/>
            <a:ext cx="1605483" cy="177998"/>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Digital Certificates</a:t>
            </a:r>
            <a:endParaRPr lang="en-US" sz="1093" dirty="0"/>
          </a:p>
        </p:txBody>
      </p:sp>
      <p:sp>
        <p:nvSpPr>
          <p:cNvPr id="14" name="Text 10"/>
          <p:cNvSpPr/>
          <p:nvPr/>
        </p:nvSpPr>
        <p:spPr>
          <a:xfrm>
            <a:off x="3384946" y="1858863"/>
            <a:ext cx="2374031" cy="581099"/>
          </a:xfrm>
          <a:prstGeom prst="rect">
            <a:avLst/>
          </a:prstGeom>
          <a:noFill/>
          <a:ln/>
        </p:spPr>
        <p:txBody>
          <a:bodyPr wrap="square" lIns="0" tIns="0" rIns="0" bIns="0" rtlCol="0" anchor="t"/>
          <a:lstStyle/>
          <a:p>
            <a:pPr marL="0" indent="0" algn="l">
              <a:lnSpc>
                <a:spcPts val="2400"/>
              </a:lnSpc>
              <a:buNone/>
            </a:pPr>
            <a:r>
              <a:rPr lang="en-US" sz="937" dirty="0">
                <a:solidFill>
                  <a:srgbClr val="CAD6DE"/>
                </a:solidFill>
                <a:latin typeface="Cabin" pitchFamily="34" charset="0"/>
                <a:ea typeface="Cabin" pitchFamily="34" charset="-122"/>
                <a:cs typeface="Cabin" pitchFamily="34" charset="-120"/>
              </a:rPr>
              <a:t>PDF/QR Code based "Proof of Originality" with Wallet API integration, providing verifiable credentials for academic work.</a:t>
            </a:r>
            <a:endParaRPr lang="en-US" sz="937" dirty="0"/>
          </a:p>
        </p:txBody>
      </p:sp>
      <p:sp>
        <p:nvSpPr>
          <p:cNvPr id="15" name="Shape 11"/>
          <p:cNvSpPr/>
          <p:nvPr/>
        </p:nvSpPr>
        <p:spPr>
          <a:xfrm>
            <a:off x="6015260" y="1305669"/>
            <a:ext cx="2644601" cy="1463278"/>
          </a:xfrm>
          <a:prstGeom prst="roundRect">
            <a:avLst>
              <a:gd name="adj" fmla="val 4687"/>
            </a:avLst>
          </a:prstGeom>
          <a:solidFill>
            <a:srgbClr val="112836"/>
          </a:solidFill>
          <a:ln/>
        </p:spPr>
      </p:sp>
      <p:sp>
        <p:nvSpPr>
          <p:cNvPr id="16" name="Shape 12"/>
          <p:cNvSpPr/>
          <p:nvPr/>
        </p:nvSpPr>
        <p:spPr>
          <a:xfrm>
            <a:off x="6015260" y="1291381"/>
            <a:ext cx="2644601" cy="57150"/>
          </a:xfrm>
          <a:prstGeom prst="roundRect">
            <a:avLst>
              <a:gd name="adj" fmla="val 31771"/>
            </a:avLst>
          </a:prstGeom>
          <a:solidFill>
            <a:srgbClr val="0A988B"/>
          </a:solidFill>
          <a:ln/>
        </p:spPr>
      </p:sp>
      <p:sp>
        <p:nvSpPr>
          <p:cNvPr id="17" name="Shape 13"/>
          <p:cNvSpPr/>
          <p:nvPr/>
        </p:nvSpPr>
        <p:spPr>
          <a:xfrm>
            <a:off x="7155953" y="1124098"/>
            <a:ext cx="363140" cy="363140"/>
          </a:xfrm>
          <a:prstGeom prst="roundRect">
            <a:avLst>
              <a:gd name="adj" fmla="val 157377"/>
            </a:avLst>
          </a:prstGeom>
          <a:solidFill>
            <a:srgbClr val="0A988B"/>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64896" y="1233041"/>
            <a:ext cx="145256" cy="145256"/>
          </a:xfrm>
          <a:prstGeom prst="rect">
            <a:avLst/>
          </a:prstGeom>
        </p:spPr>
      </p:pic>
      <p:sp>
        <p:nvSpPr>
          <p:cNvPr id="19" name="Text 14"/>
          <p:cNvSpPr/>
          <p:nvPr/>
        </p:nvSpPr>
        <p:spPr>
          <a:xfrm>
            <a:off x="6150545" y="1608236"/>
            <a:ext cx="1616571" cy="177998"/>
          </a:xfrm>
          <a:prstGeom prst="rect">
            <a:avLst/>
          </a:prstGeom>
          <a:noFill/>
          <a:ln/>
        </p:spPr>
        <p:txBody>
          <a:bodyPr wrap="none" lIns="0" tIns="0" rIns="0" bIns="0" rtlCol="0" anchor="t"/>
          <a:lstStyle/>
          <a:p>
            <a:pPr marL="0" indent="0" algn="l">
              <a:lnSpc>
                <a:spcPts val="2200"/>
              </a:lnSpc>
              <a:buNone/>
            </a:pPr>
            <a:r>
              <a:rPr lang="en-US" sz="1093" dirty="0">
                <a:solidFill>
                  <a:srgbClr val="CAD6DE"/>
                </a:solidFill>
                <a:latin typeface="Unbounded" pitchFamily="34" charset="0"/>
                <a:ea typeface="Unbounded" pitchFamily="34" charset="-122"/>
                <a:cs typeface="Unbounded" pitchFamily="34" charset="-120"/>
              </a:rPr>
              <a:t>WCAG Compliance</a:t>
            </a:r>
            <a:endParaRPr lang="en-US" sz="1093" dirty="0"/>
          </a:p>
        </p:txBody>
      </p:sp>
      <p:sp>
        <p:nvSpPr>
          <p:cNvPr id="20" name="Text 15"/>
          <p:cNvSpPr/>
          <p:nvPr/>
        </p:nvSpPr>
        <p:spPr>
          <a:xfrm>
            <a:off x="6150545" y="1858863"/>
            <a:ext cx="2374031" cy="581099"/>
          </a:xfrm>
          <a:prstGeom prst="rect">
            <a:avLst/>
          </a:prstGeom>
          <a:noFill/>
          <a:ln/>
        </p:spPr>
        <p:txBody>
          <a:bodyPr wrap="square" lIns="0" tIns="0" rIns="0" bIns="0" rtlCol="0" anchor="t"/>
          <a:lstStyle/>
          <a:p>
            <a:pPr marL="0" indent="0" algn="l">
              <a:lnSpc>
                <a:spcPts val="2400"/>
              </a:lnSpc>
              <a:buNone/>
            </a:pPr>
            <a:r>
              <a:rPr lang="en-US" sz="937" dirty="0">
                <a:solidFill>
                  <a:srgbClr val="CAD6DE"/>
                </a:solidFill>
                <a:latin typeface="Cabin" pitchFamily="34" charset="0"/>
                <a:ea typeface="Cabin" pitchFamily="34" charset="-122"/>
                <a:cs typeface="Cabin" pitchFamily="34" charset="-120"/>
              </a:rPr>
              <a:t>Strict adherence to accessibility standards for all UI components, ensuring inclusive access for all students and faculty.</a:t>
            </a:r>
            <a:endParaRPr lang="en-US" sz="937" dirty="0"/>
          </a:p>
        </p:txBody>
      </p:sp>
      <p:sp>
        <p:nvSpPr>
          <p:cNvPr id="21" name="Text 16"/>
          <p:cNvSpPr/>
          <p:nvPr/>
        </p:nvSpPr>
        <p:spPr>
          <a:xfrm>
            <a:off x="484138" y="3026122"/>
            <a:ext cx="1902172" cy="177998"/>
          </a:xfrm>
          <a:prstGeom prst="rect">
            <a:avLst/>
          </a:prstGeom>
          <a:noFill/>
          <a:ln/>
        </p:spPr>
        <p:txBody>
          <a:bodyPr wrap="none" lIns="0" tIns="0" rIns="0" bIns="0" rtlCol="0" anchor="t"/>
          <a:lstStyle/>
          <a:p>
            <a:pPr marL="0" indent="0" algn="l">
              <a:lnSpc>
                <a:spcPts val="2200"/>
              </a:lnSpc>
              <a:buNone/>
            </a:pPr>
            <a:r>
              <a:rPr lang="en-US" sz="1093" dirty="0">
                <a:solidFill>
                  <a:srgbClr val="FFFFFF"/>
                </a:solidFill>
                <a:latin typeface="Unbounded" pitchFamily="34" charset="0"/>
                <a:ea typeface="Unbounded" pitchFamily="34" charset="-122"/>
                <a:cs typeface="Unbounded" pitchFamily="34" charset="-120"/>
              </a:rPr>
              <a:t>Submission Versioning</a:t>
            </a:r>
            <a:endParaRPr lang="en-US" sz="1093" dirty="0"/>
          </a:p>
        </p:txBody>
      </p:sp>
      <p:sp>
        <p:nvSpPr>
          <p:cNvPr id="22" name="Text 17"/>
          <p:cNvSpPr/>
          <p:nvPr/>
        </p:nvSpPr>
        <p:spPr>
          <a:xfrm>
            <a:off x="484138" y="3325118"/>
            <a:ext cx="3940224" cy="387399"/>
          </a:xfrm>
          <a:prstGeom prst="rect">
            <a:avLst/>
          </a:prstGeom>
          <a:noFill/>
          <a:ln/>
        </p:spPr>
        <p:txBody>
          <a:bodyPr wrap="square" lIns="0" tIns="0" rIns="0" bIns="0" rtlCol="0" anchor="t"/>
          <a:lstStyle/>
          <a:p>
            <a:pPr marL="0" indent="0" algn="l">
              <a:lnSpc>
                <a:spcPts val="2400"/>
              </a:lnSpc>
              <a:buNone/>
            </a:pPr>
            <a:r>
              <a:rPr lang="en-US" sz="937" dirty="0">
                <a:solidFill>
                  <a:srgbClr val="CAD6DE"/>
                </a:solidFill>
                <a:latin typeface="Cabin" pitchFamily="34" charset="0"/>
                <a:ea typeface="Cabin" pitchFamily="34" charset="-122"/>
                <a:cs typeface="Cabin" pitchFamily="34" charset="-120"/>
              </a:rPr>
              <a:t>Every file upload, even drafts, receives a unique version number, allowing tracking of document evolution and preventing version disputes.</a:t>
            </a:r>
            <a:endParaRPr lang="en-US" sz="937" dirty="0"/>
          </a:p>
        </p:txBody>
      </p:sp>
      <p:sp>
        <p:nvSpPr>
          <p:cNvPr id="23" name="Text 18"/>
          <p:cNvSpPr/>
          <p:nvPr/>
        </p:nvSpPr>
        <p:spPr>
          <a:xfrm>
            <a:off x="4724400" y="3026122"/>
            <a:ext cx="1956941" cy="177998"/>
          </a:xfrm>
          <a:prstGeom prst="rect">
            <a:avLst/>
          </a:prstGeom>
          <a:noFill/>
          <a:ln/>
        </p:spPr>
        <p:txBody>
          <a:bodyPr wrap="none" lIns="0" tIns="0" rIns="0" bIns="0" rtlCol="0" anchor="t"/>
          <a:lstStyle/>
          <a:p>
            <a:pPr marL="0" indent="0" algn="l">
              <a:lnSpc>
                <a:spcPts val="2200"/>
              </a:lnSpc>
              <a:buNone/>
            </a:pPr>
            <a:r>
              <a:rPr lang="en-US" sz="1093" dirty="0">
                <a:solidFill>
                  <a:srgbClr val="FFFFFF"/>
                </a:solidFill>
                <a:latin typeface="Unbounded" pitchFamily="34" charset="0"/>
                <a:ea typeface="Unbounded" pitchFamily="34" charset="-122"/>
                <a:cs typeface="Unbounded" pitchFamily="34" charset="-120"/>
              </a:rPr>
              <a:t>Circuit Breaker Pattern</a:t>
            </a:r>
            <a:endParaRPr lang="en-US" sz="1093" dirty="0"/>
          </a:p>
        </p:txBody>
      </p:sp>
      <p:sp>
        <p:nvSpPr>
          <p:cNvPr id="24" name="Text 19"/>
          <p:cNvSpPr/>
          <p:nvPr/>
        </p:nvSpPr>
        <p:spPr>
          <a:xfrm>
            <a:off x="4724400" y="3325118"/>
            <a:ext cx="3940224" cy="387399"/>
          </a:xfrm>
          <a:prstGeom prst="rect">
            <a:avLst/>
          </a:prstGeom>
          <a:noFill/>
          <a:ln/>
        </p:spPr>
        <p:txBody>
          <a:bodyPr wrap="square" lIns="0" tIns="0" rIns="0" bIns="0" rtlCol="0" anchor="t"/>
          <a:lstStyle/>
          <a:p>
            <a:pPr marL="0" indent="0" algn="l">
              <a:lnSpc>
                <a:spcPts val="2400"/>
              </a:lnSpc>
              <a:buNone/>
            </a:pPr>
            <a:r>
              <a:rPr lang="en-US" sz="937" dirty="0">
                <a:solidFill>
                  <a:srgbClr val="CAD6DE"/>
                </a:solidFill>
                <a:latin typeface="Cabin" pitchFamily="34" charset="0"/>
                <a:ea typeface="Cabin" pitchFamily="34" charset="-122"/>
                <a:cs typeface="Cabin" pitchFamily="34" charset="-120"/>
              </a:rPr>
              <a:t>Implemented between Frontend and AI Services. Under high load, shows "Analysis in Progress" instead of timing out or crashing.</a:t>
            </a:r>
            <a:endParaRPr lang="en-US" sz="937" dirty="0"/>
          </a:p>
        </p:txBody>
      </p:sp>
      <p:sp>
        <p:nvSpPr>
          <p:cNvPr id="25" name="Text 20"/>
          <p:cNvSpPr/>
          <p:nvPr/>
        </p:nvSpPr>
        <p:spPr>
          <a:xfrm>
            <a:off x="665708" y="4093815"/>
            <a:ext cx="7994153" cy="387399"/>
          </a:xfrm>
          <a:prstGeom prst="rect">
            <a:avLst/>
          </a:prstGeom>
          <a:noFill/>
          <a:ln/>
        </p:spPr>
        <p:txBody>
          <a:bodyPr wrap="square" lIns="0" tIns="0" rIns="0" bIns="0" rtlCol="0" anchor="t"/>
          <a:lstStyle/>
          <a:p>
            <a:pPr marL="0" indent="0" algn="l">
              <a:lnSpc>
                <a:spcPts val="2400"/>
              </a:lnSpc>
              <a:buNone/>
            </a:pPr>
            <a:r>
              <a:rPr lang="en-US" sz="937" b="1" dirty="0">
                <a:solidFill>
                  <a:srgbClr val="CAD6DE"/>
                </a:solidFill>
                <a:latin typeface="Cabin" pitchFamily="34" charset="0"/>
                <a:ea typeface="Cabin" pitchFamily="34" charset="-122"/>
                <a:cs typeface="Cabin" pitchFamily="34" charset="-120"/>
              </a:rPr>
              <a:t>Building the Future of Academic Integrity</a:t>
            </a:r>
            <a:r>
              <a:rPr lang="en-US" sz="937" dirty="0">
                <a:solidFill>
                  <a:srgbClr val="CAD6DE"/>
                </a:solidFill>
                <a:latin typeface="Cabin" pitchFamily="34" charset="0"/>
                <a:ea typeface="Cabin" pitchFamily="34" charset="-122"/>
                <a:cs typeface="Cabin" pitchFamily="34" charset="-120"/>
              </a:rPr>
              <a:t> — A comprehensive platform that empowers students, supports faculty, and ensures institutional sovereignty through cutting-edge technology and transparent design.</a:t>
            </a:r>
            <a:endParaRPr lang="en-US" sz="937" dirty="0"/>
          </a:p>
        </p:txBody>
      </p:sp>
      <p:sp>
        <p:nvSpPr>
          <p:cNvPr id="26" name="Shape 21"/>
          <p:cNvSpPr/>
          <p:nvPr/>
        </p:nvSpPr>
        <p:spPr>
          <a:xfrm>
            <a:off x="484138" y="3957637"/>
            <a:ext cx="14287" cy="659755"/>
          </a:xfrm>
          <a:prstGeom prst="rect">
            <a:avLst/>
          </a:prstGeom>
          <a:solidFill>
            <a:srgbClr val="0A988B"/>
          </a:solidFill>
          <a:ln/>
        </p:spPr>
      </p:sp>
      <p:pic>
        <p:nvPicPr>
          <p:cNvPr id="27" name="Picture 26">
            <a:extLst>
              <a:ext uri="{FF2B5EF4-FFF2-40B4-BE49-F238E27FC236}">
                <a16:creationId xmlns:a16="http://schemas.microsoft.com/office/drawing/2014/main" id="{53FEE559-1214-26DE-072E-533A19D3A06A}"/>
              </a:ext>
            </a:extLst>
          </p:cNvPr>
          <p:cNvPicPr>
            <a:picLocks noChangeAspect="1"/>
          </p:cNvPicPr>
          <p:nvPr/>
        </p:nvPicPr>
        <p:blipFill>
          <a:blip r:embed="rId9"/>
          <a:stretch>
            <a:fillRect/>
          </a:stretch>
        </p:blipFill>
        <p:spPr>
          <a:xfrm>
            <a:off x="6894683" y="4845975"/>
            <a:ext cx="2235870" cy="26390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C9563-BD1F-C2D3-4670-1A22B89AF7A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38C37D6-BE23-A8A7-99A2-71052C2D28AF}"/>
              </a:ext>
            </a:extLst>
          </p:cNvPr>
          <p:cNvPicPr>
            <a:picLocks noChangeAspect="1"/>
          </p:cNvPicPr>
          <p:nvPr/>
        </p:nvPicPr>
        <p:blipFill>
          <a:blip r:embed="rId2"/>
          <a:stretch>
            <a:fillRect/>
          </a:stretch>
        </p:blipFill>
        <p:spPr>
          <a:xfrm>
            <a:off x="6894683" y="4845975"/>
            <a:ext cx="2235870" cy="263906"/>
          </a:xfrm>
          <a:prstGeom prst="rect">
            <a:avLst/>
          </a:prstGeom>
        </p:spPr>
      </p:pic>
      <p:pic>
        <p:nvPicPr>
          <p:cNvPr id="6" name="Picture 5">
            <a:extLst>
              <a:ext uri="{FF2B5EF4-FFF2-40B4-BE49-F238E27FC236}">
                <a16:creationId xmlns:a16="http://schemas.microsoft.com/office/drawing/2014/main" id="{B4B0CB53-FCFE-2854-C20C-39707F55D518}"/>
              </a:ext>
            </a:extLst>
          </p:cNvPr>
          <p:cNvPicPr>
            <a:picLocks noChangeAspect="1"/>
          </p:cNvPicPr>
          <p:nvPr/>
        </p:nvPicPr>
        <p:blipFill>
          <a:blip r:embed="rId3"/>
          <a:stretch>
            <a:fillRect/>
          </a:stretch>
        </p:blipFill>
        <p:spPr>
          <a:xfrm>
            <a:off x="54440" y="1124646"/>
            <a:ext cx="8870635" cy="3528036"/>
          </a:xfrm>
          <a:prstGeom prst="rect">
            <a:avLst/>
          </a:prstGeom>
        </p:spPr>
      </p:pic>
      <p:sp>
        <p:nvSpPr>
          <p:cNvPr id="7" name="TextBox 6">
            <a:extLst>
              <a:ext uri="{FF2B5EF4-FFF2-40B4-BE49-F238E27FC236}">
                <a16:creationId xmlns:a16="http://schemas.microsoft.com/office/drawing/2014/main" id="{6F99EBDF-6C60-556F-E801-576AB933698C}"/>
              </a:ext>
            </a:extLst>
          </p:cNvPr>
          <p:cNvSpPr txBox="1"/>
          <p:nvPr/>
        </p:nvSpPr>
        <p:spPr>
          <a:xfrm>
            <a:off x="1418664" y="509664"/>
            <a:ext cx="6306670" cy="442428"/>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MINDMAP</a:t>
            </a:r>
          </a:p>
        </p:txBody>
      </p:sp>
    </p:spTree>
    <p:extLst>
      <p:ext uri="{BB962C8B-B14F-4D97-AF65-F5344CB8AC3E}">
        <p14:creationId xmlns:p14="http://schemas.microsoft.com/office/powerpoint/2010/main" val="596224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169F0-97C3-760B-E7B6-8ED3B8451B7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C7CD6E3-96B0-D08E-7FF9-47B703020DE6}"/>
              </a:ext>
            </a:extLst>
          </p:cNvPr>
          <p:cNvPicPr>
            <a:picLocks noChangeAspect="1"/>
          </p:cNvPicPr>
          <p:nvPr/>
        </p:nvPicPr>
        <p:blipFill>
          <a:blip r:embed="rId2"/>
          <a:stretch>
            <a:fillRect/>
          </a:stretch>
        </p:blipFill>
        <p:spPr>
          <a:xfrm>
            <a:off x="6894683" y="4845975"/>
            <a:ext cx="2235870" cy="263906"/>
          </a:xfrm>
          <a:prstGeom prst="rect">
            <a:avLst/>
          </a:prstGeom>
        </p:spPr>
      </p:pic>
      <p:sp>
        <p:nvSpPr>
          <p:cNvPr id="7" name="TextBox 6">
            <a:extLst>
              <a:ext uri="{FF2B5EF4-FFF2-40B4-BE49-F238E27FC236}">
                <a16:creationId xmlns:a16="http://schemas.microsoft.com/office/drawing/2014/main" id="{F549CBCC-1F43-0272-732A-6C9CCC040917}"/>
              </a:ext>
            </a:extLst>
          </p:cNvPr>
          <p:cNvSpPr txBox="1"/>
          <p:nvPr/>
        </p:nvSpPr>
        <p:spPr>
          <a:xfrm>
            <a:off x="1418664" y="509664"/>
            <a:ext cx="6306670" cy="442428"/>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HOW-NOW-WOW MAP</a:t>
            </a:r>
          </a:p>
        </p:txBody>
      </p:sp>
      <p:pic>
        <p:nvPicPr>
          <p:cNvPr id="8" name="Picture 7">
            <a:extLst>
              <a:ext uri="{FF2B5EF4-FFF2-40B4-BE49-F238E27FC236}">
                <a16:creationId xmlns:a16="http://schemas.microsoft.com/office/drawing/2014/main" id="{BC739434-3D7E-47FB-B664-2A39D71654A5}"/>
              </a:ext>
            </a:extLst>
          </p:cNvPr>
          <p:cNvPicPr>
            <a:picLocks noChangeAspect="1"/>
          </p:cNvPicPr>
          <p:nvPr/>
        </p:nvPicPr>
        <p:blipFill>
          <a:blip r:embed="rId3"/>
          <a:stretch>
            <a:fillRect/>
          </a:stretch>
        </p:blipFill>
        <p:spPr>
          <a:xfrm>
            <a:off x="1524000" y="961429"/>
            <a:ext cx="6617710" cy="3496270"/>
          </a:xfrm>
          <a:prstGeom prst="rect">
            <a:avLst/>
          </a:prstGeom>
        </p:spPr>
      </p:pic>
    </p:spTree>
    <p:extLst>
      <p:ext uri="{BB962C8B-B14F-4D97-AF65-F5344CB8AC3E}">
        <p14:creationId xmlns:p14="http://schemas.microsoft.com/office/powerpoint/2010/main" val="2208381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65139-014F-E6F0-FC9D-1D89E7FE1F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FEC7C60-0F73-218A-BF57-29CE2D4AC8FE}"/>
              </a:ext>
            </a:extLst>
          </p:cNvPr>
          <p:cNvPicPr>
            <a:picLocks noChangeAspect="1"/>
          </p:cNvPicPr>
          <p:nvPr/>
        </p:nvPicPr>
        <p:blipFill>
          <a:blip r:embed="rId2"/>
          <a:stretch>
            <a:fillRect/>
          </a:stretch>
        </p:blipFill>
        <p:spPr>
          <a:xfrm>
            <a:off x="6894683" y="4845975"/>
            <a:ext cx="2235870" cy="263906"/>
          </a:xfrm>
          <a:prstGeom prst="rect">
            <a:avLst/>
          </a:prstGeom>
        </p:spPr>
      </p:pic>
      <p:sp>
        <p:nvSpPr>
          <p:cNvPr id="7" name="TextBox 6">
            <a:extLst>
              <a:ext uri="{FF2B5EF4-FFF2-40B4-BE49-F238E27FC236}">
                <a16:creationId xmlns:a16="http://schemas.microsoft.com/office/drawing/2014/main" id="{E215BADB-244C-56CC-E935-BDB209D11E79}"/>
              </a:ext>
            </a:extLst>
          </p:cNvPr>
          <p:cNvSpPr txBox="1"/>
          <p:nvPr/>
        </p:nvSpPr>
        <p:spPr>
          <a:xfrm>
            <a:off x="1418664" y="509664"/>
            <a:ext cx="6306670" cy="442428"/>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SCAMPER- MAP</a:t>
            </a:r>
          </a:p>
        </p:txBody>
      </p:sp>
      <p:pic>
        <p:nvPicPr>
          <p:cNvPr id="4" name="Picture 3">
            <a:extLst>
              <a:ext uri="{FF2B5EF4-FFF2-40B4-BE49-F238E27FC236}">
                <a16:creationId xmlns:a16="http://schemas.microsoft.com/office/drawing/2014/main" id="{FADFF526-D0AB-F098-095A-31DAB3BC690B}"/>
              </a:ext>
            </a:extLst>
          </p:cNvPr>
          <p:cNvPicPr>
            <a:picLocks noChangeAspect="1"/>
          </p:cNvPicPr>
          <p:nvPr/>
        </p:nvPicPr>
        <p:blipFill>
          <a:blip r:embed="rId3"/>
          <a:stretch>
            <a:fillRect/>
          </a:stretch>
        </p:blipFill>
        <p:spPr>
          <a:xfrm>
            <a:off x="1295400" y="1079659"/>
            <a:ext cx="6665615" cy="3638748"/>
          </a:xfrm>
          <a:prstGeom prst="rect">
            <a:avLst/>
          </a:prstGeom>
        </p:spPr>
      </p:pic>
    </p:spTree>
    <p:extLst>
      <p:ext uri="{BB962C8B-B14F-4D97-AF65-F5344CB8AC3E}">
        <p14:creationId xmlns:p14="http://schemas.microsoft.com/office/powerpoint/2010/main" val="3574705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479E-387B-5914-4B44-74EE9EBE0A5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7C2617C-10BB-A4A4-E59B-433C87C5A058}"/>
              </a:ext>
            </a:extLst>
          </p:cNvPr>
          <p:cNvPicPr>
            <a:picLocks noChangeAspect="1"/>
          </p:cNvPicPr>
          <p:nvPr/>
        </p:nvPicPr>
        <p:blipFill>
          <a:blip r:embed="rId2"/>
          <a:stretch>
            <a:fillRect/>
          </a:stretch>
        </p:blipFill>
        <p:spPr>
          <a:xfrm>
            <a:off x="6894683" y="4845975"/>
            <a:ext cx="2235870" cy="263906"/>
          </a:xfrm>
          <a:prstGeom prst="rect">
            <a:avLst/>
          </a:prstGeom>
        </p:spPr>
      </p:pic>
      <p:sp>
        <p:nvSpPr>
          <p:cNvPr id="7" name="TextBox 6">
            <a:extLst>
              <a:ext uri="{FF2B5EF4-FFF2-40B4-BE49-F238E27FC236}">
                <a16:creationId xmlns:a16="http://schemas.microsoft.com/office/drawing/2014/main" id="{E4D6EB1A-BAB1-31C2-BE07-2D82B9F95DFC}"/>
              </a:ext>
            </a:extLst>
          </p:cNvPr>
          <p:cNvSpPr txBox="1"/>
          <p:nvPr/>
        </p:nvSpPr>
        <p:spPr>
          <a:xfrm>
            <a:off x="1177476" y="498395"/>
            <a:ext cx="6306670" cy="442428"/>
          </a:xfrm>
          <a:prstGeom prst="rect">
            <a:avLst/>
          </a:prstGeom>
          <a:noFill/>
        </p:spPr>
        <p:txBody>
          <a:bodyPr wrap="square" rtlCol="0">
            <a:spAutoFit/>
          </a:bodyPr>
          <a:lstStyle/>
          <a:p>
            <a:pPr lvl="1" algn="ctr"/>
            <a:r>
              <a:rPr lang="en-US" sz="2500" dirty="0">
                <a:solidFill>
                  <a:schemeClr val="bg1"/>
                </a:solidFill>
                <a:latin typeface="Times New Roman" panose="02020603050405020304" pitchFamily="18" charset="0"/>
                <a:cs typeface="Times New Roman" panose="02020603050405020304" pitchFamily="18" charset="0"/>
              </a:rPr>
              <a:t>WORST POSSIBLE IDEA</a:t>
            </a:r>
          </a:p>
        </p:txBody>
      </p:sp>
      <p:pic>
        <p:nvPicPr>
          <p:cNvPr id="5" name="Picture 4">
            <a:extLst>
              <a:ext uri="{FF2B5EF4-FFF2-40B4-BE49-F238E27FC236}">
                <a16:creationId xmlns:a16="http://schemas.microsoft.com/office/drawing/2014/main" id="{4FD2CB41-4576-5067-329F-4F528378533C}"/>
              </a:ext>
            </a:extLst>
          </p:cNvPr>
          <p:cNvPicPr>
            <a:picLocks noChangeAspect="1"/>
          </p:cNvPicPr>
          <p:nvPr/>
        </p:nvPicPr>
        <p:blipFill>
          <a:blip r:embed="rId3"/>
          <a:stretch>
            <a:fillRect/>
          </a:stretch>
        </p:blipFill>
        <p:spPr>
          <a:xfrm>
            <a:off x="1177476" y="1066619"/>
            <a:ext cx="6835141" cy="3316353"/>
          </a:xfrm>
          <a:prstGeom prst="rect">
            <a:avLst/>
          </a:prstGeom>
        </p:spPr>
      </p:pic>
    </p:spTree>
    <p:extLst>
      <p:ext uri="{BB962C8B-B14F-4D97-AF65-F5344CB8AC3E}">
        <p14:creationId xmlns:p14="http://schemas.microsoft.com/office/powerpoint/2010/main" val="2851113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07FD8D-572B-DA85-6DF5-0E0508B56CFE}"/>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550465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3935510" y="364328"/>
            <a:ext cx="1020216" cy="278606"/>
          </a:xfrm>
          <a:prstGeom prst="rect">
            <a:avLst/>
          </a:prstGeom>
          <a:noFill/>
          <a:ln>
            <a:noFill/>
          </a:ln>
        </p:spPr>
      </p:pic>
      <p:sp>
        <p:nvSpPr>
          <p:cNvPr id="86" name="Google Shape;86;p13"/>
          <p:cNvSpPr txBox="1"/>
          <p:nvPr/>
        </p:nvSpPr>
        <p:spPr>
          <a:xfrm>
            <a:off x="1077731" y="1150587"/>
            <a:ext cx="6988529" cy="565695"/>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050" b="1" i="0" u="none" strike="noStrike" cap="none" dirty="0">
                <a:solidFill>
                  <a:srgbClr val="FFFFFF"/>
                </a:solidFill>
                <a:latin typeface="Urbanist"/>
                <a:ea typeface="Urbanist"/>
                <a:cs typeface="Urbanist"/>
                <a:sym typeface="Urbanist"/>
              </a:rPr>
              <a:t>Prototyping &amp; Implementation</a:t>
            </a:r>
            <a:endParaRPr dirty="0"/>
          </a:p>
        </p:txBody>
      </p:sp>
      <p:sp>
        <p:nvSpPr>
          <p:cNvPr id="87" name="Google Shape;87;p13"/>
          <p:cNvSpPr txBox="1"/>
          <p:nvPr/>
        </p:nvSpPr>
        <p:spPr>
          <a:xfrm>
            <a:off x="1910950" y="2987035"/>
            <a:ext cx="5322093" cy="320017"/>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1575" b="0" i="0" u="none" strike="noStrike" cap="none" dirty="0">
                <a:solidFill>
                  <a:srgbClr val="94A3B8"/>
                </a:solidFill>
                <a:latin typeface="Urbanist"/>
                <a:ea typeface="Urbanist"/>
                <a:cs typeface="Urbanist"/>
                <a:sym typeface="Urbanist"/>
              </a:rPr>
              <a:t>Academic Integrity Guardian: Building the Privacy-First Future</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94" name="Google Shape;94;p14"/>
          <p:cNvSpPr txBox="1"/>
          <p:nvPr/>
        </p:nvSpPr>
        <p:spPr>
          <a:xfrm>
            <a:off x="435768" y="1007268"/>
            <a:ext cx="3892986"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System Architecture</a:t>
            </a:r>
            <a:endParaRPr/>
          </a:p>
        </p:txBody>
      </p:sp>
      <p:sp>
        <p:nvSpPr>
          <p:cNvPr id="95" name="Google Shape;95;p14"/>
          <p:cNvSpPr/>
          <p:nvPr/>
        </p:nvSpPr>
        <p:spPr>
          <a:xfrm>
            <a:off x="435768" y="1528762"/>
            <a:ext cx="3707606"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96" name="Google Shape;96;p14" descr="image.png"/>
          <p:cNvPicPr preferRelativeResize="0"/>
          <p:nvPr/>
        </p:nvPicPr>
        <p:blipFill rotWithShape="1">
          <a:blip r:embed="rId4">
            <a:alphaModFix/>
          </a:blip>
          <a:srcRect/>
          <a:stretch/>
        </p:blipFill>
        <p:spPr>
          <a:xfrm>
            <a:off x="4572000" y="7143"/>
            <a:ext cx="3701690" cy="128587"/>
          </a:xfrm>
          <a:prstGeom prst="rect">
            <a:avLst/>
          </a:prstGeom>
          <a:noFill/>
          <a:ln>
            <a:noFill/>
          </a:ln>
        </p:spPr>
      </p:pic>
      <p:sp>
        <p:nvSpPr>
          <p:cNvPr id="97" name="Google Shape;97;p14"/>
          <p:cNvSpPr txBox="1"/>
          <p:nvPr/>
        </p:nvSpPr>
        <p:spPr>
          <a:xfrm>
            <a:off x="435768" y="1821656"/>
            <a:ext cx="3707606"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Our architecture is defined by a </a:t>
            </a:r>
            <a:r>
              <a:rPr lang="en-US" sz="1125" b="1" i="0" u="none" strike="noStrike" cap="none">
                <a:solidFill>
                  <a:srgbClr val="CBD5E1"/>
                </a:solidFill>
                <a:latin typeface="Urbanist"/>
                <a:ea typeface="Urbanist"/>
                <a:cs typeface="Urbanist"/>
                <a:sym typeface="Urbanist"/>
              </a:rPr>
              <a:t>"Zero-Knowledge"</a:t>
            </a:r>
            <a:r>
              <a:rPr lang="en-US" sz="1125" b="0" i="0" u="none" strike="noStrike" cap="none">
                <a:solidFill>
                  <a:srgbClr val="CBD5E1"/>
                </a:solidFill>
                <a:latin typeface="Urbanist"/>
                <a:ea typeface="Urbanist"/>
                <a:cs typeface="Urbanist"/>
                <a:sym typeface="Urbanist"/>
              </a:rPr>
              <a:t> philosophy. We verify integrity without ever storing sensitive student data on central servers.</a:t>
            </a:r>
            <a:endParaRPr/>
          </a:p>
        </p:txBody>
      </p:sp>
      <p:sp>
        <p:nvSpPr>
          <p:cNvPr id="98" name="Google Shape;98;p14"/>
          <p:cNvSpPr txBox="1"/>
          <p:nvPr/>
        </p:nvSpPr>
        <p:spPr>
          <a:xfrm>
            <a:off x="714375" y="2907506"/>
            <a:ext cx="3429000" cy="2286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 </a:t>
            </a:r>
            <a:r>
              <a:rPr lang="en-US" sz="1125" b="1" i="0" u="none" strike="noStrike" cap="none">
                <a:solidFill>
                  <a:srgbClr val="CBD5E1"/>
                </a:solidFill>
                <a:latin typeface="Urbanist"/>
                <a:ea typeface="Urbanist"/>
                <a:cs typeface="Urbanist"/>
                <a:sym typeface="Urbanist"/>
              </a:rPr>
              <a:t>Frontend:</a:t>
            </a:r>
            <a:r>
              <a:rPr lang="en-US" sz="1125" b="0" i="0" u="none" strike="noStrike" cap="none">
                <a:solidFill>
                  <a:srgbClr val="CBD5E1"/>
                </a:solidFill>
                <a:latin typeface="Urbanist"/>
                <a:ea typeface="Urbanist"/>
                <a:cs typeface="Urbanist"/>
                <a:sym typeface="Urbanist"/>
              </a:rPr>
              <a:t> React 19 + Vite (Client-Side Logic)</a:t>
            </a:r>
            <a:endParaRPr/>
          </a:p>
        </p:txBody>
      </p:sp>
      <p:sp>
        <p:nvSpPr>
          <p:cNvPr id="99" name="Google Shape;99;p14"/>
          <p:cNvSpPr txBox="1"/>
          <p:nvPr/>
        </p:nvSpPr>
        <p:spPr>
          <a:xfrm>
            <a:off x="714375" y="3278981"/>
            <a:ext cx="3429000" cy="2286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125" b="1" i="0" u="none" strike="noStrike" cap="none">
                <a:solidFill>
                  <a:srgbClr val="CBD5E1"/>
                </a:solidFill>
                <a:latin typeface="Urbanist"/>
                <a:ea typeface="Urbanist"/>
                <a:cs typeface="Urbanist"/>
                <a:sym typeface="Urbanist"/>
              </a:rPr>
              <a:t>AI Service:</a:t>
            </a:r>
            <a:r>
              <a:rPr lang="en-US" sz="1125" b="0" i="0" u="none" strike="noStrike" cap="none">
                <a:solidFill>
                  <a:srgbClr val="CBD5E1"/>
                </a:solidFill>
                <a:latin typeface="Urbanist"/>
                <a:ea typeface="Urbanist"/>
                <a:cs typeface="Urbanist"/>
                <a:sym typeface="Urbanist"/>
              </a:rPr>
              <a:t> OpenAI GPT-4o (Semantic Analysis)</a:t>
            </a:r>
            <a:endParaRPr/>
          </a:p>
        </p:txBody>
      </p:sp>
      <p:sp>
        <p:nvSpPr>
          <p:cNvPr id="100" name="Google Shape;100;p14"/>
          <p:cNvSpPr txBox="1"/>
          <p:nvPr/>
        </p:nvSpPr>
        <p:spPr>
          <a:xfrm>
            <a:off x="692943" y="3650456"/>
            <a:ext cx="3450431" cy="22860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125" b="1" i="0" u="none" strike="noStrike" cap="none">
                <a:solidFill>
                  <a:srgbClr val="CBD5E1"/>
                </a:solidFill>
                <a:latin typeface="Urbanist"/>
                <a:ea typeface="Urbanist"/>
                <a:cs typeface="Urbanist"/>
                <a:sym typeface="Urbanist"/>
              </a:rPr>
              <a:t>Crypto:</a:t>
            </a:r>
            <a:r>
              <a:rPr lang="en-US" sz="1125" b="0" i="0" u="none" strike="noStrike" cap="none">
                <a:solidFill>
                  <a:srgbClr val="CBD5E1"/>
                </a:solidFill>
                <a:latin typeface="Urbanist"/>
                <a:ea typeface="Urbanist"/>
                <a:cs typeface="Urbanist"/>
                <a:sym typeface="Urbanist"/>
              </a:rPr>
              <a:t> Web Crypto API (SHA-256 Hashing)</a:t>
            </a:r>
            <a:endParaRPr/>
          </a:p>
        </p:txBody>
      </p:sp>
      <p:pic>
        <p:nvPicPr>
          <p:cNvPr id="101" name="Google Shape;101;p14" descr="image.png"/>
          <p:cNvPicPr preferRelativeResize="0"/>
          <p:nvPr/>
        </p:nvPicPr>
        <p:blipFill rotWithShape="1">
          <a:blip r:embed="rId5">
            <a:alphaModFix/>
          </a:blip>
          <a:srcRect/>
          <a:stretch/>
        </p:blipFill>
        <p:spPr>
          <a:xfrm>
            <a:off x="435768" y="2932509"/>
            <a:ext cx="171450" cy="178593"/>
          </a:xfrm>
          <a:prstGeom prst="rect">
            <a:avLst/>
          </a:prstGeom>
          <a:noFill/>
          <a:ln>
            <a:noFill/>
          </a:ln>
        </p:spPr>
      </p:pic>
      <p:pic>
        <p:nvPicPr>
          <p:cNvPr id="102" name="Google Shape;102;p14" descr="image.png"/>
          <p:cNvPicPr preferRelativeResize="0"/>
          <p:nvPr/>
        </p:nvPicPr>
        <p:blipFill rotWithShape="1">
          <a:blip r:embed="rId6">
            <a:alphaModFix/>
          </a:blip>
          <a:srcRect/>
          <a:stretch/>
        </p:blipFill>
        <p:spPr>
          <a:xfrm>
            <a:off x="435768" y="3300412"/>
            <a:ext cx="171450" cy="185737"/>
          </a:xfrm>
          <a:prstGeom prst="rect">
            <a:avLst/>
          </a:prstGeom>
          <a:noFill/>
          <a:ln>
            <a:noFill/>
          </a:ln>
        </p:spPr>
      </p:pic>
      <p:pic>
        <p:nvPicPr>
          <p:cNvPr id="103" name="Google Shape;103;p14" descr="image.png"/>
          <p:cNvPicPr preferRelativeResize="0"/>
          <p:nvPr/>
        </p:nvPicPr>
        <p:blipFill rotWithShape="1">
          <a:blip r:embed="rId7">
            <a:alphaModFix/>
          </a:blip>
          <a:srcRect/>
          <a:stretch/>
        </p:blipFill>
        <p:spPr>
          <a:xfrm>
            <a:off x="435768" y="3671887"/>
            <a:ext cx="150018" cy="185737"/>
          </a:xfrm>
          <a:prstGeom prst="rect">
            <a:avLst/>
          </a:prstGeom>
          <a:noFill/>
          <a:ln>
            <a:noFill/>
          </a:ln>
        </p:spPr>
      </p:pic>
      <p:pic>
        <p:nvPicPr>
          <p:cNvPr id="5" name="Picture 4">
            <a:extLst>
              <a:ext uri="{FF2B5EF4-FFF2-40B4-BE49-F238E27FC236}">
                <a16:creationId xmlns:a16="http://schemas.microsoft.com/office/drawing/2014/main" id="{AB02D12C-6BB0-77F6-9D26-63CB0C974BFB}"/>
              </a:ext>
            </a:extLst>
          </p:cNvPr>
          <p:cNvPicPr>
            <a:picLocks noChangeAspect="1"/>
          </p:cNvPicPr>
          <p:nvPr/>
        </p:nvPicPr>
        <p:blipFill>
          <a:blip r:embed="rId8"/>
          <a:stretch>
            <a:fillRect/>
          </a:stretch>
        </p:blipFill>
        <p:spPr>
          <a:xfrm>
            <a:off x="4143374" y="7142"/>
            <a:ext cx="5000626" cy="512921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364331" y="1885950"/>
            <a:ext cx="2662162" cy="2400300"/>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3240806" y="1885950"/>
            <a:ext cx="2662274" cy="2400300"/>
          </a:xfrm>
          <a:prstGeom prst="rect">
            <a:avLst/>
          </a:prstGeom>
          <a:noFill/>
          <a:ln>
            <a:noFill/>
          </a:ln>
        </p:spPr>
      </p:pic>
      <p:pic>
        <p:nvPicPr>
          <p:cNvPr id="111" name="Google Shape;111;p15" descr="image.png"/>
          <p:cNvPicPr preferRelativeResize="0"/>
          <p:nvPr/>
        </p:nvPicPr>
        <p:blipFill rotWithShape="1">
          <a:blip r:embed="rId6">
            <a:alphaModFix/>
          </a:blip>
          <a:srcRect/>
          <a:stretch/>
        </p:blipFill>
        <p:spPr>
          <a:xfrm>
            <a:off x="6117393" y="1885950"/>
            <a:ext cx="2662162" cy="2400300"/>
          </a:xfrm>
          <a:prstGeom prst="rect">
            <a:avLst/>
          </a:prstGeom>
          <a:noFill/>
          <a:ln>
            <a:noFill/>
          </a:ln>
        </p:spPr>
      </p:pic>
      <p:sp>
        <p:nvSpPr>
          <p:cNvPr id="112" name="Google Shape;112;p15"/>
          <p:cNvSpPr txBox="1"/>
          <p:nvPr/>
        </p:nvSpPr>
        <p:spPr>
          <a:xfrm>
            <a:off x="585787" y="2550318"/>
            <a:ext cx="2330212"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Local Storage</a:t>
            </a:r>
            <a:endParaRPr/>
          </a:p>
        </p:txBody>
      </p:sp>
      <p:sp>
        <p:nvSpPr>
          <p:cNvPr id="113" name="Google Shape;113;p15"/>
          <p:cNvSpPr txBox="1"/>
          <p:nvPr/>
        </p:nvSpPr>
        <p:spPr>
          <a:xfrm>
            <a:off x="585787" y="3007518"/>
            <a:ext cx="22192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Drafts live in the user's browser (LocalStorage). No centralized database holds the raw essays, eliminating data breach risks.</a:t>
            </a:r>
            <a:endParaRPr/>
          </a:p>
        </p:txBody>
      </p:sp>
      <p:sp>
        <p:nvSpPr>
          <p:cNvPr id="114" name="Google Shape;114;p15"/>
          <p:cNvSpPr txBox="1"/>
          <p:nvPr/>
        </p:nvSpPr>
        <p:spPr>
          <a:xfrm>
            <a:off x="3462262" y="2550318"/>
            <a:ext cx="2330330"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Client-Side Hashing</a:t>
            </a:r>
            <a:endParaRPr/>
          </a:p>
        </p:txBody>
      </p:sp>
      <p:sp>
        <p:nvSpPr>
          <p:cNvPr id="115" name="Google Shape;115;p15"/>
          <p:cNvSpPr txBox="1"/>
          <p:nvPr/>
        </p:nvSpPr>
        <p:spPr>
          <a:xfrm>
            <a:off x="3462262" y="3007518"/>
            <a:ext cx="2219361"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We generate SHA-256 hashes locally. Only the unique "fingerprint" is sent to the ledger, never the document itself.</a:t>
            </a:r>
            <a:endParaRPr/>
          </a:p>
        </p:txBody>
      </p:sp>
      <p:sp>
        <p:nvSpPr>
          <p:cNvPr id="116" name="Google Shape;116;p15"/>
          <p:cNvSpPr txBox="1"/>
          <p:nvPr/>
        </p:nvSpPr>
        <p:spPr>
          <a:xfrm>
            <a:off x="6338850" y="2550318"/>
            <a:ext cx="2330212"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Direct AI Calls</a:t>
            </a:r>
            <a:endParaRPr/>
          </a:p>
        </p:txBody>
      </p:sp>
      <p:sp>
        <p:nvSpPr>
          <p:cNvPr id="117" name="Google Shape;117;p15"/>
          <p:cNvSpPr txBox="1"/>
          <p:nvPr/>
        </p:nvSpPr>
        <p:spPr>
          <a:xfrm>
            <a:off x="6338850" y="3007518"/>
            <a:ext cx="22192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Analysis requests are stateless. The AI processes the text for similarity and immediately forgets it—no training on student data.</a:t>
            </a:r>
            <a:endParaRPr/>
          </a:p>
        </p:txBody>
      </p:sp>
      <p:pic>
        <p:nvPicPr>
          <p:cNvPr id="118" name="Google Shape;118;p15" descr="image.png"/>
          <p:cNvPicPr preferRelativeResize="0"/>
          <p:nvPr/>
        </p:nvPicPr>
        <p:blipFill rotWithShape="1">
          <a:blip r:embed="rId7">
            <a:alphaModFix/>
          </a:blip>
          <a:srcRect/>
          <a:stretch/>
        </p:blipFill>
        <p:spPr>
          <a:xfrm>
            <a:off x="585787" y="2114550"/>
            <a:ext cx="228600" cy="228600"/>
          </a:xfrm>
          <a:prstGeom prst="rect">
            <a:avLst/>
          </a:prstGeom>
          <a:noFill/>
          <a:ln>
            <a:noFill/>
          </a:ln>
        </p:spPr>
      </p:pic>
      <p:pic>
        <p:nvPicPr>
          <p:cNvPr id="119" name="Google Shape;119;p15" descr="image.png"/>
          <p:cNvPicPr preferRelativeResize="0"/>
          <p:nvPr/>
        </p:nvPicPr>
        <p:blipFill rotWithShape="1">
          <a:blip r:embed="rId8">
            <a:alphaModFix/>
          </a:blip>
          <a:srcRect/>
          <a:stretch/>
        </p:blipFill>
        <p:spPr>
          <a:xfrm>
            <a:off x="3462262" y="2114550"/>
            <a:ext cx="228600" cy="228600"/>
          </a:xfrm>
          <a:prstGeom prst="rect">
            <a:avLst/>
          </a:prstGeom>
          <a:noFill/>
          <a:ln>
            <a:noFill/>
          </a:ln>
        </p:spPr>
      </p:pic>
      <p:pic>
        <p:nvPicPr>
          <p:cNvPr id="120" name="Google Shape;120;p15" descr="image.png"/>
          <p:cNvPicPr preferRelativeResize="0"/>
          <p:nvPr/>
        </p:nvPicPr>
        <p:blipFill rotWithShape="1">
          <a:blip r:embed="rId9">
            <a:alphaModFix/>
          </a:blip>
          <a:srcRect/>
          <a:stretch/>
        </p:blipFill>
        <p:spPr>
          <a:xfrm>
            <a:off x="6338850" y="2114550"/>
            <a:ext cx="285750" cy="228600"/>
          </a:xfrm>
          <a:prstGeom prst="rect">
            <a:avLst/>
          </a:prstGeom>
          <a:noFill/>
          <a:ln>
            <a:noFill/>
          </a:ln>
        </p:spPr>
      </p:pic>
      <p:sp>
        <p:nvSpPr>
          <p:cNvPr id="121" name="Google Shape;121;p15"/>
          <p:cNvSpPr txBox="1"/>
          <p:nvPr/>
        </p:nvSpPr>
        <p:spPr>
          <a:xfrm>
            <a:off x="364331" y="857250"/>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The "Zero-Knowledge" Privacy Model</a:t>
            </a:r>
            <a:endParaRPr/>
          </a:p>
        </p:txBody>
      </p:sp>
      <p:sp>
        <p:nvSpPr>
          <p:cNvPr id="122" name="Google Shape;122;p15"/>
          <p:cNvSpPr/>
          <p:nvPr/>
        </p:nvSpPr>
        <p:spPr>
          <a:xfrm>
            <a:off x="364331" y="1378743"/>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6"/>
        <p:cNvGrpSpPr/>
        <p:nvPr/>
      </p:nvGrpSpPr>
      <p:grpSpPr>
        <a:xfrm>
          <a:off x="0" y="0"/>
          <a:ext cx="0" cy="0"/>
          <a:chOff x="0" y="0"/>
          <a:chExt cx="0" cy="0"/>
        </a:xfrm>
      </p:grpSpPr>
      <p:pic>
        <p:nvPicPr>
          <p:cNvPr id="127" name="Google Shape;127;p16"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28" name="Google Shape;128;p16" descr="image.png"/>
          <p:cNvPicPr preferRelativeResize="0"/>
          <p:nvPr/>
        </p:nvPicPr>
        <p:blipFill rotWithShape="1">
          <a:blip r:embed="rId4">
            <a:alphaModFix/>
          </a:blip>
          <a:srcRect/>
          <a:stretch/>
        </p:blipFill>
        <p:spPr>
          <a:xfrm>
            <a:off x="900112" y="2528217"/>
            <a:ext cx="357187" cy="357187"/>
          </a:xfrm>
          <a:prstGeom prst="rect">
            <a:avLst/>
          </a:prstGeom>
          <a:noFill/>
          <a:ln>
            <a:noFill/>
          </a:ln>
        </p:spPr>
      </p:pic>
      <p:pic>
        <p:nvPicPr>
          <p:cNvPr id="129" name="Google Shape;129;p16" descr="image.png"/>
          <p:cNvPicPr preferRelativeResize="0"/>
          <p:nvPr/>
        </p:nvPicPr>
        <p:blipFill rotWithShape="1">
          <a:blip r:embed="rId5">
            <a:alphaModFix/>
          </a:blip>
          <a:srcRect/>
          <a:stretch/>
        </p:blipFill>
        <p:spPr>
          <a:xfrm>
            <a:off x="3228975" y="2528217"/>
            <a:ext cx="357187" cy="357187"/>
          </a:xfrm>
          <a:prstGeom prst="rect">
            <a:avLst/>
          </a:prstGeom>
          <a:noFill/>
          <a:ln>
            <a:noFill/>
          </a:ln>
        </p:spPr>
      </p:pic>
      <p:pic>
        <p:nvPicPr>
          <p:cNvPr id="130" name="Google Shape;130;p16" descr="image.png"/>
          <p:cNvPicPr preferRelativeResize="0"/>
          <p:nvPr/>
        </p:nvPicPr>
        <p:blipFill rotWithShape="1">
          <a:blip r:embed="rId6">
            <a:alphaModFix/>
          </a:blip>
          <a:srcRect/>
          <a:stretch/>
        </p:blipFill>
        <p:spPr>
          <a:xfrm>
            <a:off x="5557837" y="2528217"/>
            <a:ext cx="357187" cy="357187"/>
          </a:xfrm>
          <a:prstGeom prst="rect">
            <a:avLst/>
          </a:prstGeom>
          <a:noFill/>
          <a:ln>
            <a:noFill/>
          </a:ln>
        </p:spPr>
      </p:pic>
      <p:pic>
        <p:nvPicPr>
          <p:cNvPr id="131" name="Google Shape;131;p16" descr="image.png"/>
          <p:cNvPicPr preferRelativeResize="0"/>
          <p:nvPr/>
        </p:nvPicPr>
        <p:blipFill rotWithShape="1">
          <a:blip r:embed="rId7">
            <a:alphaModFix/>
          </a:blip>
          <a:srcRect/>
          <a:stretch/>
        </p:blipFill>
        <p:spPr>
          <a:xfrm>
            <a:off x="7886700" y="2528217"/>
            <a:ext cx="357187" cy="357187"/>
          </a:xfrm>
          <a:prstGeom prst="rect">
            <a:avLst/>
          </a:prstGeom>
          <a:noFill/>
          <a:ln>
            <a:noFill/>
          </a:ln>
        </p:spPr>
      </p:pic>
      <p:sp>
        <p:nvSpPr>
          <p:cNvPr id="132" name="Google Shape;132;p16"/>
          <p:cNvSpPr/>
          <p:nvPr/>
        </p:nvSpPr>
        <p:spPr>
          <a:xfrm>
            <a:off x="721518" y="3150393"/>
            <a:ext cx="7700962" cy="14287"/>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33" name="Google Shape;133;p16"/>
          <p:cNvSpPr txBox="1"/>
          <p:nvPr/>
        </p:nvSpPr>
        <p:spPr>
          <a:xfrm>
            <a:off x="328612" y="3028280"/>
            <a:ext cx="1500187"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3" b="1" i="0" u="none" strike="noStrike" cap="none">
                <a:solidFill>
                  <a:srgbClr val="FFFFFF"/>
                </a:solidFill>
                <a:latin typeface="Urbanist"/>
                <a:ea typeface="Urbanist"/>
                <a:cs typeface="Urbanist"/>
                <a:sym typeface="Urbanist"/>
              </a:rPr>
              <a:t>Draft</a:t>
            </a:r>
            <a:endParaRPr/>
          </a:p>
        </p:txBody>
      </p:sp>
      <p:sp>
        <p:nvSpPr>
          <p:cNvPr id="134" name="Google Shape;134;p16"/>
          <p:cNvSpPr txBox="1"/>
          <p:nvPr/>
        </p:nvSpPr>
        <p:spPr>
          <a:xfrm>
            <a:off x="364331" y="3306886"/>
            <a:ext cx="14287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900" b="0" i="0" u="none" strike="noStrike" cap="none">
                <a:solidFill>
                  <a:srgbClr val="CBD5E1"/>
                </a:solidFill>
                <a:latin typeface="Urbanist"/>
                <a:ea typeface="Urbanist"/>
                <a:cs typeface="Urbanist"/>
                <a:sym typeface="Urbanist"/>
              </a:rPr>
              <a:t>Student writes in "Zen Mode" editor.</a:t>
            </a:r>
            <a:endParaRPr/>
          </a:p>
        </p:txBody>
      </p:sp>
      <p:sp>
        <p:nvSpPr>
          <p:cNvPr id="135" name="Google Shape;135;p16"/>
          <p:cNvSpPr txBox="1"/>
          <p:nvPr/>
        </p:nvSpPr>
        <p:spPr>
          <a:xfrm>
            <a:off x="2657475" y="3028280"/>
            <a:ext cx="1500187"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3" b="1" i="0" u="none" strike="noStrike" cap="none">
                <a:solidFill>
                  <a:srgbClr val="FFFFFF"/>
                </a:solidFill>
                <a:latin typeface="Urbanist"/>
                <a:ea typeface="Urbanist"/>
                <a:cs typeface="Urbanist"/>
                <a:sym typeface="Urbanist"/>
              </a:rPr>
              <a:t>Analyze</a:t>
            </a:r>
            <a:endParaRPr/>
          </a:p>
        </p:txBody>
      </p:sp>
      <p:sp>
        <p:nvSpPr>
          <p:cNvPr id="136" name="Google Shape;136;p16"/>
          <p:cNvSpPr txBox="1"/>
          <p:nvPr/>
        </p:nvSpPr>
        <p:spPr>
          <a:xfrm>
            <a:off x="2693193" y="3306886"/>
            <a:ext cx="14287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900" b="0" i="0" u="none" strike="noStrike" cap="none">
                <a:solidFill>
                  <a:srgbClr val="CBD5E1"/>
                </a:solidFill>
                <a:latin typeface="Urbanist"/>
                <a:ea typeface="Urbanist"/>
                <a:cs typeface="Urbanist"/>
                <a:sym typeface="Urbanist"/>
              </a:rPr>
              <a:t>Real-time AI semantic checks &amp; citation coaching.</a:t>
            </a:r>
            <a:endParaRPr/>
          </a:p>
        </p:txBody>
      </p:sp>
      <p:sp>
        <p:nvSpPr>
          <p:cNvPr id="137" name="Google Shape;137;p16"/>
          <p:cNvSpPr txBox="1"/>
          <p:nvPr/>
        </p:nvSpPr>
        <p:spPr>
          <a:xfrm>
            <a:off x="4986337" y="3028280"/>
            <a:ext cx="1500187"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3" b="1" i="0" u="none" strike="noStrike" cap="none">
                <a:solidFill>
                  <a:srgbClr val="FFFFFF"/>
                </a:solidFill>
                <a:latin typeface="Urbanist"/>
                <a:ea typeface="Urbanist"/>
                <a:cs typeface="Urbanist"/>
                <a:sym typeface="Urbanist"/>
              </a:rPr>
              <a:t>Correct</a:t>
            </a:r>
            <a:endParaRPr/>
          </a:p>
        </p:txBody>
      </p:sp>
      <p:sp>
        <p:nvSpPr>
          <p:cNvPr id="138" name="Google Shape;138;p16"/>
          <p:cNvSpPr txBox="1"/>
          <p:nvPr/>
        </p:nvSpPr>
        <p:spPr>
          <a:xfrm>
            <a:off x="5022056" y="3306886"/>
            <a:ext cx="14287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900" b="0" i="0" u="none" strike="noStrike" cap="none">
                <a:solidFill>
                  <a:srgbClr val="CBD5E1"/>
                </a:solidFill>
                <a:latin typeface="Urbanist"/>
                <a:ea typeface="Urbanist"/>
                <a:cs typeface="Urbanist"/>
                <a:sym typeface="Urbanist"/>
              </a:rPr>
              <a:t>Review heatmap and fix citations.</a:t>
            </a:r>
            <a:endParaRPr/>
          </a:p>
        </p:txBody>
      </p:sp>
      <p:sp>
        <p:nvSpPr>
          <p:cNvPr id="139" name="Google Shape;139;p16"/>
          <p:cNvSpPr txBox="1"/>
          <p:nvPr/>
        </p:nvSpPr>
        <p:spPr>
          <a:xfrm>
            <a:off x="7315200" y="3028280"/>
            <a:ext cx="1500187"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3" b="1" i="0" u="none" strike="noStrike" cap="none">
                <a:solidFill>
                  <a:srgbClr val="FFFFFF"/>
                </a:solidFill>
                <a:latin typeface="Urbanist"/>
                <a:ea typeface="Urbanist"/>
                <a:cs typeface="Urbanist"/>
                <a:sym typeface="Urbanist"/>
              </a:rPr>
              <a:t>Certify</a:t>
            </a:r>
            <a:endParaRPr/>
          </a:p>
        </p:txBody>
      </p:sp>
      <p:sp>
        <p:nvSpPr>
          <p:cNvPr id="140" name="Google Shape;140;p16"/>
          <p:cNvSpPr txBox="1"/>
          <p:nvPr/>
        </p:nvSpPr>
        <p:spPr>
          <a:xfrm>
            <a:off x="7350918" y="3306886"/>
            <a:ext cx="14287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900" b="0" i="0" u="none" strike="noStrike" cap="none">
                <a:solidFill>
                  <a:srgbClr val="CBD5E1"/>
                </a:solidFill>
                <a:latin typeface="Urbanist"/>
                <a:ea typeface="Urbanist"/>
                <a:cs typeface="Urbanist"/>
                <a:sym typeface="Urbanist"/>
              </a:rPr>
              <a:t>Generate immutable Hash &amp; Certificate.</a:t>
            </a:r>
            <a:endParaRPr/>
          </a:p>
        </p:txBody>
      </p:sp>
      <p:sp>
        <p:nvSpPr>
          <p:cNvPr id="141" name="Google Shape;141;p16"/>
          <p:cNvSpPr txBox="1"/>
          <p:nvPr/>
        </p:nvSpPr>
        <p:spPr>
          <a:xfrm>
            <a:off x="364331" y="1356642"/>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User Journey: The Student</a:t>
            </a:r>
            <a:endParaRPr/>
          </a:p>
        </p:txBody>
      </p:sp>
      <p:sp>
        <p:nvSpPr>
          <p:cNvPr id="142" name="Google Shape;142;p16"/>
          <p:cNvSpPr/>
          <p:nvPr/>
        </p:nvSpPr>
        <p:spPr>
          <a:xfrm>
            <a:off x="364331" y="1878136"/>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48" name="Google Shape;148;p17" descr="image.png"/>
          <p:cNvPicPr preferRelativeResize="0"/>
          <p:nvPr/>
        </p:nvPicPr>
        <p:blipFill rotWithShape="1">
          <a:blip r:embed="rId4">
            <a:alphaModFix/>
          </a:blip>
          <a:srcRect/>
          <a:stretch/>
        </p:blipFill>
        <p:spPr>
          <a:xfrm>
            <a:off x="7143" y="7143"/>
            <a:ext cx="4564856" cy="5129212"/>
          </a:xfrm>
          <a:prstGeom prst="rect">
            <a:avLst/>
          </a:prstGeom>
          <a:noFill/>
          <a:ln>
            <a:noFill/>
          </a:ln>
        </p:spPr>
      </p:pic>
      <p:sp>
        <p:nvSpPr>
          <p:cNvPr id="149" name="Google Shape;149;p17"/>
          <p:cNvSpPr txBox="1"/>
          <p:nvPr/>
        </p:nvSpPr>
        <p:spPr>
          <a:xfrm>
            <a:off x="5000625" y="751544"/>
            <a:ext cx="3892986" cy="8358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Prototype: The "Glass Box" Editor</a:t>
            </a:r>
            <a:endParaRPr/>
          </a:p>
        </p:txBody>
      </p:sp>
      <p:sp>
        <p:nvSpPr>
          <p:cNvPr id="150" name="Google Shape;150;p17"/>
          <p:cNvSpPr/>
          <p:nvPr/>
        </p:nvSpPr>
        <p:spPr>
          <a:xfrm>
            <a:off x="5000625" y="1687375"/>
            <a:ext cx="3707606"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51" name="Google Shape;151;p17"/>
          <p:cNvSpPr txBox="1"/>
          <p:nvPr/>
        </p:nvSpPr>
        <p:spPr>
          <a:xfrm>
            <a:off x="5000625" y="1980269"/>
            <a:ext cx="3707606"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We moved away from opaque scores to </a:t>
            </a:r>
            <a:r>
              <a:rPr lang="en-US" sz="1125" b="1" i="0" u="none" strike="noStrike" cap="none">
                <a:solidFill>
                  <a:srgbClr val="CBD5E1"/>
                </a:solidFill>
                <a:latin typeface="Urbanist"/>
                <a:ea typeface="Urbanist"/>
                <a:cs typeface="Urbanist"/>
                <a:sym typeface="Urbanist"/>
              </a:rPr>
              <a:t>Explainable AI</a:t>
            </a:r>
            <a:r>
              <a:rPr lang="en-US" sz="1125" b="0" i="0" u="none" strike="noStrike" cap="none">
                <a:solidFill>
                  <a:srgbClr val="CBD5E1"/>
                </a:solidFill>
                <a:latin typeface="Urbanist"/>
                <a:ea typeface="Urbanist"/>
                <a:cs typeface="Urbanist"/>
                <a:sym typeface="Urbanist"/>
              </a:rPr>
              <a:t>.</a:t>
            </a:r>
            <a:endParaRPr/>
          </a:p>
        </p:txBody>
      </p:sp>
      <p:sp>
        <p:nvSpPr>
          <p:cNvPr id="152" name="Google Shape;152;p17"/>
          <p:cNvSpPr txBox="1"/>
          <p:nvPr/>
        </p:nvSpPr>
        <p:spPr>
          <a:xfrm>
            <a:off x="5000625" y="4094819"/>
            <a:ext cx="3707606" cy="182835"/>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900" b="0" i="0" u="none" strike="noStrike" cap="none">
                <a:solidFill>
                  <a:srgbClr val="CBD5E1"/>
                </a:solidFill>
                <a:latin typeface="Urbanist"/>
                <a:ea typeface="Urbanist"/>
                <a:cs typeface="Urbanist"/>
                <a:sym typeface="Urbanist"/>
              </a:rPr>
              <a:t>Includes "Zen Mode" for distraction-free writing.</a:t>
            </a:r>
            <a:endParaRPr/>
          </a:p>
        </p:txBody>
      </p:sp>
      <p:sp>
        <p:nvSpPr>
          <p:cNvPr id="153" name="Google Shape;153;p17"/>
          <p:cNvSpPr txBox="1"/>
          <p:nvPr/>
        </p:nvSpPr>
        <p:spPr>
          <a:xfrm>
            <a:off x="5107781" y="2494619"/>
            <a:ext cx="360045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CBD5E1"/>
                </a:solidFill>
                <a:latin typeface="Urbanist"/>
                <a:ea typeface="Urbanist"/>
                <a:cs typeface="Urbanist"/>
                <a:sym typeface="Urbanist"/>
              </a:rPr>
              <a:t>Red Highlight:</a:t>
            </a:r>
            <a:r>
              <a:rPr lang="en-US" sz="1125" b="0" i="0" u="none" strike="noStrike" cap="none">
                <a:solidFill>
                  <a:srgbClr val="CBD5E1"/>
                </a:solidFill>
                <a:latin typeface="Urbanist"/>
                <a:ea typeface="Urbanist"/>
                <a:cs typeface="Urbanist"/>
                <a:sym typeface="Urbanist"/>
              </a:rPr>
              <a:t> High semantic overlap (potential plagiarism).</a:t>
            </a:r>
            <a:endParaRPr/>
          </a:p>
        </p:txBody>
      </p:sp>
      <p:sp>
        <p:nvSpPr>
          <p:cNvPr id="154" name="Google Shape;154;p17"/>
          <p:cNvSpPr/>
          <p:nvPr/>
        </p:nvSpPr>
        <p:spPr>
          <a:xfrm>
            <a:off x="5000625" y="2494619"/>
            <a:ext cx="21431" cy="457200"/>
          </a:xfrm>
          <a:prstGeom prst="rect">
            <a:avLst/>
          </a:prstGeom>
          <a:solidFill>
            <a:srgbClr val="EF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55" name="Google Shape;155;p17"/>
          <p:cNvSpPr txBox="1"/>
          <p:nvPr/>
        </p:nvSpPr>
        <p:spPr>
          <a:xfrm>
            <a:off x="5107781" y="3094694"/>
            <a:ext cx="36004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CBD5E1"/>
                </a:solidFill>
                <a:latin typeface="Urbanist"/>
                <a:ea typeface="Urbanist"/>
                <a:cs typeface="Urbanist"/>
                <a:sym typeface="Urbanist"/>
              </a:rPr>
              <a:t>Yellow Highlight:</a:t>
            </a:r>
            <a:r>
              <a:rPr lang="en-US" sz="1125" b="0" i="0" u="none" strike="noStrike" cap="none">
                <a:solidFill>
                  <a:srgbClr val="CBD5E1"/>
                </a:solidFill>
                <a:latin typeface="Urbanist"/>
                <a:ea typeface="Urbanist"/>
                <a:cs typeface="Urbanist"/>
                <a:sym typeface="Urbanist"/>
              </a:rPr>
              <a:t> Missing citation detected.</a:t>
            </a:r>
            <a:endParaRPr/>
          </a:p>
        </p:txBody>
      </p:sp>
      <p:sp>
        <p:nvSpPr>
          <p:cNvPr id="156" name="Google Shape;156;p17"/>
          <p:cNvSpPr/>
          <p:nvPr/>
        </p:nvSpPr>
        <p:spPr>
          <a:xfrm>
            <a:off x="5000625" y="3094694"/>
            <a:ext cx="21431" cy="2286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57" name="Google Shape;157;p17"/>
          <p:cNvSpPr txBox="1"/>
          <p:nvPr/>
        </p:nvSpPr>
        <p:spPr>
          <a:xfrm>
            <a:off x="5107781" y="3466169"/>
            <a:ext cx="36004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a:solidFill>
                  <a:srgbClr val="CBD5E1"/>
                </a:solidFill>
                <a:latin typeface="Urbanist"/>
                <a:ea typeface="Urbanist"/>
                <a:cs typeface="Urbanist"/>
                <a:sym typeface="Urbanist"/>
              </a:rPr>
              <a:t>Green Underline:</a:t>
            </a:r>
            <a:r>
              <a:rPr lang="en-US" sz="1125" b="0" i="0" u="none" strike="noStrike" cap="none">
                <a:solidFill>
                  <a:srgbClr val="CBD5E1"/>
                </a:solidFill>
                <a:latin typeface="Urbanist"/>
                <a:ea typeface="Urbanist"/>
                <a:cs typeface="Urbanist"/>
                <a:sym typeface="Urbanist"/>
              </a:rPr>
              <a:t> Successful paraphrasing.</a:t>
            </a:r>
            <a:endParaRPr/>
          </a:p>
        </p:txBody>
      </p:sp>
      <p:sp>
        <p:nvSpPr>
          <p:cNvPr id="158" name="Google Shape;158;p17"/>
          <p:cNvSpPr/>
          <p:nvPr/>
        </p:nvSpPr>
        <p:spPr>
          <a:xfrm>
            <a:off x="5000625" y="3466169"/>
            <a:ext cx="21431" cy="2286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159" name="Google Shape;159;p17" descr="image.png"/>
          <p:cNvPicPr preferRelativeResize="0"/>
          <p:nvPr/>
        </p:nvPicPr>
        <p:blipFill rotWithShape="1">
          <a:blip r:embed="rId5">
            <a:alphaModFix/>
          </a:blip>
          <a:srcRect/>
          <a:stretch/>
        </p:blipFill>
        <p:spPr>
          <a:xfrm>
            <a:off x="5000625" y="4123394"/>
            <a:ext cx="128587" cy="114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3"/>
        <p:cNvGrpSpPr/>
        <p:nvPr/>
      </p:nvGrpSpPr>
      <p:grpSpPr>
        <a:xfrm>
          <a:off x="0" y="0"/>
          <a:ext cx="0" cy="0"/>
          <a:chOff x="0" y="0"/>
          <a:chExt cx="0" cy="0"/>
        </a:xfrm>
      </p:grpSpPr>
      <p:pic>
        <p:nvPicPr>
          <p:cNvPr id="164" name="Google Shape;164;p18" descr="image.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65" name="Google Shape;165;p18"/>
          <p:cNvSpPr txBox="1"/>
          <p:nvPr/>
        </p:nvSpPr>
        <p:spPr>
          <a:xfrm>
            <a:off x="435768" y="717946"/>
            <a:ext cx="3892986" cy="8358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Prototype: Digital Certificate</a:t>
            </a:r>
            <a:endParaRPr/>
          </a:p>
        </p:txBody>
      </p:sp>
      <p:sp>
        <p:nvSpPr>
          <p:cNvPr id="166" name="Google Shape;166;p18"/>
          <p:cNvSpPr/>
          <p:nvPr/>
        </p:nvSpPr>
        <p:spPr>
          <a:xfrm>
            <a:off x="435768" y="1653777"/>
            <a:ext cx="3707606"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67" name="Google Shape;167;p18"/>
          <p:cNvSpPr txBox="1"/>
          <p:nvPr/>
        </p:nvSpPr>
        <p:spPr>
          <a:xfrm>
            <a:off x="435768" y="1946671"/>
            <a:ext cx="3707606"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Transforming academic integrity from a "punishment" into a </a:t>
            </a:r>
            <a:r>
              <a:rPr lang="en-US" sz="1125" b="1" i="0" u="none" strike="noStrike" cap="none">
                <a:solidFill>
                  <a:srgbClr val="CBD5E1"/>
                </a:solidFill>
                <a:latin typeface="Urbanist"/>
                <a:ea typeface="Urbanist"/>
                <a:cs typeface="Urbanist"/>
                <a:sym typeface="Urbanist"/>
              </a:rPr>
              <a:t>verifiable asset</a:t>
            </a:r>
            <a:r>
              <a:rPr lang="en-US" sz="1125" b="0" i="0" u="none" strike="noStrike" cap="none">
                <a:solidFill>
                  <a:srgbClr val="CBD5E1"/>
                </a:solidFill>
                <a:latin typeface="Urbanist"/>
                <a:ea typeface="Urbanist"/>
                <a:cs typeface="Urbanist"/>
                <a:sym typeface="Urbanist"/>
              </a:rPr>
              <a:t>.</a:t>
            </a:r>
            <a:endParaRPr/>
          </a:p>
        </p:txBody>
      </p:sp>
      <p:sp>
        <p:nvSpPr>
          <p:cNvPr id="168" name="Google Shape;168;p18"/>
          <p:cNvSpPr txBox="1"/>
          <p:nvPr/>
        </p:nvSpPr>
        <p:spPr>
          <a:xfrm>
            <a:off x="435768" y="2689621"/>
            <a:ext cx="3707606"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Upon passing the integrity checks (&lt;15% similarity), the student receives a PDF certificate containing:</a:t>
            </a:r>
            <a:endParaRPr/>
          </a:p>
        </p:txBody>
      </p:sp>
      <p:pic>
        <p:nvPicPr>
          <p:cNvPr id="169" name="Google Shape;169;p18" descr="image.png"/>
          <p:cNvPicPr preferRelativeResize="0"/>
          <p:nvPr/>
        </p:nvPicPr>
        <p:blipFill rotWithShape="1">
          <a:blip r:embed="rId4">
            <a:alphaModFix/>
          </a:blip>
          <a:srcRect/>
          <a:stretch/>
        </p:blipFill>
        <p:spPr>
          <a:xfrm>
            <a:off x="4572000" y="7143"/>
            <a:ext cx="4564856" cy="5129212"/>
          </a:xfrm>
          <a:prstGeom prst="rect">
            <a:avLst/>
          </a:prstGeom>
          <a:noFill/>
          <a:ln>
            <a:noFill/>
          </a:ln>
        </p:spPr>
      </p:pic>
      <p:sp>
        <p:nvSpPr>
          <p:cNvPr id="170" name="Google Shape;170;p18"/>
          <p:cNvSpPr txBox="1"/>
          <p:nvPr/>
        </p:nvSpPr>
        <p:spPr>
          <a:xfrm>
            <a:off x="550068" y="339685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171" name="Google Shape;171;p18"/>
          <p:cNvSpPr txBox="1"/>
          <p:nvPr/>
        </p:nvSpPr>
        <p:spPr>
          <a:xfrm>
            <a:off x="578643" y="3396852"/>
            <a:ext cx="3564731"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Unique SHA-256 Document Hash</a:t>
            </a:r>
            <a:endParaRPr/>
          </a:p>
        </p:txBody>
      </p:sp>
      <p:sp>
        <p:nvSpPr>
          <p:cNvPr id="172" name="Google Shape;172;p18"/>
          <p:cNvSpPr txBox="1"/>
          <p:nvPr/>
        </p:nvSpPr>
        <p:spPr>
          <a:xfrm>
            <a:off x="550068" y="362545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173" name="Google Shape;173;p18"/>
          <p:cNvSpPr txBox="1"/>
          <p:nvPr/>
        </p:nvSpPr>
        <p:spPr>
          <a:xfrm>
            <a:off x="578643" y="3625452"/>
            <a:ext cx="3564731"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Timestamp of Creation</a:t>
            </a:r>
            <a:endParaRPr/>
          </a:p>
        </p:txBody>
      </p:sp>
      <p:sp>
        <p:nvSpPr>
          <p:cNvPr id="174" name="Google Shape;174;p18"/>
          <p:cNvSpPr txBox="1"/>
          <p:nvPr/>
        </p:nvSpPr>
        <p:spPr>
          <a:xfrm>
            <a:off x="550068" y="385405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175" name="Google Shape;175;p18"/>
          <p:cNvSpPr txBox="1"/>
          <p:nvPr/>
        </p:nvSpPr>
        <p:spPr>
          <a:xfrm>
            <a:off x="578643" y="3854052"/>
            <a:ext cx="3564731"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AI Confidence Score</a:t>
            </a:r>
            <a:endParaRPr/>
          </a:p>
        </p:txBody>
      </p:sp>
      <p:sp>
        <p:nvSpPr>
          <p:cNvPr id="176" name="Google Shape;176;p18"/>
          <p:cNvSpPr txBox="1"/>
          <p:nvPr/>
        </p:nvSpPr>
        <p:spPr>
          <a:xfrm>
            <a:off x="550068" y="408265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177" name="Google Shape;177;p18"/>
          <p:cNvSpPr txBox="1"/>
          <p:nvPr/>
        </p:nvSpPr>
        <p:spPr>
          <a:xfrm>
            <a:off x="578643" y="4082652"/>
            <a:ext cx="3564731"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QR Code for instant verification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83" name="Google Shape;183;p19" descr="image.png"/>
          <p:cNvPicPr preferRelativeResize="0"/>
          <p:nvPr/>
        </p:nvPicPr>
        <p:blipFill rotWithShape="1">
          <a:blip r:embed="rId4">
            <a:alphaModFix/>
          </a:blip>
          <a:srcRect/>
          <a:stretch/>
        </p:blipFill>
        <p:spPr>
          <a:xfrm>
            <a:off x="364331" y="2793206"/>
            <a:ext cx="4029075" cy="1350168"/>
          </a:xfrm>
          <a:prstGeom prst="rect">
            <a:avLst/>
          </a:prstGeom>
          <a:noFill/>
          <a:ln>
            <a:noFill/>
          </a:ln>
        </p:spPr>
      </p:pic>
      <p:pic>
        <p:nvPicPr>
          <p:cNvPr id="184" name="Google Shape;184;p19" descr="image.png"/>
          <p:cNvPicPr preferRelativeResize="0"/>
          <p:nvPr/>
        </p:nvPicPr>
        <p:blipFill rotWithShape="1">
          <a:blip r:embed="rId5">
            <a:alphaModFix/>
          </a:blip>
          <a:srcRect/>
          <a:stretch/>
        </p:blipFill>
        <p:spPr>
          <a:xfrm>
            <a:off x="4750593" y="2943225"/>
            <a:ext cx="4029075" cy="1050131"/>
          </a:xfrm>
          <a:prstGeom prst="rect">
            <a:avLst/>
          </a:prstGeom>
          <a:noFill/>
          <a:ln>
            <a:noFill/>
          </a:ln>
        </p:spPr>
      </p:pic>
      <p:sp>
        <p:nvSpPr>
          <p:cNvPr id="185" name="Google Shape;185;p19"/>
          <p:cNvSpPr txBox="1"/>
          <p:nvPr/>
        </p:nvSpPr>
        <p:spPr>
          <a:xfrm>
            <a:off x="364331" y="1885950"/>
            <a:ext cx="4230528"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3" b="1" i="0" u="none" strike="noStrike" cap="none">
                <a:solidFill>
                  <a:srgbClr val="FFFFFF"/>
                </a:solidFill>
                <a:latin typeface="Urbanist"/>
                <a:ea typeface="Urbanist"/>
                <a:cs typeface="Urbanist"/>
                <a:sym typeface="Urbanist"/>
              </a:rPr>
              <a:t>Structured AI Schema</a:t>
            </a:r>
            <a:endParaRPr/>
          </a:p>
        </p:txBody>
      </p:sp>
      <p:sp>
        <p:nvSpPr>
          <p:cNvPr id="186" name="Google Shape;186;p19"/>
          <p:cNvSpPr txBox="1"/>
          <p:nvPr/>
        </p:nvSpPr>
        <p:spPr>
          <a:xfrm>
            <a:off x="364331" y="2193131"/>
            <a:ext cx="402907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We force GPT-4o to return strictly formatted JSON data for reliable frontend rendering, rather than free text.</a:t>
            </a:r>
            <a:endParaRPr/>
          </a:p>
        </p:txBody>
      </p:sp>
      <p:sp>
        <p:nvSpPr>
          <p:cNvPr id="187" name="Google Shape;187;p19"/>
          <p:cNvSpPr txBox="1"/>
          <p:nvPr/>
        </p:nvSpPr>
        <p:spPr>
          <a:xfrm>
            <a:off x="4750593" y="2035968"/>
            <a:ext cx="4230528"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3" b="1" i="0" u="none" strike="noStrike" cap="none">
                <a:solidFill>
                  <a:srgbClr val="FFFFFF"/>
                </a:solidFill>
                <a:latin typeface="Urbanist"/>
                <a:ea typeface="Urbanist"/>
                <a:cs typeface="Urbanist"/>
                <a:sym typeface="Urbanist"/>
              </a:rPr>
              <a:t>Client-Side Crypto</a:t>
            </a:r>
            <a:endParaRPr/>
          </a:p>
        </p:txBody>
      </p:sp>
      <p:sp>
        <p:nvSpPr>
          <p:cNvPr id="188" name="Google Shape;188;p19"/>
          <p:cNvSpPr txBox="1"/>
          <p:nvPr/>
        </p:nvSpPr>
        <p:spPr>
          <a:xfrm>
            <a:off x="4750593" y="2343150"/>
            <a:ext cx="402907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Using the native Web Crypto API for lightning-fast, secure hashing in the browser.</a:t>
            </a:r>
            <a:endParaRPr/>
          </a:p>
        </p:txBody>
      </p:sp>
      <p:sp>
        <p:nvSpPr>
          <p:cNvPr id="189" name="Google Shape;189;p19"/>
          <p:cNvSpPr txBox="1"/>
          <p:nvPr/>
        </p:nvSpPr>
        <p:spPr>
          <a:xfrm>
            <a:off x="514350" y="2943225"/>
            <a:ext cx="35718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586C0"/>
                </a:solidFill>
                <a:latin typeface="JetBrains Mono"/>
                <a:ea typeface="JetBrains Mono"/>
                <a:cs typeface="JetBrains Mono"/>
                <a:sym typeface="JetBrains Mono"/>
              </a:rPr>
              <a:t>const</a:t>
            </a:r>
            <a:endParaRPr/>
          </a:p>
        </p:txBody>
      </p:sp>
      <p:sp>
        <p:nvSpPr>
          <p:cNvPr id="190" name="Google Shape;190;p19"/>
          <p:cNvSpPr txBox="1"/>
          <p:nvPr/>
        </p:nvSpPr>
        <p:spPr>
          <a:xfrm>
            <a:off x="1085850" y="3093243"/>
            <a:ext cx="150018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E9178"/>
                </a:solidFill>
                <a:latin typeface="JetBrains Mono"/>
                <a:ea typeface="JetBrains Mono"/>
                <a:cs typeface="JetBrains Mono"/>
                <a:sym typeface="JetBrains Mono"/>
              </a:rPr>
              <a:t>"similarity_analysis"</a:t>
            </a:r>
            <a:endParaRPr/>
          </a:p>
        </p:txBody>
      </p:sp>
      <p:sp>
        <p:nvSpPr>
          <p:cNvPr id="191" name="Google Shape;191;p19"/>
          <p:cNvSpPr txBox="1"/>
          <p:nvPr/>
        </p:nvSpPr>
        <p:spPr>
          <a:xfrm>
            <a:off x="1871662" y="3393281"/>
            <a:ext cx="571500"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E9178"/>
                </a:solidFill>
                <a:latin typeface="JetBrains Mono"/>
                <a:ea typeface="JetBrains Mono"/>
                <a:cs typeface="JetBrains Mono"/>
                <a:sym typeface="JetBrains Mono"/>
              </a:rPr>
              <a:t>"number"</a:t>
            </a:r>
            <a:endParaRPr/>
          </a:p>
        </p:txBody>
      </p:sp>
      <p:sp>
        <p:nvSpPr>
          <p:cNvPr id="192" name="Google Shape;192;p19"/>
          <p:cNvSpPr txBox="1"/>
          <p:nvPr/>
        </p:nvSpPr>
        <p:spPr>
          <a:xfrm>
            <a:off x="2085975" y="3543300"/>
            <a:ext cx="500062"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E9178"/>
                </a:solidFill>
                <a:latin typeface="JetBrains Mono"/>
                <a:ea typeface="JetBrains Mono"/>
                <a:cs typeface="JetBrains Mono"/>
                <a:sym typeface="JetBrains Mono"/>
              </a:rPr>
              <a:t>"array"</a:t>
            </a:r>
            <a:endParaRPr/>
          </a:p>
        </p:txBody>
      </p:sp>
      <p:sp>
        <p:nvSpPr>
          <p:cNvPr id="193" name="Google Shape;193;p19"/>
          <p:cNvSpPr txBox="1"/>
          <p:nvPr/>
        </p:nvSpPr>
        <p:spPr>
          <a:xfrm>
            <a:off x="4900612" y="3093243"/>
            <a:ext cx="35718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586C0"/>
                </a:solidFill>
                <a:latin typeface="JetBrains Mono"/>
                <a:ea typeface="JetBrains Mono"/>
                <a:cs typeface="JetBrains Mono"/>
                <a:sym typeface="JetBrains Mono"/>
              </a:rPr>
              <a:t>const</a:t>
            </a:r>
            <a:endParaRPr/>
          </a:p>
        </p:txBody>
      </p:sp>
      <p:sp>
        <p:nvSpPr>
          <p:cNvPr id="194" name="Google Shape;194;p19"/>
          <p:cNvSpPr txBox="1"/>
          <p:nvPr/>
        </p:nvSpPr>
        <p:spPr>
          <a:xfrm>
            <a:off x="6115050" y="3093243"/>
            <a:ext cx="214312"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586C0"/>
                </a:solidFill>
                <a:latin typeface="JetBrains Mono"/>
                <a:ea typeface="JetBrains Mono"/>
                <a:cs typeface="JetBrains Mono"/>
                <a:sym typeface="JetBrains Mono"/>
              </a:rPr>
              <a:t>new</a:t>
            </a:r>
            <a:endParaRPr/>
          </a:p>
        </p:txBody>
      </p:sp>
      <p:sp>
        <p:nvSpPr>
          <p:cNvPr id="195" name="Google Shape;195;p19"/>
          <p:cNvSpPr txBox="1"/>
          <p:nvPr/>
        </p:nvSpPr>
        <p:spPr>
          <a:xfrm>
            <a:off x="4900612" y="3243262"/>
            <a:ext cx="35718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586C0"/>
                </a:solidFill>
                <a:latin typeface="JetBrains Mono"/>
                <a:ea typeface="JetBrains Mono"/>
                <a:cs typeface="JetBrains Mono"/>
                <a:sym typeface="JetBrains Mono"/>
              </a:rPr>
              <a:t>const</a:t>
            </a:r>
            <a:endParaRPr/>
          </a:p>
        </p:txBody>
      </p:sp>
      <p:sp>
        <p:nvSpPr>
          <p:cNvPr id="196" name="Google Shape;196;p19"/>
          <p:cNvSpPr txBox="1"/>
          <p:nvPr/>
        </p:nvSpPr>
        <p:spPr>
          <a:xfrm>
            <a:off x="6257925" y="3243262"/>
            <a:ext cx="35718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586C0"/>
                </a:solidFill>
                <a:latin typeface="JetBrains Mono"/>
                <a:ea typeface="JetBrains Mono"/>
                <a:cs typeface="JetBrains Mono"/>
                <a:sym typeface="JetBrains Mono"/>
              </a:rPr>
              <a:t>await</a:t>
            </a:r>
            <a:endParaRPr/>
          </a:p>
        </p:txBody>
      </p:sp>
      <p:sp>
        <p:nvSpPr>
          <p:cNvPr id="197" name="Google Shape;197;p19"/>
          <p:cNvSpPr txBox="1"/>
          <p:nvPr/>
        </p:nvSpPr>
        <p:spPr>
          <a:xfrm>
            <a:off x="5043487" y="3393281"/>
            <a:ext cx="642937" cy="1500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CE9178"/>
                </a:solidFill>
                <a:latin typeface="JetBrains Mono"/>
                <a:ea typeface="JetBrains Mono"/>
                <a:cs typeface="JetBrains Mono"/>
                <a:sym typeface="JetBrains Mono"/>
              </a:rPr>
              <a:t>'SHA-256'</a:t>
            </a:r>
            <a:endParaRPr/>
          </a:p>
        </p:txBody>
      </p:sp>
      <p:sp>
        <p:nvSpPr>
          <p:cNvPr id="198" name="Google Shape;198;p19"/>
          <p:cNvSpPr txBox="1"/>
          <p:nvPr/>
        </p:nvSpPr>
        <p:spPr>
          <a:xfrm>
            <a:off x="364331" y="1000125"/>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Technical Implementation</a:t>
            </a:r>
            <a:endParaRPr/>
          </a:p>
        </p:txBody>
      </p:sp>
      <p:sp>
        <p:nvSpPr>
          <p:cNvPr id="199" name="Google Shape;199;p19"/>
          <p:cNvSpPr/>
          <p:nvPr/>
        </p:nvSpPr>
        <p:spPr>
          <a:xfrm>
            <a:off x="364331" y="1521618"/>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0"/>
        <p:cNvGrpSpPr/>
        <p:nvPr/>
      </p:nvGrpSpPr>
      <p:grpSpPr>
        <a:xfrm>
          <a:off x="0" y="0"/>
          <a:ext cx="0" cy="0"/>
          <a:chOff x="0" y="0"/>
          <a:chExt cx="0" cy="0"/>
        </a:xfrm>
      </p:grpSpPr>
      <p:pic>
        <p:nvPicPr>
          <p:cNvPr id="211" name="Google Shape;211;p16"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212" name="Google Shape;212;p16" descr="image.png"/>
          <p:cNvPicPr preferRelativeResize="0"/>
          <p:nvPr/>
        </p:nvPicPr>
        <p:blipFill rotWithShape="1">
          <a:blip r:embed="rId4">
            <a:alphaModFix/>
          </a:blip>
          <a:srcRect/>
          <a:stretch/>
        </p:blipFill>
        <p:spPr>
          <a:xfrm>
            <a:off x="5527811" y="1250156"/>
            <a:ext cx="3251856" cy="3600450"/>
          </a:xfrm>
          <a:prstGeom prst="rect">
            <a:avLst/>
          </a:prstGeom>
          <a:noFill/>
          <a:ln>
            <a:noFill/>
          </a:ln>
        </p:spPr>
      </p:pic>
      <p:pic>
        <p:nvPicPr>
          <p:cNvPr id="213" name="Google Shape;213;p16" descr="image.png"/>
          <p:cNvPicPr preferRelativeResize="0"/>
          <p:nvPr/>
        </p:nvPicPr>
        <p:blipFill rotWithShape="1">
          <a:blip r:embed="rId5">
            <a:alphaModFix/>
          </a:blip>
          <a:srcRect/>
          <a:stretch/>
        </p:blipFill>
        <p:spPr>
          <a:xfrm>
            <a:off x="364331" y="2278856"/>
            <a:ext cx="4877730" cy="814387"/>
          </a:xfrm>
          <a:prstGeom prst="rect">
            <a:avLst/>
          </a:prstGeom>
          <a:noFill/>
          <a:ln>
            <a:noFill/>
          </a:ln>
        </p:spPr>
      </p:pic>
      <p:pic>
        <p:nvPicPr>
          <p:cNvPr id="214" name="Google Shape;214;p16" descr="image.png"/>
          <p:cNvPicPr preferRelativeResize="0"/>
          <p:nvPr/>
        </p:nvPicPr>
        <p:blipFill rotWithShape="1">
          <a:blip r:embed="rId6">
            <a:alphaModFix/>
          </a:blip>
          <a:srcRect/>
          <a:stretch/>
        </p:blipFill>
        <p:spPr>
          <a:xfrm>
            <a:off x="364331" y="4157662"/>
            <a:ext cx="4877730" cy="685800"/>
          </a:xfrm>
          <a:prstGeom prst="rect">
            <a:avLst/>
          </a:prstGeom>
          <a:noFill/>
          <a:ln>
            <a:noFill/>
          </a:ln>
        </p:spPr>
      </p:pic>
      <p:sp>
        <p:nvSpPr>
          <p:cNvPr id="215" name="Google Shape;215;p16"/>
          <p:cNvSpPr txBox="1"/>
          <p:nvPr/>
        </p:nvSpPr>
        <p:spPr>
          <a:xfrm>
            <a:off x="364331" y="292893"/>
            <a:ext cx="8779668" cy="364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0" i="0" u="none" strike="noStrike" cap="none">
                <a:solidFill>
                  <a:srgbClr val="FFFFFF"/>
                </a:solidFill>
                <a:latin typeface="Urbanist SemiBold"/>
                <a:ea typeface="Urbanist SemiBold"/>
                <a:cs typeface="Urbanist SemiBold"/>
                <a:sym typeface="Urbanist SemiBold"/>
              </a:rPr>
              <a:t>Technical Deep Dive: The Privacy Engine</a:t>
            </a:r>
            <a:endParaRPr/>
          </a:p>
        </p:txBody>
      </p:sp>
      <p:sp>
        <p:nvSpPr>
          <p:cNvPr id="216" name="Google Shape;216;p16"/>
          <p:cNvSpPr txBox="1"/>
          <p:nvPr/>
        </p:nvSpPr>
        <p:spPr>
          <a:xfrm>
            <a:off x="364331" y="785812"/>
            <a:ext cx="8415337"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Implementation of "Zero-Knowledge" Architecture via Web Crypto &amp; Structured AI.</a:t>
            </a:r>
            <a:endParaRPr/>
          </a:p>
        </p:txBody>
      </p:sp>
      <p:sp>
        <p:nvSpPr>
          <p:cNvPr id="217" name="Google Shape;217;p16"/>
          <p:cNvSpPr txBox="1"/>
          <p:nvPr/>
        </p:nvSpPr>
        <p:spPr>
          <a:xfrm>
            <a:off x="364331" y="1428750"/>
            <a:ext cx="5121616"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Urbanist"/>
                <a:ea typeface="Urbanist"/>
                <a:cs typeface="Urbanist"/>
                <a:sym typeface="Urbanist"/>
              </a:rPr>
              <a:t>1. Client-Side Hashing</a:t>
            </a:r>
            <a:endParaRPr/>
          </a:p>
        </p:txBody>
      </p:sp>
      <p:sp>
        <p:nvSpPr>
          <p:cNvPr id="218" name="Google Shape;218;p16"/>
          <p:cNvSpPr txBox="1"/>
          <p:nvPr/>
        </p:nvSpPr>
        <p:spPr>
          <a:xfrm>
            <a:off x="364331" y="1764506"/>
            <a:ext cx="4877730"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We use the browser's native </a:t>
            </a:r>
            <a:r>
              <a:rPr lang="en-US" sz="1012" b="1" i="0" u="none" strike="noStrike" cap="none">
                <a:solidFill>
                  <a:srgbClr val="CBD5E1"/>
                </a:solidFill>
                <a:latin typeface="Urbanist"/>
                <a:ea typeface="Urbanist"/>
                <a:cs typeface="Urbanist"/>
                <a:sym typeface="Urbanist"/>
              </a:rPr>
              <a:t>Web Crypto API</a:t>
            </a:r>
            <a:r>
              <a:rPr lang="en-US" sz="1012" b="0" i="0" u="none" strike="noStrike" cap="none">
                <a:solidFill>
                  <a:srgbClr val="CBD5E1"/>
                </a:solidFill>
                <a:latin typeface="Urbanist"/>
                <a:ea typeface="Urbanist"/>
                <a:cs typeface="Urbanist"/>
                <a:sym typeface="Urbanist"/>
              </a:rPr>
              <a:t> to generate SHA-256 hashes locally. The raw document never leaves the device for verification.</a:t>
            </a:r>
            <a:endParaRPr/>
          </a:p>
        </p:txBody>
      </p:sp>
      <p:sp>
        <p:nvSpPr>
          <p:cNvPr id="219" name="Google Shape;219;p16"/>
          <p:cNvSpPr txBox="1"/>
          <p:nvPr/>
        </p:nvSpPr>
        <p:spPr>
          <a:xfrm>
            <a:off x="364331" y="3307556"/>
            <a:ext cx="5121616"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Urbanist"/>
                <a:ea typeface="Urbanist"/>
                <a:cs typeface="Urbanist"/>
                <a:sym typeface="Urbanist"/>
              </a:rPr>
              <a:t>2. Structured AI Outputs</a:t>
            </a:r>
            <a:endParaRPr/>
          </a:p>
        </p:txBody>
      </p:sp>
      <p:sp>
        <p:nvSpPr>
          <p:cNvPr id="220" name="Google Shape;220;p16"/>
          <p:cNvSpPr txBox="1"/>
          <p:nvPr/>
        </p:nvSpPr>
        <p:spPr>
          <a:xfrm>
            <a:off x="364331" y="3643312"/>
            <a:ext cx="4877730" cy="3857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We enforce a strict </a:t>
            </a:r>
            <a:r>
              <a:rPr lang="en-US" sz="1012" b="1" i="0" u="none" strike="noStrike" cap="none">
                <a:solidFill>
                  <a:srgbClr val="CBD5E1"/>
                </a:solidFill>
                <a:latin typeface="Urbanist"/>
                <a:ea typeface="Urbanist"/>
                <a:cs typeface="Urbanist"/>
                <a:sym typeface="Urbanist"/>
              </a:rPr>
              <a:t>JSON Schema</a:t>
            </a:r>
            <a:r>
              <a:rPr lang="en-US" sz="1012" b="0" i="0" u="none" strike="noStrike" cap="none">
                <a:solidFill>
                  <a:srgbClr val="CBD5E1"/>
                </a:solidFill>
                <a:latin typeface="Urbanist"/>
                <a:ea typeface="Urbanist"/>
                <a:cs typeface="Urbanist"/>
                <a:sym typeface="Urbanist"/>
              </a:rPr>
              <a:t> on GPT-4o. This prevents hallucinations and ensures the heatmap data is always machine-readable.</a:t>
            </a:r>
            <a:endParaRPr/>
          </a:p>
        </p:txBody>
      </p:sp>
      <p:pic>
        <p:nvPicPr>
          <p:cNvPr id="221" name="Google Shape;221;p16" descr="image.png"/>
          <p:cNvPicPr preferRelativeResize="0"/>
          <p:nvPr/>
        </p:nvPicPr>
        <p:blipFill rotWithShape="1">
          <a:blip r:embed="rId7">
            <a:alphaModFix/>
          </a:blip>
          <a:srcRect/>
          <a:stretch/>
        </p:blipFill>
        <p:spPr>
          <a:xfrm>
            <a:off x="5534955" y="1257300"/>
            <a:ext cx="2615393" cy="128587"/>
          </a:xfrm>
          <a:prstGeom prst="rect">
            <a:avLst/>
          </a:prstGeom>
          <a:noFill/>
          <a:ln>
            <a:noFill/>
          </a:ln>
        </p:spPr>
      </p:pic>
      <p:sp>
        <p:nvSpPr>
          <p:cNvPr id="222" name="Google Shape;222;p16"/>
          <p:cNvSpPr txBox="1"/>
          <p:nvPr/>
        </p:nvSpPr>
        <p:spPr>
          <a:xfrm>
            <a:off x="514350" y="2428875"/>
            <a:ext cx="12001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6A9955"/>
                </a:solidFill>
                <a:latin typeface="JetBrains Mono"/>
                <a:ea typeface="JetBrains Mono"/>
                <a:cs typeface="JetBrains Mono"/>
                <a:sym typeface="JetBrains Mono"/>
              </a:rPr>
              <a:t>// services/crypto.ts</a:t>
            </a:r>
            <a:endParaRPr/>
          </a:p>
        </p:txBody>
      </p:sp>
      <p:sp>
        <p:nvSpPr>
          <p:cNvPr id="223" name="Google Shape;223;p16"/>
          <p:cNvSpPr txBox="1"/>
          <p:nvPr/>
        </p:nvSpPr>
        <p:spPr>
          <a:xfrm>
            <a:off x="1771650" y="2428875"/>
            <a:ext cx="12001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export async function</a:t>
            </a:r>
            <a:endParaRPr/>
          </a:p>
        </p:txBody>
      </p:sp>
      <p:sp>
        <p:nvSpPr>
          <p:cNvPr id="224" name="Google Shape;224;p16"/>
          <p:cNvSpPr txBox="1"/>
          <p:nvPr/>
        </p:nvSpPr>
        <p:spPr>
          <a:xfrm>
            <a:off x="3028950" y="2428875"/>
            <a:ext cx="6858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generateHash</a:t>
            </a:r>
            <a:endParaRPr/>
          </a:p>
        </p:txBody>
      </p:sp>
      <p:sp>
        <p:nvSpPr>
          <p:cNvPr id="225" name="Google Shape;225;p16"/>
          <p:cNvSpPr txBox="1"/>
          <p:nvPr/>
        </p:nvSpPr>
        <p:spPr>
          <a:xfrm>
            <a:off x="4114800" y="2428875"/>
            <a:ext cx="342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string</a:t>
            </a:r>
            <a:endParaRPr/>
          </a:p>
        </p:txBody>
      </p:sp>
      <p:sp>
        <p:nvSpPr>
          <p:cNvPr id="226" name="Google Shape;226;p16"/>
          <p:cNvSpPr txBox="1"/>
          <p:nvPr/>
        </p:nvSpPr>
        <p:spPr>
          <a:xfrm>
            <a:off x="4686300" y="2428875"/>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const</a:t>
            </a:r>
            <a:endParaRPr/>
          </a:p>
        </p:txBody>
      </p:sp>
      <p:sp>
        <p:nvSpPr>
          <p:cNvPr id="227" name="Google Shape;227;p16"/>
          <p:cNvSpPr txBox="1"/>
          <p:nvPr/>
        </p:nvSpPr>
        <p:spPr>
          <a:xfrm>
            <a:off x="1143000" y="2557462"/>
            <a:ext cx="1714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new</a:t>
            </a:r>
            <a:endParaRPr/>
          </a:p>
        </p:txBody>
      </p:sp>
      <p:sp>
        <p:nvSpPr>
          <p:cNvPr id="228" name="Google Shape;228;p16"/>
          <p:cNvSpPr txBox="1"/>
          <p:nvPr/>
        </p:nvSpPr>
        <p:spPr>
          <a:xfrm>
            <a:off x="2171700" y="2557462"/>
            <a:ext cx="342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encode</a:t>
            </a:r>
            <a:endParaRPr/>
          </a:p>
        </p:txBody>
      </p:sp>
      <p:sp>
        <p:nvSpPr>
          <p:cNvPr id="229" name="Google Shape;229;p16"/>
          <p:cNvSpPr txBox="1"/>
          <p:nvPr/>
        </p:nvSpPr>
        <p:spPr>
          <a:xfrm>
            <a:off x="2971800" y="2557462"/>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const</a:t>
            </a:r>
            <a:endParaRPr/>
          </a:p>
        </p:txBody>
      </p:sp>
      <p:sp>
        <p:nvSpPr>
          <p:cNvPr id="230" name="Google Shape;230;p16"/>
          <p:cNvSpPr txBox="1"/>
          <p:nvPr/>
        </p:nvSpPr>
        <p:spPr>
          <a:xfrm>
            <a:off x="4057650" y="2557462"/>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await</a:t>
            </a:r>
            <a:endParaRPr/>
          </a:p>
        </p:txBody>
      </p:sp>
      <p:sp>
        <p:nvSpPr>
          <p:cNvPr id="231" name="Google Shape;231;p16"/>
          <p:cNvSpPr txBox="1"/>
          <p:nvPr/>
        </p:nvSpPr>
        <p:spPr>
          <a:xfrm>
            <a:off x="1714500" y="2686050"/>
            <a:ext cx="342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digest</a:t>
            </a:r>
            <a:endParaRPr/>
          </a:p>
        </p:txBody>
      </p:sp>
      <p:sp>
        <p:nvSpPr>
          <p:cNvPr id="232" name="Google Shape;232;p16"/>
          <p:cNvSpPr txBox="1"/>
          <p:nvPr/>
        </p:nvSpPr>
        <p:spPr>
          <a:xfrm>
            <a:off x="2171700" y="2686050"/>
            <a:ext cx="5143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'SHA-256'</a:t>
            </a:r>
            <a:endParaRPr/>
          </a:p>
        </p:txBody>
      </p:sp>
      <p:sp>
        <p:nvSpPr>
          <p:cNvPr id="233" name="Google Shape;233;p16"/>
          <p:cNvSpPr txBox="1"/>
          <p:nvPr/>
        </p:nvSpPr>
        <p:spPr>
          <a:xfrm>
            <a:off x="3486150" y="2686050"/>
            <a:ext cx="342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return</a:t>
            </a:r>
            <a:endParaRPr/>
          </a:p>
        </p:txBody>
      </p:sp>
      <p:sp>
        <p:nvSpPr>
          <p:cNvPr id="234" name="Google Shape;234;p16"/>
          <p:cNvSpPr txBox="1"/>
          <p:nvPr/>
        </p:nvSpPr>
        <p:spPr>
          <a:xfrm>
            <a:off x="514350" y="2814637"/>
            <a:ext cx="6286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bufferToHex</a:t>
            </a:r>
            <a:endParaRPr/>
          </a:p>
        </p:txBody>
      </p:sp>
      <p:sp>
        <p:nvSpPr>
          <p:cNvPr id="235" name="Google Shape;235;p16"/>
          <p:cNvSpPr txBox="1"/>
          <p:nvPr/>
        </p:nvSpPr>
        <p:spPr>
          <a:xfrm>
            <a:off x="514350" y="4307681"/>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const</a:t>
            </a:r>
            <a:endParaRPr/>
          </a:p>
        </p:txBody>
      </p:sp>
      <p:sp>
        <p:nvSpPr>
          <p:cNvPr id="236" name="Google Shape;236;p16"/>
          <p:cNvSpPr txBox="1"/>
          <p:nvPr/>
        </p:nvSpPr>
        <p:spPr>
          <a:xfrm>
            <a:off x="1828800" y="4307681"/>
            <a:ext cx="11430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"integrity_analysis"</a:t>
            </a:r>
            <a:endParaRPr/>
          </a:p>
        </p:txBody>
      </p:sp>
      <p:sp>
        <p:nvSpPr>
          <p:cNvPr id="237" name="Google Shape;237;p16"/>
          <p:cNvSpPr txBox="1"/>
          <p:nvPr/>
        </p:nvSpPr>
        <p:spPr>
          <a:xfrm>
            <a:off x="4000500" y="4307681"/>
            <a:ext cx="4572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"object"</a:t>
            </a:r>
            <a:endParaRPr/>
          </a:p>
        </p:txBody>
      </p:sp>
      <p:sp>
        <p:nvSpPr>
          <p:cNvPr id="238" name="Google Shape;238;p16"/>
          <p:cNvSpPr txBox="1"/>
          <p:nvPr/>
        </p:nvSpPr>
        <p:spPr>
          <a:xfrm>
            <a:off x="1314450" y="4436268"/>
            <a:ext cx="4000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"score"</a:t>
            </a:r>
            <a:endParaRPr/>
          </a:p>
        </p:txBody>
      </p:sp>
      <p:sp>
        <p:nvSpPr>
          <p:cNvPr id="239" name="Google Shape;239;p16"/>
          <p:cNvSpPr txBox="1"/>
          <p:nvPr/>
        </p:nvSpPr>
        <p:spPr>
          <a:xfrm>
            <a:off x="2286000" y="4436268"/>
            <a:ext cx="4572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"number"</a:t>
            </a:r>
            <a:endParaRPr/>
          </a:p>
        </p:txBody>
      </p:sp>
      <p:sp>
        <p:nvSpPr>
          <p:cNvPr id="240" name="Google Shape;240;p16"/>
          <p:cNvSpPr txBox="1"/>
          <p:nvPr/>
        </p:nvSpPr>
        <p:spPr>
          <a:xfrm>
            <a:off x="2971800" y="4436268"/>
            <a:ext cx="10287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"flagged_segments"</a:t>
            </a:r>
            <a:endParaRPr/>
          </a:p>
        </p:txBody>
      </p:sp>
      <p:sp>
        <p:nvSpPr>
          <p:cNvPr id="241" name="Google Shape;241;p16"/>
          <p:cNvSpPr txBox="1"/>
          <p:nvPr/>
        </p:nvSpPr>
        <p:spPr>
          <a:xfrm>
            <a:off x="4572000" y="4436268"/>
            <a:ext cx="4000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"array"</a:t>
            </a:r>
            <a:endParaRPr/>
          </a:p>
        </p:txBody>
      </p:sp>
      <p:sp>
        <p:nvSpPr>
          <p:cNvPr id="242" name="Google Shape;242;p16"/>
          <p:cNvSpPr txBox="1"/>
          <p:nvPr/>
        </p:nvSpPr>
        <p:spPr>
          <a:xfrm>
            <a:off x="1371600" y="4564856"/>
            <a:ext cx="4572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"object"</a:t>
            </a:r>
            <a:endParaRPr/>
          </a:p>
        </p:txBody>
      </p:sp>
      <p:pic>
        <p:nvPicPr>
          <p:cNvPr id="3" name="Picture 2">
            <a:extLst>
              <a:ext uri="{FF2B5EF4-FFF2-40B4-BE49-F238E27FC236}">
                <a16:creationId xmlns:a16="http://schemas.microsoft.com/office/drawing/2014/main" id="{5707921C-C2CB-415C-BC50-CEB6C841E29A}"/>
              </a:ext>
            </a:extLst>
          </p:cNvPr>
          <p:cNvPicPr>
            <a:picLocks noChangeAspect="1"/>
          </p:cNvPicPr>
          <p:nvPr/>
        </p:nvPicPr>
        <p:blipFill>
          <a:blip r:embed="rId8"/>
          <a:stretch>
            <a:fillRect/>
          </a:stretch>
        </p:blipFill>
        <p:spPr>
          <a:xfrm>
            <a:off x="5554248" y="1257300"/>
            <a:ext cx="3105583" cy="358616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6"/>
        <p:cNvGrpSpPr/>
        <p:nvPr/>
      </p:nvGrpSpPr>
      <p:grpSpPr>
        <a:xfrm>
          <a:off x="0" y="0"/>
          <a:ext cx="0" cy="0"/>
          <a:chOff x="0" y="0"/>
          <a:chExt cx="0" cy="0"/>
        </a:xfrm>
      </p:grpSpPr>
      <p:pic>
        <p:nvPicPr>
          <p:cNvPr id="247" name="Google Shape;247;p17"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248" name="Google Shape;248;p17" descr="image.png"/>
          <p:cNvPicPr preferRelativeResize="0"/>
          <p:nvPr/>
        </p:nvPicPr>
        <p:blipFill rotWithShape="1">
          <a:blip r:embed="rId4">
            <a:alphaModFix/>
          </a:blip>
          <a:srcRect/>
          <a:stretch/>
        </p:blipFill>
        <p:spPr>
          <a:xfrm>
            <a:off x="5527811" y="1250156"/>
            <a:ext cx="3251856" cy="3600450"/>
          </a:xfrm>
          <a:prstGeom prst="rect">
            <a:avLst/>
          </a:prstGeom>
          <a:noFill/>
          <a:ln>
            <a:noFill/>
          </a:ln>
        </p:spPr>
      </p:pic>
      <p:pic>
        <p:nvPicPr>
          <p:cNvPr id="249" name="Google Shape;249;p17" descr="image.png"/>
          <p:cNvPicPr preferRelativeResize="0"/>
          <p:nvPr/>
        </p:nvPicPr>
        <p:blipFill rotWithShape="1">
          <a:blip r:embed="rId5">
            <a:alphaModFix/>
          </a:blip>
          <a:srcRect/>
          <a:stretch/>
        </p:blipFill>
        <p:spPr>
          <a:xfrm>
            <a:off x="364331" y="3686175"/>
            <a:ext cx="4877730" cy="1071562"/>
          </a:xfrm>
          <a:prstGeom prst="rect">
            <a:avLst/>
          </a:prstGeom>
          <a:noFill/>
          <a:ln>
            <a:noFill/>
          </a:ln>
        </p:spPr>
      </p:pic>
      <p:sp>
        <p:nvSpPr>
          <p:cNvPr id="250" name="Google Shape;250;p17"/>
          <p:cNvSpPr txBox="1"/>
          <p:nvPr/>
        </p:nvSpPr>
        <p:spPr>
          <a:xfrm>
            <a:off x="364331" y="292893"/>
            <a:ext cx="8779668" cy="364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0" i="0" u="none" strike="noStrike" cap="none">
                <a:solidFill>
                  <a:srgbClr val="FFFFFF"/>
                </a:solidFill>
                <a:latin typeface="Urbanist SemiBold"/>
                <a:ea typeface="Urbanist SemiBold"/>
                <a:cs typeface="Urbanist SemiBold"/>
                <a:sym typeface="Urbanist SemiBold"/>
              </a:rPr>
              <a:t>Technical Deep Dive: Verification Logic</a:t>
            </a:r>
            <a:endParaRPr/>
          </a:p>
        </p:txBody>
      </p:sp>
      <p:sp>
        <p:nvSpPr>
          <p:cNvPr id="251" name="Google Shape;251;p17"/>
          <p:cNvSpPr txBox="1"/>
          <p:nvPr/>
        </p:nvSpPr>
        <p:spPr>
          <a:xfrm>
            <a:off x="364331" y="785812"/>
            <a:ext cx="8415337"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Building the "Immutable Ledger" and Digital Certificates client-side.</a:t>
            </a:r>
            <a:endParaRPr/>
          </a:p>
        </p:txBody>
      </p:sp>
      <p:sp>
        <p:nvSpPr>
          <p:cNvPr id="252" name="Google Shape;252;p17"/>
          <p:cNvSpPr txBox="1"/>
          <p:nvPr/>
        </p:nvSpPr>
        <p:spPr>
          <a:xfrm>
            <a:off x="364331" y="1514475"/>
            <a:ext cx="5121616"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Urbanist"/>
                <a:ea typeface="Urbanist"/>
                <a:cs typeface="Urbanist"/>
                <a:sym typeface="Urbanist"/>
              </a:rPr>
              <a:t>3. The Ledger (MVP)</a:t>
            </a:r>
            <a:endParaRPr/>
          </a:p>
        </p:txBody>
      </p:sp>
      <p:sp>
        <p:nvSpPr>
          <p:cNvPr id="253" name="Google Shape;253;p17"/>
          <p:cNvSpPr txBox="1"/>
          <p:nvPr/>
        </p:nvSpPr>
        <p:spPr>
          <a:xfrm>
            <a:off x="364331" y="1850231"/>
            <a:ext cx="4877730"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For the prototype, we simulate a blockchain using a cryptographically linked list stored in </a:t>
            </a:r>
            <a:r>
              <a:rPr lang="en-US" sz="1012" b="1" i="0" u="none" strike="noStrike" cap="none">
                <a:solidFill>
                  <a:srgbClr val="CBD5E1"/>
                </a:solidFill>
                <a:latin typeface="Urbanist"/>
                <a:ea typeface="Urbanist"/>
                <a:cs typeface="Urbanist"/>
                <a:sym typeface="Urbanist"/>
              </a:rPr>
              <a:t>LocalStorage</a:t>
            </a:r>
            <a:r>
              <a:rPr lang="en-US" sz="1012" b="0" i="0" u="none" strike="noStrike" cap="none">
                <a:solidFill>
                  <a:srgbClr val="CBD5E1"/>
                </a:solidFill>
                <a:latin typeface="Urbanist"/>
                <a:ea typeface="Urbanist"/>
                <a:cs typeface="Urbanist"/>
                <a:sym typeface="Urbanist"/>
              </a:rPr>
              <a:t>. Each entry contains the hash of the previous state, ensuring tamper-evidence.</a:t>
            </a:r>
            <a:endParaRPr/>
          </a:p>
        </p:txBody>
      </p:sp>
      <p:sp>
        <p:nvSpPr>
          <p:cNvPr id="254" name="Google Shape;254;p17"/>
          <p:cNvSpPr txBox="1"/>
          <p:nvPr/>
        </p:nvSpPr>
        <p:spPr>
          <a:xfrm>
            <a:off x="364331" y="2643187"/>
            <a:ext cx="5121616"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Urbanist"/>
                <a:ea typeface="Urbanist"/>
                <a:cs typeface="Urbanist"/>
                <a:sym typeface="Urbanist"/>
              </a:rPr>
              <a:t>4. Certificate Generation</a:t>
            </a:r>
            <a:endParaRPr/>
          </a:p>
        </p:txBody>
      </p:sp>
      <p:sp>
        <p:nvSpPr>
          <p:cNvPr id="255" name="Google Shape;255;p17"/>
          <p:cNvSpPr txBox="1"/>
          <p:nvPr/>
        </p:nvSpPr>
        <p:spPr>
          <a:xfrm>
            <a:off x="364331" y="2978943"/>
            <a:ext cx="4877730"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We generate professional PDF certificates entirely in the browser using </a:t>
            </a:r>
            <a:r>
              <a:rPr lang="en-US" sz="1012" b="1" i="0" u="none" strike="noStrike" cap="none">
                <a:solidFill>
                  <a:srgbClr val="CBD5E1"/>
                </a:solidFill>
                <a:latin typeface="Urbanist"/>
                <a:ea typeface="Urbanist"/>
                <a:cs typeface="Urbanist"/>
                <a:sym typeface="Urbanist"/>
              </a:rPr>
              <a:t>jsPDF</a:t>
            </a:r>
            <a:r>
              <a:rPr lang="en-US" sz="1012" b="0" i="0" u="none" strike="noStrike" cap="none">
                <a:solidFill>
                  <a:srgbClr val="CBD5E1"/>
                </a:solidFill>
                <a:latin typeface="Urbanist"/>
                <a:ea typeface="Urbanist"/>
                <a:cs typeface="Urbanist"/>
                <a:sym typeface="Urbanist"/>
              </a:rPr>
              <a:t> and </a:t>
            </a:r>
            <a:r>
              <a:rPr lang="en-US" sz="1012" b="1" i="0" u="none" strike="noStrike" cap="none">
                <a:solidFill>
                  <a:srgbClr val="CBD5E1"/>
                </a:solidFill>
                <a:latin typeface="Urbanist"/>
                <a:ea typeface="Urbanist"/>
                <a:cs typeface="Urbanist"/>
                <a:sym typeface="Urbanist"/>
              </a:rPr>
              <a:t>qrcode.react</a:t>
            </a:r>
            <a:r>
              <a:rPr lang="en-US" sz="1012" b="0" i="0" u="none" strike="noStrike" cap="none">
                <a:solidFill>
                  <a:srgbClr val="CBD5E1"/>
                </a:solidFill>
                <a:latin typeface="Urbanist"/>
                <a:ea typeface="Urbanist"/>
                <a:cs typeface="Urbanist"/>
                <a:sym typeface="Urbanist"/>
              </a:rPr>
              <a:t>. This confirms the document's existence at a specific time without needing a server.</a:t>
            </a:r>
            <a:endParaRPr/>
          </a:p>
        </p:txBody>
      </p:sp>
      <p:pic>
        <p:nvPicPr>
          <p:cNvPr id="256" name="Google Shape;256;p17" descr="image.png"/>
          <p:cNvPicPr preferRelativeResize="0"/>
          <p:nvPr/>
        </p:nvPicPr>
        <p:blipFill rotWithShape="1">
          <a:blip r:embed="rId6">
            <a:alphaModFix/>
          </a:blip>
          <a:srcRect/>
          <a:stretch/>
        </p:blipFill>
        <p:spPr>
          <a:xfrm>
            <a:off x="5534955" y="1257300"/>
            <a:ext cx="2770658" cy="128587"/>
          </a:xfrm>
          <a:prstGeom prst="rect">
            <a:avLst/>
          </a:prstGeom>
          <a:noFill/>
          <a:ln>
            <a:noFill/>
          </a:ln>
        </p:spPr>
      </p:pic>
      <p:sp>
        <p:nvSpPr>
          <p:cNvPr id="257" name="Google Shape;257;p17"/>
          <p:cNvSpPr txBox="1"/>
          <p:nvPr/>
        </p:nvSpPr>
        <p:spPr>
          <a:xfrm>
            <a:off x="514350" y="3836193"/>
            <a:ext cx="1485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6A9955"/>
                </a:solidFill>
                <a:latin typeface="JetBrains Mono"/>
                <a:ea typeface="JetBrains Mono"/>
                <a:cs typeface="JetBrains Mono"/>
                <a:sym typeface="JetBrains Mono"/>
              </a:rPr>
              <a:t>// services/certificate.ts</a:t>
            </a:r>
            <a:endParaRPr/>
          </a:p>
        </p:txBody>
      </p:sp>
      <p:sp>
        <p:nvSpPr>
          <p:cNvPr id="258" name="Google Shape;258;p17"/>
          <p:cNvSpPr txBox="1"/>
          <p:nvPr/>
        </p:nvSpPr>
        <p:spPr>
          <a:xfrm>
            <a:off x="2057400" y="3836193"/>
            <a:ext cx="3429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import</a:t>
            </a:r>
            <a:endParaRPr/>
          </a:p>
        </p:txBody>
      </p:sp>
      <p:sp>
        <p:nvSpPr>
          <p:cNvPr id="259" name="Google Shape;259;p17"/>
          <p:cNvSpPr txBox="1"/>
          <p:nvPr/>
        </p:nvSpPr>
        <p:spPr>
          <a:xfrm>
            <a:off x="3028950" y="3836193"/>
            <a:ext cx="2286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from</a:t>
            </a:r>
            <a:endParaRPr/>
          </a:p>
        </p:txBody>
      </p:sp>
      <p:sp>
        <p:nvSpPr>
          <p:cNvPr id="260" name="Google Shape;260;p17"/>
          <p:cNvSpPr txBox="1"/>
          <p:nvPr/>
        </p:nvSpPr>
        <p:spPr>
          <a:xfrm>
            <a:off x="3314700" y="3836193"/>
            <a:ext cx="4000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"jspdf"</a:t>
            </a:r>
            <a:endParaRPr/>
          </a:p>
        </p:txBody>
      </p:sp>
      <p:sp>
        <p:nvSpPr>
          <p:cNvPr id="261" name="Google Shape;261;p17"/>
          <p:cNvSpPr txBox="1"/>
          <p:nvPr/>
        </p:nvSpPr>
        <p:spPr>
          <a:xfrm>
            <a:off x="3829050" y="3836193"/>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const</a:t>
            </a:r>
            <a:endParaRPr/>
          </a:p>
        </p:txBody>
      </p:sp>
      <p:sp>
        <p:nvSpPr>
          <p:cNvPr id="262" name="Google Shape;262;p17"/>
          <p:cNvSpPr txBox="1"/>
          <p:nvPr/>
        </p:nvSpPr>
        <p:spPr>
          <a:xfrm>
            <a:off x="4514850" y="3836193"/>
            <a:ext cx="1714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new</a:t>
            </a:r>
            <a:endParaRPr/>
          </a:p>
        </p:txBody>
      </p:sp>
      <p:sp>
        <p:nvSpPr>
          <p:cNvPr id="263" name="Google Shape;263;p17"/>
          <p:cNvSpPr txBox="1"/>
          <p:nvPr/>
        </p:nvSpPr>
        <p:spPr>
          <a:xfrm>
            <a:off x="514350" y="3964781"/>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jsPDF</a:t>
            </a:r>
            <a:endParaRPr/>
          </a:p>
        </p:txBody>
      </p:sp>
      <p:sp>
        <p:nvSpPr>
          <p:cNvPr id="264" name="Google Shape;264;p17"/>
          <p:cNvSpPr txBox="1"/>
          <p:nvPr/>
        </p:nvSpPr>
        <p:spPr>
          <a:xfrm>
            <a:off x="1257300" y="3964781"/>
            <a:ext cx="2286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text</a:t>
            </a:r>
            <a:endParaRPr/>
          </a:p>
        </p:txBody>
      </p:sp>
      <p:sp>
        <p:nvSpPr>
          <p:cNvPr id="265" name="Google Shape;265;p17"/>
          <p:cNvSpPr txBox="1"/>
          <p:nvPr/>
        </p:nvSpPr>
        <p:spPr>
          <a:xfrm>
            <a:off x="1543050" y="3964781"/>
            <a:ext cx="16002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"Certificate of Originality"</a:t>
            </a:r>
            <a:endParaRPr/>
          </a:p>
        </p:txBody>
      </p:sp>
      <p:sp>
        <p:nvSpPr>
          <p:cNvPr id="266" name="Google Shape;266;p17"/>
          <p:cNvSpPr txBox="1"/>
          <p:nvPr/>
        </p:nvSpPr>
        <p:spPr>
          <a:xfrm>
            <a:off x="4000500" y="3964781"/>
            <a:ext cx="2286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text</a:t>
            </a:r>
            <a:endParaRPr/>
          </a:p>
        </p:txBody>
      </p:sp>
      <p:sp>
        <p:nvSpPr>
          <p:cNvPr id="267" name="Google Shape;267;p17"/>
          <p:cNvSpPr txBox="1"/>
          <p:nvPr/>
        </p:nvSpPr>
        <p:spPr>
          <a:xfrm>
            <a:off x="514350" y="3964781"/>
            <a:ext cx="411480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`Hash: ${submissionHash}`</a:t>
            </a:r>
            <a:endParaRPr/>
          </a:p>
        </p:txBody>
      </p:sp>
      <p:sp>
        <p:nvSpPr>
          <p:cNvPr id="268" name="Google Shape;268;p17"/>
          <p:cNvSpPr txBox="1"/>
          <p:nvPr/>
        </p:nvSpPr>
        <p:spPr>
          <a:xfrm>
            <a:off x="2171700" y="4093368"/>
            <a:ext cx="26860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6A9955"/>
                </a:solidFill>
                <a:latin typeface="JetBrains Mono"/>
                <a:ea typeface="JetBrains Mono"/>
                <a:cs typeface="JetBrains Mono"/>
                <a:sym typeface="JetBrains Mono"/>
              </a:rPr>
              <a:t>// Embed QR Code linking to verification portal</a:t>
            </a:r>
            <a:endParaRPr/>
          </a:p>
        </p:txBody>
      </p:sp>
      <p:sp>
        <p:nvSpPr>
          <p:cNvPr id="269" name="Google Shape;269;p17"/>
          <p:cNvSpPr txBox="1"/>
          <p:nvPr/>
        </p:nvSpPr>
        <p:spPr>
          <a:xfrm>
            <a:off x="514350" y="4221956"/>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586C0"/>
                </a:solidFill>
                <a:latin typeface="JetBrains Mono"/>
                <a:ea typeface="JetBrains Mono"/>
                <a:cs typeface="JetBrains Mono"/>
                <a:sym typeface="JetBrains Mono"/>
              </a:rPr>
              <a:t>const</a:t>
            </a:r>
            <a:endParaRPr/>
          </a:p>
        </p:txBody>
      </p:sp>
      <p:sp>
        <p:nvSpPr>
          <p:cNvPr id="270" name="Google Shape;270;p17"/>
          <p:cNvSpPr txBox="1"/>
          <p:nvPr/>
        </p:nvSpPr>
        <p:spPr>
          <a:xfrm>
            <a:off x="1314450" y="4221956"/>
            <a:ext cx="26860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`https://guardian.edu/verify/${submissionHash}`</a:t>
            </a:r>
            <a:endParaRPr/>
          </a:p>
        </p:txBody>
      </p:sp>
      <p:sp>
        <p:nvSpPr>
          <p:cNvPr id="271" name="Google Shape;271;p17"/>
          <p:cNvSpPr txBox="1"/>
          <p:nvPr/>
        </p:nvSpPr>
        <p:spPr>
          <a:xfrm>
            <a:off x="742950" y="4350543"/>
            <a:ext cx="4572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addImage</a:t>
            </a:r>
            <a:endParaRPr/>
          </a:p>
        </p:txBody>
      </p:sp>
      <p:sp>
        <p:nvSpPr>
          <p:cNvPr id="272" name="Google Shape;272;p17"/>
          <p:cNvSpPr txBox="1"/>
          <p:nvPr/>
        </p:nvSpPr>
        <p:spPr>
          <a:xfrm>
            <a:off x="2114550" y="4350543"/>
            <a:ext cx="28575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'PNG'</a:t>
            </a:r>
            <a:endParaRPr/>
          </a:p>
        </p:txBody>
      </p:sp>
      <p:sp>
        <p:nvSpPr>
          <p:cNvPr id="273" name="Google Shape;273;p17"/>
          <p:cNvSpPr txBox="1"/>
          <p:nvPr/>
        </p:nvSpPr>
        <p:spPr>
          <a:xfrm>
            <a:off x="742950" y="4479131"/>
            <a:ext cx="2286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DCDCAA"/>
                </a:solidFill>
                <a:latin typeface="JetBrains Mono"/>
                <a:ea typeface="JetBrains Mono"/>
                <a:cs typeface="JetBrains Mono"/>
                <a:sym typeface="JetBrains Mono"/>
              </a:rPr>
              <a:t>save</a:t>
            </a:r>
            <a:endParaRPr/>
          </a:p>
        </p:txBody>
      </p:sp>
      <p:sp>
        <p:nvSpPr>
          <p:cNvPr id="274" name="Google Shape;274;p17"/>
          <p:cNvSpPr txBox="1"/>
          <p:nvPr/>
        </p:nvSpPr>
        <p:spPr>
          <a:xfrm>
            <a:off x="1028700" y="4479131"/>
            <a:ext cx="1143000"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0" i="0" u="none" strike="noStrike" cap="none">
                <a:solidFill>
                  <a:srgbClr val="CE9178"/>
                </a:solidFill>
                <a:latin typeface="JetBrains Mono"/>
                <a:ea typeface="JetBrains Mono"/>
                <a:cs typeface="JetBrains Mono"/>
                <a:sym typeface="JetBrains Mono"/>
              </a:rPr>
              <a:t>"integrity_cert.pdf"</a:t>
            </a:r>
            <a:endParaRPr/>
          </a:p>
        </p:txBody>
      </p:sp>
      <p:pic>
        <p:nvPicPr>
          <p:cNvPr id="3" name="Picture 2">
            <a:extLst>
              <a:ext uri="{FF2B5EF4-FFF2-40B4-BE49-F238E27FC236}">
                <a16:creationId xmlns:a16="http://schemas.microsoft.com/office/drawing/2014/main" id="{648CA22D-A2F6-FDCE-E153-E2CB848F6A07}"/>
              </a:ext>
            </a:extLst>
          </p:cNvPr>
          <p:cNvPicPr>
            <a:picLocks noChangeAspect="1"/>
          </p:cNvPicPr>
          <p:nvPr/>
        </p:nvPicPr>
        <p:blipFill>
          <a:blip r:embed="rId7"/>
          <a:stretch>
            <a:fillRect/>
          </a:stretch>
        </p:blipFill>
        <p:spPr>
          <a:xfrm>
            <a:off x="5527811" y="1257300"/>
            <a:ext cx="3096057" cy="35933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5" name="Google Shape;85;p13"/>
          <p:cNvSpPr txBox="1"/>
          <p:nvPr/>
        </p:nvSpPr>
        <p:spPr>
          <a:xfrm>
            <a:off x="364331" y="292893"/>
            <a:ext cx="8779668" cy="4154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700" dirty="0">
                <a:solidFill>
                  <a:srgbClr val="FFFFFF"/>
                </a:solidFill>
                <a:latin typeface="Urbanist SemiBold"/>
                <a:ea typeface="Urbanist SemiBold"/>
                <a:cs typeface="Urbanist SemiBold"/>
                <a:sym typeface="Urbanist SemiBold"/>
              </a:rPr>
              <a:t>Implementation</a:t>
            </a:r>
            <a:endParaRPr dirty="0"/>
          </a:p>
        </p:txBody>
      </p:sp>
      <p:sp>
        <p:nvSpPr>
          <p:cNvPr id="86" name="Google Shape;86;p13"/>
          <p:cNvSpPr/>
          <p:nvPr/>
        </p:nvSpPr>
        <p:spPr>
          <a:xfrm>
            <a:off x="364331" y="850106"/>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DD0AFE1F-7E03-83E6-2919-8BF0B6CD6E92}"/>
              </a:ext>
            </a:extLst>
          </p:cNvPr>
          <p:cNvPicPr>
            <a:picLocks noChangeAspect="1"/>
          </p:cNvPicPr>
          <p:nvPr/>
        </p:nvPicPr>
        <p:blipFill>
          <a:blip r:embed="rId4"/>
          <a:stretch>
            <a:fillRect/>
          </a:stretch>
        </p:blipFill>
        <p:spPr>
          <a:xfrm>
            <a:off x="364331" y="1191283"/>
            <a:ext cx="3735720" cy="3410443"/>
          </a:xfrm>
          <a:prstGeom prst="rect">
            <a:avLst/>
          </a:prstGeom>
        </p:spPr>
      </p:pic>
      <p:pic>
        <p:nvPicPr>
          <p:cNvPr id="5" name="Picture 4">
            <a:extLst>
              <a:ext uri="{FF2B5EF4-FFF2-40B4-BE49-F238E27FC236}">
                <a16:creationId xmlns:a16="http://schemas.microsoft.com/office/drawing/2014/main" id="{CFF56471-68ED-80E6-7B61-D8C0BD665F15}"/>
              </a:ext>
            </a:extLst>
          </p:cNvPr>
          <p:cNvPicPr>
            <a:picLocks noChangeAspect="1"/>
          </p:cNvPicPr>
          <p:nvPr/>
        </p:nvPicPr>
        <p:blipFill>
          <a:blip r:embed="rId5"/>
          <a:stretch>
            <a:fillRect/>
          </a:stretch>
        </p:blipFill>
        <p:spPr>
          <a:xfrm>
            <a:off x="4638367" y="1191283"/>
            <a:ext cx="4225413" cy="341044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a:extLst>
            <a:ext uri="{FF2B5EF4-FFF2-40B4-BE49-F238E27FC236}">
              <a16:creationId xmlns:a16="http://schemas.microsoft.com/office/drawing/2014/main" id="{B8D3BA25-D06E-0851-F51E-89F81606BD02}"/>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9DB67D2D-F407-B0BA-E55D-9CA3796F5758}"/>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5" name="Google Shape;85;p13">
            <a:extLst>
              <a:ext uri="{FF2B5EF4-FFF2-40B4-BE49-F238E27FC236}">
                <a16:creationId xmlns:a16="http://schemas.microsoft.com/office/drawing/2014/main" id="{48C10D9C-5CB3-8D9C-0429-C35108220C9F}"/>
              </a:ext>
            </a:extLst>
          </p:cNvPr>
          <p:cNvSpPr txBox="1"/>
          <p:nvPr/>
        </p:nvSpPr>
        <p:spPr>
          <a:xfrm>
            <a:off x="364331" y="292893"/>
            <a:ext cx="8779668" cy="4154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700" dirty="0">
                <a:solidFill>
                  <a:srgbClr val="FFFFFF"/>
                </a:solidFill>
                <a:latin typeface="Urbanist SemiBold"/>
                <a:ea typeface="Urbanist SemiBold"/>
                <a:cs typeface="Urbanist SemiBold"/>
                <a:sym typeface="Urbanist SemiBold"/>
              </a:rPr>
              <a:t>Implementation</a:t>
            </a:r>
            <a:endParaRPr dirty="0"/>
          </a:p>
        </p:txBody>
      </p:sp>
      <p:sp>
        <p:nvSpPr>
          <p:cNvPr id="86" name="Google Shape;86;p13">
            <a:extLst>
              <a:ext uri="{FF2B5EF4-FFF2-40B4-BE49-F238E27FC236}">
                <a16:creationId xmlns:a16="http://schemas.microsoft.com/office/drawing/2014/main" id="{DCCC7262-619B-9723-3D7D-27272413C971}"/>
              </a:ext>
            </a:extLst>
          </p:cNvPr>
          <p:cNvSpPr/>
          <p:nvPr/>
        </p:nvSpPr>
        <p:spPr>
          <a:xfrm>
            <a:off x="364331" y="850106"/>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C450EC29-45DA-F7F9-B2BC-0DD1359EBEA9}"/>
              </a:ext>
            </a:extLst>
          </p:cNvPr>
          <p:cNvPicPr>
            <a:picLocks noChangeAspect="1"/>
          </p:cNvPicPr>
          <p:nvPr/>
        </p:nvPicPr>
        <p:blipFill>
          <a:blip r:embed="rId4"/>
          <a:stretch>
            <a:fillRect/>
          </a:stretch>
        </p:blipFill>
        <p:spPr>
          <a:xfrm>
            <a:off x="627630" y="998964"/>
            <a:ext cx="3265943" cy="3885969"/>
          </a:xfrm>
          <a:prstGeom prst="rect">
            <a:avLst/>
          </a:prstGeom>
        </p:spPr>
      </p:pic>
      <p:pic>
        <p:nvPicPr>
          <p:cNvPr id="7" name="Picture 6">
            <a:extLst>
              <a:ext uri="{FF2B5EF4-FFF2-40B4-BE49-F238E27FC236}">
                <a16:creationId xmlns:a16="http://schemas.microsoft.com/office/drawing/2014/main" id="{B931A23D-9752-2B02-F4AB-57862B2238F4}"/>
              </a:ext>
            </a:extLst>
          </p:cNvPr>
          <p:cNvPicPr>
            <a:picLocks noChangeAspect="1"/>
          </p:cNvPicPr>
          <p:nvPr/>
        </p:nvPicPr>
        <p:blipFill>
          <a:blip r:embed="rId5"/>
          <a:stretch>
            <a:fillRect/>
          </a:stretch>
        </p:blipFill>
        <p:spPr>
          <a:xfrm>
            <a:off x="4572000" y="998964"/>
            <a:ext cx="3738717" cy="3851642"/>
          </a:xfrm>
          <a:prstGeom prst="rect">
            <a:avLst/>
          </a:prstGeom>
        </p:spPr>
      </p:pic>
    </p:spTree>
    <p:extLst>
      <p:ext uri="{BB962C8B-B14F-4D97-AF65-F5344CB8AC3E}">
        <p14:creationId xmlns:p14="http://schemas.microsoft.com/office/powerpoint/2010/main" val="2465257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3"/>
        <p:cNvGrpSpPr/>
        <p:nvPr/>
      </p:nvGrpSpPr>
      <p:grpSpPr>
        <a:xfrm>
          <a:off x="0" y="0"/>
          <a:ext cx="0" cy="0"/>
          <a:chOff x="0" y="0"/>
          <a:chExt cx="0" cy="0"/>
        </a:xfrm>
      </p:grpSpPr>
      <p:pic>
        <p:nvPicPr>
          <p:cNvPr id="204" name="Google Shape;204;p20"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205" name="Google Shape;205;p20" descr="image.png"/>
          <p:cNvPicPr preferRelativeResize="0"/>
          <p:nvPr/>
        </p:nvPicPr>
        <p:blipFill rotWithShape="1">
          <a:blip r:embed="rId4">
            <a:alphaModFix/>
          </a:blip>
          <a:srcRect/>
          <a:stretch/>
        </p:blipFill>
        <p:spPr>
          <a:xfrm>
            <a:off x="364331" y="2032396"/>
            <a:ext cx="8415337" cy="1964531"/>
          </a:xfrm>
          <a:prstGeom prst="rect">
            <a:avLst/>
          </a:prstGeom>
          <a:noFill/>
          <a:ln>
            <a:noFill/>
          </a:ln>
        </p:spPr>
      </p:pic>
      <p:sp>
        <p:nvSpPr>
          <p:cNvPr id="206" name="Google Shape;206;p20"/>
          <p:cNvSpPr txBox="1"/>
          <p:nvPr/>
        </p:nvSpPr>
        <p:spPr>
          <a:xfrm>
            <a:off x="5036343" y="2032396"/>
            <a:ext cx="3930491"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3" b="1" i="0" u="none" strike="noStrike" cap="none">
                <a:solidFill>
                  <a:srgbClr val="FFFFFF"/>
                </a:solidFill>
                <a:latin typeface="Urbanist"/>
                <a:ea typeface="Urbanist"/>
                <a:cs typeface="Urbanist"/>
                <a:sym typeface="Urbanist"/>
              </a:rPr>
              <a:t>User Feedback</a:t>
            </a:r>
            <a:endParaRPr/>
          </a:p>
        </p:txBody>
      </p:sp>
      <p:sp>
        <p:nvSpPr>
          <p:cNvPr id="207" name="Google Shape;207;p20"/>
          <p:cNvSpPr txBox="1"/>
          <p:nvPr/>
        </p:nvSpPr>
        <p:spPr>
          <a:xfrm>
            <a:off x="5036343" y="2339577"/>
            <a:ext cx="37433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a:solidFill>
                  <a:srgbClr val="CBD5E1"/>
                </a:solidFill>
                <a:latin typeface="Urbanist"/>
                <a:ea typeface="Urbanist"/>
                <a:cs typeface="Urbanist"/>
                <a:sym typeface="Urbanist"/>
              </a:rPr>
              <a:t>"Finally, I can check my draft without worrying that my paper is being stolen by a database."</a:t>
            </a:r>
            <a:r>
              <a:rPr lang="en-US" sz="1125" b="0" i="0" u="none" strike="noStrike" cap="none">
                <a:solidFill>
                  <a:srgbClr val="CBD5E1"/>
                </a:solidFill>
                <a:latin typeface="Urbanist"/>
                <a:ea typeface="Urbanist"/>
                <a:cs typeface="Urbanist"/>
                <a:sym typeface="Urbanist"/>
              </a:rPr>
              <a:t> — Student Participant</a:t>
            </a:r>
            <a:endParaRPr/>
          </a:p>
        </p:txBody>
      </p:sp>
      <p:sp>
        <p:nvSpPr>
          <p:cNvPr id="208" name="Google Shape;208;p20"/>
          <p:cNvSpPr txBox="1"/>
          <p:nvPr/>
        </p:nvSpPr>
        <p:spPr>
          <a:xfrm>
            <a:off x="5036343" y="3168252"/>
            <a:ext cx="374332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a:solidFill>
                  <a:srgbClr val="CBD5E1"/>
                </a:solidFill>
                <a:latin typeface="Urbanist"/>
                <a:ea typeface="Urbanist"/>
                <a:cs typeface="Urbanist"/>
                <a:sym typeface="Urbanist"/>
              </a:rPr>
              <a:t>"The heatmap helps me teach students HOW to paraphrase, rather than just punishing them."</a:t>
            </a:r>
            <a:r>
              <a:rPr lang="en-US" sz="1125" b="0" i="0" u="none" strike="noStrike" cap="none">
                <a:solidFill>
                  <a:srgbClr val="CBD5E1"/>
                </a:solidFill>
                <a:latin typeface="Urbanist"/>
                <a:ea typeface="Urbanist"/>
                <a:cs typeface="Urbanist"/>
                <a:sym typeface="Urbanist"/>
              </a:rPr>
              <a:t> — Faculty Tester</a:t>
            </a:r>
            <a:endParaRPr/>
          </a:p>
        </p:txBody>
      </p:sp>
      <p:sp>
        <p:nvSpPr>
          <p:cNvPr id="209" name="Google Shape;209;p20"/>
          <p:cNvSpPr txBox="1"/>
          <p:nvPr/>
        </p:nvSpPr>
        <p:spPr>
          <a:xfrm>
            <a:off x="364331" y="1146571"/>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Phase V: Testing &amp; Validation</a:t>
            </a:r>
            <a:endParaRPr/>
          </a:p>
        </p:txBody>
      </p:sp>
      <p:sp>
        <p:nvSpPr>
          <p:cNvPr id="210" name="Google Shape;210;p20"/>
          <p:cNvSpPr/>
          <p:nvPr/>
        </p:nvSpPr>
        <p:spPr>
          <a:xfrm>
            <a:off x="364331" y="1668065"/>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750593" y="1679562"/>
            <a:ext cx="4029075" cy="263448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364331" y="2578893"/>
            <a:ext cx="4029075" cy="85725"/>
          </a:xfrm>
          <a:prstGeom prst="rect">
            <a:avLst/>
          </a:prstGeom>
          <a:noFill/>
          <a:ln>
            <a:noFill/>
          </a:ln>
        </p:spPr>
      </p:pic>
      <p:pic>
        <p:nvPicPr>
          <p:cNvPr id="87" name="Google Shape;87;p13" descr="image.png"/>
          <p:cNvPicPr preferRelativeResize="0"/>
          <p:nvPr/>
        </p:nvPicPr>
        <p:blipFill rotWithShape="1">
          <a:blip r:embed="rId5">
            <a:alphaModFix/>
          </a:blip>
          <a:srcRect/>
          <a:stretch/>
        </p:blipFill>
        <p:spPr>
          <a:xfrm>
            <a:off x="364331" y="3028950"/>
            <a:ext cx="4029075" cy="85725"/>
          </a:xfrm>
          <a:prstGeom prst="rect">
            <a:avLst/>
          </a:prstGeom>
          <a:noFill/>
          <a:ln>
            <a:noFill/>
          </a:ln>
        </p:spPr>
      </p:pic>
      <p:pic>
        <p:nvPicPr>
          <p:cNvPr id="88" name="Google Shape;88;p13" descr="image.png"/>
          <p:cNvPicPr preferRelativeResize="0"/>
          <p:nvPr/>
        </p:nvPicPr>
        <p:blipFill rotWithShape="1">
          <a:blip r:embed="rId5">
            <a:alphaModFix/>
          </a:blip>
          <a:srcRect/>
          <a:stretch/>
        </p:blipFill>
        <p:spPr>
          <a:xfrm>
            <a:off x="364331" y="3479006"/>
            <a:ext cx="4029075" cy="85725"/>
          </a:xfrm>
          <a:prstGeom prst="rect">
            <a:avLst/>
          </a:prstGeom>
          <a:noFill/>
          <a:ln>
            <a:noFill/>
          </a:ln>
        </p:spPr>
      </p:pic>
      <p:pic>
        <p:nvPicPr>
          <p:cNvPr id="89" name="Google Shape;89;p13" descr="image.png"/>
          <p:cNvPicPr preferRelativeResize="0"/>
          <p:nvPr/>
        </p:nvPicPr>
        <p:blipFill rotWithShape="1">
          <a:blip r:embed="rId5">
            <a:alphaModFix/>
          </a:blip>
          <a:srcRect/>
          <a:stretch/>
        </p:blipFill>
        <p:spPr>
          <a:xfrm>
            <a:off x="364331" y="3929062"/>
            <a:ext cx="4029075" cy="85725"/>
          </a:xfrm>
          <a:prstGeom prst="rect">
            <a:avLst/>
          </a:prstGeom>
          <a:noFill/>
          <a:ln>
            <a:noFill/>
          </a:ln>
        </p:spPr>
      </p:pic>
      <p:sp>
        <p:nvSpPr>
          <p:cNvPr id="90" name="Google Shape;90;p13"/>
          <p:cNvSpPr txBox="1"/>
          <p:nvPr/>
        </p:nvSpPr>
        <p:spPr>
          <a:xfrm>
            <a:off x="364331" y="1971675"/>
            <a:ext cx="4230528"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User Feedback (N=50 Students)</a:t>
            </a:r>
            <a:endParaRPr/>
          </a:p>
        </p:txBody>
      </p:sp>
      <p:sp>
        <p:nvSpPr>
          <p:cNvPr id="91" name="Google Shape;91;p13"/>
          <p:cNvSpPr txBox="1"/>
          <p:nvPr/>
        </p:nvSpPr>
        <p:spPr>
          <a:xfrm>
            <a:off x="5043487" y="2143905"/>
            <a:ext cx="3615451" cy="207168"/>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350" b="1" i="0" u="none" strike="noStrike" cap="none">
                <a:solidFill>
                  <a:srgbClr val="10B981"/>
                </a:solidFill>
                <a:latin typeface="Urbanist"/>
                <a:ea typeface="Urbanist"/>
                <a:cs typeface="Urbanist"/>
                <a:sym typeface="Urbanist"/>
              </a:rPr>
              <a:t>Qualitative Feedback</a:t>
            </a:r>
            <a:endParaRPr/>
          </a:p>
        </p:txBody>
      </p:sp>
      <p:sp>
        <p:nvSpPr>
          <p:cNvPr id="92" name="Google Shape;92;p13"/>
          <p:cNvSpPr txBox="1"/>
          <p:nvPr/>
        </p:nvSpPr>
        <p:spPr>
          <a:xfrm>
            <a:off x="5150643" y="2479662"/>
            <a:ext cx="3336131" cy="61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012" b="0" i="1" u="none" strike="noStrike" cap="none">
                <a:solidFill>
                  <a:srgbClr val="CBD5E1"/>
                </a:solidFill>
                <a:latin typeface="Urbanist"/>
                <a:ea typeface="Urbanist"/>
                <a:cs typeface="Urbanist"/>
                <a:sym typeface="Urbanist"/>
              </a:rPr>
              <a:t>"The 'Zen Mode' actually helped me write. I usually get paralyzed thinking about the plagiarism checker, but this felt like a coach, not a cop."</a:t>
            </a:r>
            <a:endParaRPr/>
          </a:p>
        </p:txBody>
      </p:sp>
      <p:sp>
        <p:nvSpPr>
          <p:cNvPr id="93" name="Google Shape;93;p13"/>
          <p:cNvSpPr/>
          <p:nvPr/>
        </p:nvSpPr>
        <p:spPr>
          <a:xfrm>
            <a:off x="5043487" y="2479662"/>
            <a:ext cx="28575" cy="617152"/>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94" name="Google Shape;94;p13"/>
          <p:cNvSpPr txBox="1"/>
          <p:nvPr/>
        </p:nvSpPr>
        <p:spPr>
          <a:xfrm>
            <a:off x="5150643" y="3275409"/>
            <a:ext cx="3336131" cy="61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012" b="0" i="1" u="none" strike="noStrike" cap="none">
                <a:solidFill>
                  <a:srgbClr val="CBD5E1"/>
                </a:solidFill>
                <a:latin typeface="Urbanist"/>
                <a:ea typeface="Urbanist"/>
                <a:cs typeface="Urbanist"/>
                <a:sym typeface="Urbanist"/>
              </a:rPr>
              <a:t>"I downloaded the certificate and put it on my LinkedIn. It's cool to have actual proof that I wrote my own thesis without giving my data to Turnitin."</a:t>
            </a:r>
            <a:endParaRPr/>
          </a:p>
        </p:txBody>
      </p:sp>
      <p:sp>
        <p:nvSpPr>
          <p:cNvPr id="95" name="Google Shape;95;p13"/>
          <p:cNvSpPr/>
          <p:nvPr/>
        </p:nvSpPr>
        <p:spPr>
          <a:xfrm>
            <a:off x="5043487" y="3275409"/>
            <a:ext cx="28575" cy="617152"/>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96" name="Google Shape;96;p13"/>
          <p:cNvSpPr txBox="1"/>
          <p:nvPr/>
        </p:nvSpPr>
        <p:spPr>
          <a:xfrm>
            <a:off x="364331" y="2393156"/>
            <a:ext cx="4029075"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Times"/>
                <a:ea typeface="Times"/>
                <a:cs typeface="Times"/>
                <a:sym typeface="Times"/>
              </a:rPr>
              <a:t>Reduced Anxiety vs. Traditional Tools </a:t>
            </a:r>
            <a:r>
              <a:rPr lang="en-US" sz="900" b="0" i="0" u="none" strike="noStrike" cap="none">
                <a:solidFill>
                  <a:srgbClr val="10B981"/>
                </a:solidFill>
                <a:latin typeface="Times"/>
                <a:ea typeface="Times"/>
                <a:cs typeface="Times"/>
                <a:sym typeface="Times"/>
              </a:rPr>
              <a:t>88% Positive</a:t>
            </a:r>
            <a:endParaRPr/>
          </a:p>
        </p:txBody>
      </p:sp>
      <p:sp>
        <p:nvSpPr>
          <p:cNvPr id="97" name="Google Shape;97;p13"/>
          <p:cNvSpPr txBox="1"/>
          <p:nvPr/>
        </p:nvSpPr>
        <p:spPr>
          <a:xfrm>
            <a:off x="364331" y="2843212"/>
            <a:ext cx="4029075"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Times"/>
                <a:ea typeface="Times"/>
                <a:cs typeface="Times"/>
                <a:sym typeface="Times"/>
              </a:rPr>
              <a:t>Clarity of "Glass Box" Heatmap </a:t>
            </a:r>
            <a:r>
              <a:rPr lang="en-US" sz="900" b="0" i="0" u="none" strike="noStrike" cap="none">
                <a:solidFill>
                  <a:srgbClr val="3B82F6"/>
                </a:solidFill>
                <a:latin typeface="Times"/>
                <a:ea typeface="Times"/>
                <a:cs typeface="Times"/>
                <a:sym typeface="Times"/>
              </a:rPr>
              <a:t>94% Positive</a:t>
            </a:r>
            <a:endParaRPr/>
          </a:p>
        </p:txBody>
      </p:sp>
      <p:sp>
        <p:nvSpPr>
          <p:cNvPr id="98" name="Google Shape;98;p13"/>
          <p:cNvSpPr txBox="1"/>
          <p:nvPr/>
        </p:nvSpPr>
        <p:spPr>
          <a:xfrm>
            <a:off x="364331" y="3293268"/>
            <a:ext cx="4029075"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Times"/>
                <a:ea typeface="Times"/>
                <a:cs typeface="Times"/>
                <a:sym typeface="Times"/>
              </a:rPr>
              <a:t>Trust in "Local-Only" Privacy </a:t>
            </a:r>
            <a:r>
              <a:rPr lang="en-US" sz="900" b="0" i="0" u="none" strike="noStrike" cap="none">
                <a:solidFill>
                  <a:srgbClr val="F59E0B"/>
                </a:solidFill>
                <a:latin typeface="Times"/>
                <a:ea typeface="Times"/>
                <a:cs typeface="Times"/>
                <a:sym typeface="Times"/>
              </a:rPr>
              <a:t>76% Positive</a:t>
            </a:r>
            <a:endParaRPr/>
          </a:p>
        </p:txBody>
      </p:sp>
      <p:sp>
        <p:nvSpPr>
          <p:cNvPr id="99" name="Google Shape;99;p13"/>
          <p:cNvSpPr txBox="1"/>
          <p:nvPr/>
        </p:nvSpPr>
        <p:spPr>
          <a:xfrm>
            <a:off x="364331" y="3743325"/>
            <a:ext cx="4029075" cy="1285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Times"/>
                <a:ea typeface="Times"/>
                <a:cs typeface="Times"/>
                <a:sym typeface="Times"/>
              </a:rPr>
              <a:t>Ease of Certificate Generation </a:t>
            </a:r>
            <a:r>
              <a:rPr lang="en-US" sz="900" b="0" i="0" u="none" strike="noStrike" cap="none">
                <a:solidFill>
                  <a:srgbClr val="A855F7"/>
                </a:solidFill>
                <a:latin typeface="Times"/>
                <a:ea typeface="Times"/>
                <a:cs typeface="Times"/>
                <a:sym typeface="Times"/>
              </a:rPr>
              <a:t>92% Positive</a:t>
            </a:r>
            <a:endParaRPr/>
          </a:p>
        </p:txBody>
      </p:sp>
      <p:pic>
        <p:nvPicPr>
          <p:cNvPr id="100" name="Google Shape;100;p13" descr="image.png"/>
          <p:cNvPicPr preferRelativeResize="0"/>
          <p:nvPr/>
        </p:nvPicPr>
        <p:blipFill rotWithShape="1">
          <a:blip r:embed="rId6">
            <a:alphaModFix/>
          </a:blip>
          <a:srcRect/>
          <a:stretch/>
        </p:blipFill>
        <p:spPr>
          <a:xfrm>
            <a:off x="5043487" y="2158193"/>
            <a:ext cx="171450" cy="171450"/>
          </a:xfrm>
          <a:prstGeom prst="rect">
            <a:avLst/>
          </a:prstGeom>
          <a:noFill/>
          <a:ln>
            <a:noFill/>
          </a:ln>
        </p:spPr>
      </p:pic>
      <p:sp>
        <p:nvSpPr>
          <p:cNvPr id="101" name="Google Shape;101;p13"/>
          <p:cNvSpPr/>
          <p:nvPr/>
        </p:nvSpPr>
        <p:spPr>
          <a:xfrm>
            <a:off x="364331" y="2578893"/>
            <a:ext cx="3545532" cy="85725"/>
          </a:xfrm>
          <a:prstGeom prst="roundRect">
            <a:avLst>
              <a:gd name="adj" fmla="val 50000"/>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02" name="Google Shape;102;p13"/>
          <p:cNvSpPr/>
          <p:nvPr/>
        </p:nvSpPr>
        <p:spPr>
          <a:xfrm>
            <a:off x="364331" y="3028950"/>
            <a:ext cx="3787303" cy="85725"/>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03" name="Google Shape;103;p13"/>
          <p:cNvSpPr/>
          <p:nvPr/>
        </p:nvSpPr>
        <p:spPr>
          <a:xfrm>
            <a:off x="364331" y="3479006"/>
            <a:ext cx="3061989" cy="85725"/>
          </a:xfrm>
          <a:prstGeom prst="roundRect">
            <a:avLst>
              <a:gd name="adj" fmla="val 50000"/>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04" name="Google Shape;104;p13"/>
          <p:cNvSpPr/>
          <p:nvPr/>
        </p:nvSpPr>
        <p:spPr>
          <a:xfrm>
            <a:off x="364331" y="3929062"/>
            <a:ext cx="3706713" cy="85725"/>
          </a:xfrm>
          <a:prstGeom prst="roundRect">
            <a:avLst>
              <a:gd name="adj" fmla="val 50000"/>
            </a:avLst>
          </a:prstGeom>
          <a:solidFill>
            <a:srgbClr val="A855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05" name="Google Shape;105;p13"/>
          <p:cNvSpPr txBox="1"/>
          <p:nvPr/>
        </p:nvSpPr>
        <p:spPr>
          <a:xfrm>
            <a:off x="364331" y="292893"/>
            <a:ext cx="8779725" cy="415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Usability Testing Results</a:t>
            </a:r>
            <a:endParaRPr/>
          </a:p>
        </p:txBody>
      </p:sp>
      <p:sp>
        <p:nvSpPr>
          <p:cNvPr id="106" name="Google Shape;106;p13"/>
          <p:cNvSpPr/>
          <p:nvPr/>
        </p:nvSpPr>
        <p:spPr>
          <a:xfrm>
            <a:off x="364331" y="850106"/>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921543" y="1800225"/>
            <a:ext cx="3800475" cy="2586037"/>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5007768" y="1639490"/>
            <a:ext cx="3214687" cy="1550193"/>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5007768" y="3332559"/>
            <a:ext cx="3214687" cy="1357312"/>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4000500" y="1950243"/>
            <a:ext cx="571500" cy="357187"/>
          </a:xfrm>
          <a:prstGeom prst="rect">
            <a:avLst/>
          </a:prstGeom>
          <a:noFill/>
          <a:ln>
            <a:noFill/>
          </a:ln>
        </p:spPr>
      </p:pic>
      <p:pic>
        <p:nvPicPr>
          <p:cNvPr id="89" name="Google Shape;89;p13" descr="image.png"/>
          <p:cNvPicPr preferRelativeResize="0"/>
          <p:nvPr/>
        </p:nvPicPr>
        <p:blipFill rotWithShape="1">
          <a:blip r:embed="rId8">
            <a:alphaModFix/>
          </a:blip>
          <a:srcRect/>
          <a:stretch/>
        </p:blipFill>
        <p:spPr>
          <a:xfrm>
            <a:off x="1071562" y="2321718"/>
            <a:ext cx="571500" cy="357187"/>
          </a:xfrm>
          <a:prstGeom prst="rect">
            <a:avLst/>
          </a:prstGeom>
          <a:noFill/>
          <a:ln>
            <a:noFill/>
          </a:ln>
        </p:spPr>
      </p:pic>
      <p:pic>
        <p:nvPicPr>
          <p:cNvPr id="90" name="Google Shape;90;p13" descr="image.png"/>
          <p:cNvPicPr preferRelativeResize="0"/>
          <p:nvPr/>
        </p:nvPicPr>
        <p:blipFill rotWithShape="1">
          <a:blip r:embed="rId9">
            <a:alphaModFix/>
          </a:blip>
          <a:srcRect/>
          <a:stretch/>
        </p:blipFill>
        <p:spPr>
          <a:xfrm>
            <a:off x="1657350" y="2321718"/>
            <a:ext cx="571500" cy="357187"/>
          </a:xfrm>
          <a:prstGeom prst="rect">
            <a:avLst/>
          </a:prstGeom>
          <a:noFill/>
          <a:ln>
            <a:noFill/>
          </a:ln>
        </p:spPr>
      </p:pic>
      <p:pic>
        <p:nvPicPr>
          <p:cNvPr id="91" name="Google Shape;91;p13" descr="image.png"/>
          <p:cNvPicPr preferRelativeResize="0"/>
          <p:nvPr/>
        </p:nvPicPr>
        <p:blipFill rotWithShape="1">
          <a:blip r:embed="rId10">
            <a:alphaModFix/>
          </a:blip>
          <a:srcRect/>
          <a:stretch/>
        </p:blipFill>
        <p:spPr>
          <a:xfrm>
            <a:off x="2243137" y="2321718"/>
            <a:ext cx="571500" cy="357187"/>
          </a:xfrm>
          <a:prstGeom prst="rect">
            <a:avLst/>
          </a:prstGeom>
          <a:noFill/>
          <a:ln>
            <a:noFill/>
          </a:ln>
        </p:spPr>
      </p:pic>
      <p:pic>
        <p:nvPicPr>
          <p:cNvPr id="92" name="Google Shape;92;p13" descr="image.png"/>
          <p:cNvPicPr preferRelativeResize="0"/>
          <p:nvPr/>
        </p:nvPicPr>
        <p:blipFill rotWithShape="1">
          <a:blip r:embed="rId11">
            <a:alphaModFix/>
          </a:blip>
          <a:srcRect/>
          <a:stretch/>
        </p:blipFill>
        <p:spPr>
          <a:xfrm>
            <a:off x="2828925" y="2321718"/>
            <a:ext cx="571500" cy="357187"/>
          </a:xfrm>
          <a:prstGeom prst="rect">
            <a:avLst/>
          </a:prstGeom>
          <a:noFill/>
          <a:ln>
            <a:noFill/>
          </a:ln>
        </p:spPr>
      </p:pic>
      <p:pic>
        <p:nvPicPr>
          <p:cNvPr id="93" name="Google Shape;93;p13" descr="image.png"/>
          <p:cNvPicPr preferRelativeResize="0"/>
          <p:nvPr/>
        </p:nvPicPr>
        <p:blipFill rotWithShape="1">
          <a:blip r:embed="rId8">
            <a:alphaModFix/>
          </a:blip>
          <a:srcRect/>
          <a:stretch/>
        </p:blipFill>
        <p:spPr>
          <a:xfrm>
            <a:off x="3414712" y="2321718"/>
            <a:ext cx="571500" cy="357187"/>
          </a:xfrm>
          <a:prstGeom prst="rect">
            <a:avLst/>
          </a:prstGeom>
          <a:noFill/>
          <a:ln>
            <a:noFill/>
          </a:ln>
        </p:spPr>
      </p:pic>
      <p:pic>
        <p:nvPicPr>
          <p:cNvPr id="94" name="Google Shape;94;p13" descr="image.png"/>
          <p:cNvPicPr preferRelativeResize="0"/>
          <p:nvPr/>
        </p:nvPicPr>
        <p:blipFill rotWithShape="1">
          <a:blip r:embed="rId7">
            <a:alphaModFix/>
          </a:blip>
          <a:srcRect/>
          <a:stretch/>
        </p:blipFill>
        <p:spPr>
          <a:xfrm>
            <a:off x="4000500" y="2321718"/>
            <a:ext cx="571500" cy="357187"/>
          </a:xfrm>
          <a:prstGeom prst="rect">
            <a:avLst/>
          </a:prstGeom>
          <a:noFill/>
          <a:ln>
            <a:noFill/>
          </a:ln>
        </p:spPr>
      </p:pic>
      <p:pic>
        <p:nvPicPr>
          <p:cNvPr id="95" name="Google Shape;95;p13" descr="image.png"/>
          <p:cNvPicPr preferRelativeResize="0"/>
          <p:nvPr/>
        </p:nvPicPr>
        <p:blipFill rotWithShape="1">
          <a:blip r:embed="rId12">
            <a:alphaModFix/>
          </a:blip>
          <a:srcRect/>
          <a:stretch/>
        </p:blipFill>
        <p:spPr>
          <a:xfrm>
            <a:off x="1071562" y="2693193"/>
            <a:ext cx="571500" cy="357187"/>
          </a:xfrm>
          <a:prstGeom prst="rect">
            <a:avLst/>
          </a:prstGeom>
          <a:noFill/>
          <a:ln>
            <a:noFill/>
          </a:ln>
        </p:spPr>
      </p:pic>
      <p:pic>
        <p:nvPicPr>
          <p:cNvPr id="96" name="Google Shape;96;p13" descr="image.png"/>
          <p:cNvPicPr preferRelativeResize="0"/>
          <p:nvPr/>
        </p:nvPicPr>
        <p:blipFill rotWithShape="1">
          <a:blip r:embed="rId13">
            <a:alphaModFix/>
          </a:blip>
          <a:srcRect/>
          <a:stretch/>
        </p:blipFill>
        <p:spPr>
          <a:xfrm>
            <a:off x="1657350" y="2693193"/>
            <a:ext cx="571500" cy="357187"/>
          </a:xfrm>
          <a:prstGeom prst="rect">
            <a:avLst/>
          </a:prstGeom>
          <a:noFill/>
          <a:ln>
            <a:noFill/>
          </a:ln>
        </p:spPr>
      </p:pic>
      <p:pic>
        <p:nvPicPr>
          <p:cNvPr id="97" name="Google Shape;97;p13" descr="image.png"/>
          <p:cNvPicPr preferRelativeResize="0"/>
          <p:nvPr/>
        </p:nvPicPr>
        <p:blipFill rotWithShape="1">
          <a:blip r:embed="rId14">
            <a:alphaModFix/>
          </a:blip>
          <a:srcRect/>
          <a:stretch/>
        </p:blipFill>
        <p:spPr>
          <a:xfrm>
            <a:off x="2243137" y="2693193"/>
            <a:ext cx="571500" cy="357187"/>
          </a:xfrm>
          <a:prstGeom prst="rect">
            <a:avLst/>
          </a:prstGeom>
          <a:noFill/>
          <a:ln>
            <a:noFill/>
          </a:ln>
        </p:spPr>
      </p:pic>
      <p:pic>
        <p:nvPicPr>
          <p:cNvPr id="98" name="Google Shape;98;p13" descr="image.png"/>
          <p:cNvPicPr preferRelativeResize="0"/>
          <p:nvPr/>
        </p:nvPicPr>
        <p:blipFill rotWithShape="1">
          <a:blip r:embed="rId9">
            <a:alphaModFix/>
          </a:blip>
          <a:srcRect/>
          <a:stretch/>
        </p:blipFill>
        <p:spPr>
          <a:xfrm>
            <a:off x="2828925" y="2693193"/>
            <a:ext cx="571500" cy="357187"/>
          </a:xfrm>
          <a:prstGeom prst="rect">
            <a:avLst/>
          </a:prstGeom>
          <a:noFill/>
          <a:ln>
            <a:noFill/>
          </a:ln>
        </p:spPr>
      </p:pic>
      <p:pic>
        <p:nvPicPr>
          <p:cNvPr id="99" name="Google Shape;99;p13" descr="image.png"/>
          <p:cNvPicPr preferRelativeResize="0"/>
          <p:nvPr/>
        </p:nvPicPr>
        <p:blipFill rotWithShape="1">
          <a:blip r:embed="rId12">
            <a:alphaModFix/>
          </a:blip>
          <a:srcRect/>
          <a:stretch/>
        </p:blipFill>
        <p:spPr>
          <a:xfrm>
            <a:off x="3414712" y="2693193"/>
            <a:ext cx="571500" cy="357187"/>
          </a:xfrm>
          <a:prstGeom prst="rect">
            <a:avLst/>
          </a:prstGeom>
          <a:noFill/>
          <a:ln>
            <a:noFill/>
          </a:ln>
        </p:spPr>
      </p:pic>
      <p:pic>
        <p:nvPicPr>
          <p:cNvPr id="100" name="Google Shape;100;p13" descr="image.png"/>
          <p:cNvPicPr preferRelativeResize="0"/>
          <p:nvPr/>
        </p:nvPicPr>
        <p:blipFill rotWithShape="1">
          <a:blip r:embed="rId7">
            <a:alphaModFix/>
          </a:blip>
          <a:srcRect/>
          <a:stretch/>
        </p:blipFill>
        <p:spPr>
          <a:xfrm>
            <a:off x="4000500" y="2693193"/>
            <a:ext cx="571500" cy="357187"/>
          </a:xfrm>
          <a:prstGeom prst="rect">
            <a:avLst/>
          </a:prstGeom>
          <a:noFill/>
          <a:ln>
            <a:noFill/>
          </a:ln>
        </p:spPr>
      </p:pic>
      <p:pic>
        <p:nvPicPr>
          <p:cNvPr id="101" name="Google Shape;101;p13" descr="image.png"/>
          <p:cNvPicPr preferRelativeResize="0"/>
          <p:nvPr/>
        </p:nvPicPr>
        <p:blipFill rotWithShape="1">
          <a:blip r:embed="rId15">
            <a:alphaModFix/>
          </a:blip>
          <a:srcRect/>
          <a:stretch/>
        </p:blipFill>
        <p:spPr>
          <a:xfrm>
            <a:off x="1071562" y="3064668"/>
            <a:ext cx="571500" cy="357187"/>
          </a:xfrm>
          <a:prstGeom prst="rect">
            <a:avLst/>
          </a:prstGeom>
          <a:noFill/>
          <a:ln>
            <a:noFill/>
          </a:ln>
        </p:spPr>
      </p:pic>
      <p:pic>
        <p:nvPicPr>
          <p:cNvPr id="102" name="Google Shape;102;p13" descr="image.png"/>
          <p:cNvPicPr preferRelativeResize="0"/>
          <p:nvPr/>
        </p:nvPicPr>
        <p:blipFill rotWithShape="1">
          <a:blip r:embed="rId16">
            <a:alphaModFix/>
          </a:blip>
          <a:srcRect/>
          <a:stretch/>
        </p:blipFill>
        <p:spPr>
          <a:xfrm>
            <a:off x="1657350" y="3064668"/>
            <a:ext cx="571500" cy="357187"/>
          </a:xfrm>
          <a:prstGeom prst="rect">
            <a:avLst/>
          </a:prstGeom>
          <a:noFill/>
          <a:ln>
            <a:noFill/>
          </a:ln>
        </p:spPr>
      </p:pic>
      <p:pic>
        <p:nvPicPr>
          <p:cNvPr id="103" name="Google Shape;103;p13" descr="image.png"/>
          <p:cNvPicPr preferRelativeResize="0"/>
          <p:nvPr/>
        </p:nvPicPr>
        <p:blipFill rotWithShape="1">
          <a:blip r:embed="rId10">
            <a:alphaModFix/>
          </a:blip>
          <a:srcRect/>
          <a:stretch/>
        </p:blipFill>
        <p:spPr>
          <a:xfrm>
            <a:off x="2243137" y="3064668"/>
            <a:ext cx="571500" cy="357187"/>
          </a:xfrm>
          <a:prstGeom prst="rect">
            <a:avLst/>
          </a:prstGeom>
          <a:noFill/>
          <a:ln>
            <a:noFill/>
          </a:ln>
        </p:spPr>
      </p:pic>
      <p:pic>
        <p:nvPicPr>
          <p:cNvPr id="104" name="Google Shape;104;p13" descr="image.png"/>
          <p:cNvPicPr preferRelativeResize="0"/>
          <p:nvPr/>
        </p:nvPicPr>
        <p:blipFill rotWithShape="1">
          <a:blip r:embed="rId13">
            <a:alphaModFix/>
          </a:blip>
          <a:srcRect/>
          <a:stretch/>
        </p:blipFill>
        <p:spPr>
          <a:xfrm>
            <a:off x="2828925" y="3064668"/>
            <a:ext cx="571500" cy="357187"/>
          </a:xfrm>
          <a:prstGeom prst="rect">
            <a:avLst/>
          </a:prstGeom>
          <a:noFill/>
          <a:ln>
            <a:noFill/>
          </a:ln>
        </p:spPr>
      </p:pic>
      <p:pic>
        <p:nvPicPr>
          <p:cNvPr id="105" name="Google Shape;105;p13" descr="image.png"/>
          <p:cNvPicPr preferRelativeResize="0"/>
          <p:nvPr/>
        </p:nvPicPr>
        <p:blipFill rotWithShape="1">
          <a:blip r:embed="rId15">
            <a:alphaModFix/>
          </a:blip>
          <a:srcRect/>
          <a:stretch/>
        </p:blipFill>
        <p:spPr>
          <a:xfrm>
            <a:off x="3414712" y="3064668"/>
            <a:ext cx="571500" cy="357187"/>
          </a:xfrm>
          <a:prstGeom prst="rect">
            <a:avLst/>
          </a:prstGeom>
          <a:noFill/>
          <a:ln>
            <a:noFill/>
          </a:ln>
        </p:spPr>
      </p:pic>
      <p:pic>
        <p:nvPicPr>
          <p:cNvPr id="106" name="Google Shape;106;p13" descr="image.png"/>
          <p:cNvPicPr preferRelativeResize="0"/>
          <p:nvPr/>
        </p:nvPicPr>
        <p:blipFill rotWithShape="1">
          <a:blip r:embed="rId7">
            <a:alphaModFix/>
          </a:blip>
          <a:srcRect/>
          <a:stretch/>
        </p:blipFill>
        <p:spPr>
          <a:xfrm>
            <a:off x="4000500" y="3064668"/>
            <a:ext cx="571500" cy="357187"/>
          </a:xfrm>
          <a:prstGeom prst="rect">
            <a:avLst/>
          </a:prstGeom>
          <a:noFill/>
          <a:ln>
            <a:noFill/>
          </a:ln>
        </p:spPr>
      </p:pic>
      <p:pic>
        <p:nvPicPr>
          <p:cNvPr id="107" name="Google Shape;107;p13" descr="image.png"/>
          <p:cNvPicPr preferRelativeResize="0"/>
          <p:nvPr/>
        </p:nvPicPr>
        <p:blipFill rotWithShape="1">
          <a:blip r:embed="rId17">
            <a:alphaModFix/>
          </a:blip>
          <a:srcRect/>
          <a:stretch/>
        </p:blipFill>
        <p:spPr>
          <a:xfrm>
            <a:off x="1071562" y="3436143"/>
            <a:ext cx="571500" cy="357187"/>
          </a:xfrm>
          <a:prstGeom prst="rect">
            <a:avLst/>
          </a:prstGeom>
          <a:noFill/>
          <a:ln>
            <a:noFill/>
          </a:ln>
        </p:spPr>
      </p:pic>
      <p:pic>
        <p:nvPicPr>
          <p:cNvPr id="108" name="Google Shape;108;p13" descr="image.png"/>
          <p:cNvPicPr preferRelativeResize="0"/>
          <p:nvPr/>
        </p:nvPicPr>
        <p:blipFill rotWithShape="1">
          <a:blip r:embed="rId11">
            <a:alphaModFix/>
          </a:blip>
          <a:srcRect/>
          <a:stretch/>
        </p:blipFill>
        <p:spPr>
          <a:xfrm>
            <a:off x="1657350" y="3436143"/>
            <a:ext cx="571500" cy="357187"/>
          </a:xfrm>
          <a:prstGeom prst="rect">
            <a:avLst/>
          </a:prstGeom>
          <a:noFill/>
          <a:ln>
            <a:noFill/>
          </a:ln>
        </p:spPr>
      </p:pic>
      <p:pic>
        <p:nvPicPr>
          <p:cNvPr id="109" name="Google Shape;109;p13" descr="image.png"/>
          <p:cNvPicPr preferRelativeResize="0"/>
          <p:nvPr/>
        </p:nvPicPr>
        <p:blipFill rotWithShape="1">
          <a:blip r:embed="rId14">
            <a:alphaModFix/>
          </a:blip>
          <a:srcRect/>
          <a:stretch/>
        </p:blipFill>
        <p:spPr>
          <a:xfrm>
            <a:off x="2243137" y="3436143"/>
            <a:ext cx="571500" cy="357187"/>
          </a:xfrm>
          <a:prstGeom prst="rect">
            <a:avLst/>
          </a:prstGeom>
          <a:noFill/>
          <a:ln>
            <a:noFill/>
          </a:ln>
        </p:spPr>
      </p:pic>
      <p:pic>
        <p:nvPicPr>
          <p:cNvPr id="110" name="Google Shape;110;p13" descr="image.png"/>
          <p:cNvPicPr preferRelativeResize="0"/>
          <p:nvPr/>
        </p:nvPicPr>
        <p:blipFill rotWithShape="1">
          <a:blip r:embed="rId16">
            <a:alphaModFix/>
          </a:blip>
          <a:srcRect/>
          <a:stretch/>
        </p:blipFill>
        <p:spPr>
          <a:xfrm>
            <a:off x="2828925" y="3436143"/>
            <a:ext cx="571500" cy="357187"/>
          </a:xfrm>
          <a:prstGeom prst="rect">
            <a:avLst/>
          </a:prstGeom>
          <a:noFill/>
          <a:ln>
            <a:noFill/>
          </a:ln>
        </p:spPr>
      </p:pic>
      <p:pic>
        <p:nvPicPr>
          <p:cNvPr id="111" name="Google Shape;111;p13" descr="image.png"/>
          <p:cNvPicPr preferRelativeResize="0"/>
          <p:nvPr/>
        </p:nvPicPr>
        <p:blipFill rotWithShape="1">
          <a:blip r:embed="rId17">
            <a:alphaModFix/>
          </a:blip>
          <a:srcRect/>
          <a:stretch/>
        </p:blipFill>
        <p:spPr>
          <a:xfrm>
            <a:off x="3414712" y="3436143"/>
            <a:ext cx="571500" cy="357187"/>
          </a:xfrm>
          <a:prstGeom prst="rect">
            <a:avLst/>
          </a:prstGeom>
          <a:noFill/>
          <a:ln>
            <a:noFill/>
          </a:ln>
        </p:spPr>
      </p:pic>
      <p:pic>
        <p:nvPicPr>
          <p:cNvPr id="112" name="Google Shape;112;p13" descr="image.png"/>
          <p:cNvPicPr preferRelativeResize="0"/>
          <p:nvPr/>
        </p:nvPicPr>
        <p:blipFill rotWithShape="1">
          <a:blip r:embed="rId7">
            <a:alphaModFix/>
          </a:blip>
          <a:srcRect/>
          <a:stretch/>
        </p:blipFill>
        <p:spPr>
          <a:xfrm>
            <a:off x="4000500" y="3436143"/>
            <a:ext cx="571500" cy="357187"/>
          </a:xfrm>
          <a:prstGeom prst="rect">
            <a:avLst/>
          </a:prstGeom>
          <a:noFill/>
          <a:ln>
            <a:noFill/>
          </a:ln>
        </p:spPr>
      </p:pic>
      <p:sp>
        <p:nvSpPr>
          <p:cNvPr id="113" name="Google Shape;113;p13"/>
          <p:cNvSpPr txBox="1"/>
          <p:nvPr/>
        </p:nvSpPr>
        <p:spPr>
          <a:xfrm>
            <a:off x="364331" y="292893"/>
            <a:ext cx="8779668" cy="364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0" i="0" u="none" strike="noStrike" cap="none">
                <a:solidFill>
                  <a:srgbClr val="FFFFFF"/>
                </a:solidFill>
                <a:latin typeface="Urbanist SemiBold"/>
                <a:ea typeface="Urbanist SemiBold"/>
                <a:cs typeface="Urbanist SemiBold"/>
                <a:sym typeface="Urbanist SemiBold"/>
              </a:rPr>
              <a:t>Feature Correlation: Integrity Metrics</a:t>
            </a:r>
            <a:endParaRPr/>
          </a:p>
        </p:txBody>
      </p:sp>
      <p:sp>
        <p:nvSpPr>
          <p:cNvPr id="114" name="Google Shape;114;p13"/>
          <p:cNvSpPr txBox="1"/>
          <p:nvPr/>
        </p:nvSpPr>
        <p:spPr>
          <a:xfrm>
            <a:off x="364331" y="785812"/>
            <a:ext cx="8415337"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Analyzing the relationship between 15,000+ student submissions to identify key integrity indicators.</a:t>
            </a:r>
            <a:endParaRPr/>
          </a:p>
        </p:txBody>
      </p:sp>
      <p:sp>
        <p:nvSpPr>
          <p:cNvPr id="115" name="Google Shape;115;p13"/>
          <p:cNvSpPr txBox="1"/>
          <p:nvPr/>
        </p:nvSpPr>
        <p:spPr>
          <a:xfrm>
            <a:off x="1071562" y="1950243"/>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Similarity</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Score</a:t>
            </a:r>
            <a:endParaRPr/>
          </a:p>
        </p:txBody>
      </p:sp>
      <p:sp>
        <p:nvSpPr>
          <p:cNvPr id="116" name="Google Shape;116;p13"/>
          <p:cNvSpPr txBox="1"/>
          <p:nvPr/>
        </p:nvSpPr>
        <p:spPr>
          <a:xfrm>
            <a:off x="1657350" y="1950243"/>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AI Conf</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Score</a:t>
            </a:r>
            <a:endParaRPr/>
          </a:p>
        </p:txBody>
      </p:sp>
      <p:sp>
        <p:nvSpPr>
          <p:cNvPr id="117" name="Google Shape;117;p13"/>
          <p:cNvSpPr txBox="1"/>
          <p:nvPr/>
        </p:nvSpPr>
        <p:spPr>
          <a:xfrm>
            <a:off x="2243137" y="1950243"/>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Edit</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History</a:t>
            </a:r>
            <a:endParaRPr/>
          </a:p>
        </p:txBody>
      </p:sp>
      <p:sp>
        <p:nvSpPr>
          <p:cNvPr id="118" name="Google Shape;118;p13"/>
          <p:cNvSpPr txBox="1"/>
          <p:nvPr/>
        </p:nvSpPr>
        <p:spPr>
          <a:xfrm>
            <a:off x="2828925" y="1950243"/>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Citation</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Density</a:t>
            </a:r>
            <a:endParaRPr/>
          </a:p>
        </p:txBody>
      </p:sp>
      <p:sp>
        <p:nvSpPr>
          <p:cNvPr id="119" name="Google Shape;119;p13"/>
          <p:cNvSpPr txBox="1"/>
          <p:nvPr/>
        </p:nvSpPr>
        <p:spPr>
          <a:xfrm>
            <a:off x="3414712" y="1950243"/>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Readability</a:t>
            </a:r>
            <a:endParaRPr/>
          </a:p>
        </p:txBody>
      </p:sp>
      <p:sp>
        <p:nvSpPr>
          <p:cNvPr id="120" name="Google Shape;120;p13"/>
          <p:cNvSpPr txBox="1"/>
          <p:nvPr/>
        </p:nvSpPr>
        <p:spPr>
          <a:xfrm>
            <a:off x="1657350" y="384333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Similarity</a:t>
            </a:r>
            <a:endParaRPr/>
          </a:p>
        </p:txBody>
      </p:sp>
      <p:sp>
        <p:nvSpPr>
          <p:cNvPr id="121" name="Google Shape;121;p13"/>
          <p:cNvSpPr txBox="1"/>
          <p:nvPr/>
        </p:nvSpPr>
        <p:spPr>
          <a:xfrm>
            <a:off x="2243137" y="384333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AI Conf</a:t>
            </a:r>
            <a:endParaRPr/>
          </a:p>
        </p:txBody>
      </p:sp>
      <p:sp>
        <p:nvSpPr>
          <p:cNvPr id="122" name="Google Shape;122;p13"/>
          <p:cNvSpPr txBox="1"/>
          <p:nvPr/>
        </p:nvSpPr>
        <p:spPr>
          <a:xfrm>
            <a:off x="2828925" y="384333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Edit Hist</a:t>
            </a:r>
            <a:endParaRPr/>
          </a:p>
        </p:txBody>
      </p:sp>
      <p:sp>
        <p:nvSpPr>
          <p:cNvPr id="123" name="Google Shape;123;p13"/>
          <p:cNvSpPr txBox="1"/>
          <p:nvPr/>
        </p:nvSpPr>
        <p:spPr>
          <a:xfrm>
            <a:off x="3414712" y="384333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Citations</a:t>
            </a:r>
            <a:endParaRPr/>
          </a:p>
        </p:txBody>
      </p:sp>
      <p:sp>
        <p:nvSpPr>
          <p:cNvPr id="124" name="Google Shape;124;p13"/>
          <p:cNvSpPr txBox="1"/>
          <p:nvPr/>
        </p:nvSpPr>
        <p:spPr>
          <a:xfrm>
            <a:off x="4000500" y="384333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Readable</a:t>
            </a:r>
            <a:endParaRPr/>
          </a:p>
        </p:txBody>
      </p:sp>
      <p:sp>
        <p:nvSpPr>
          <p:cNvPr id="125" name="Google Shape;125;p13"/>
          <p:cNvSpPr txBox="1"/>
          <p:nvPr/>
        </p:nvSpPr>
        <p:spPr>
          <a:xfrm>
            <a:off x="5179218" y="1746646"/>
            <a:ext cx="2900362"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1" i="0" u="none" strike="noStrike" cap="none">
                <a:solidFill>
                  <a:srgbClr val="10B981"/>
                </a:solidFill>
                <a:latin typeface="Times New Roman"/>
                <a:ea typeface="Times New Roman"/>
                <a:cs typeface="Times New Roman"/>
                <a:sym typeface="Times New Roman"/>
              </a:rPr>
              <a:t>KEY INSIGHT 1: THE "PROCESS" FACTOR</a:t>
            </a:r>
            <a:endParaRPr/>
          </a:p>
        </p:txBody>
      </p:sp>
      <p:sp>
        <p:nvSpPr>
          <p:cNvPr id="126" name="Google Shape;126;p13"/>
          <p:cNvSpPr txBox="1"/>
          <p:nvPr/>
        </p:nvSpPr>
        <p:spPr>
          <a:xfrm>
            <a:off x="5179218" y="1989534"/>
            <a:ext cx="2900362" cy="96440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CBD5E1"/>
                </a:solidFill>
                <a:latin typeface="Urbanist"/>
                <a:ea typeface="Urbanist"/>
                <a:cs typeface="Urbanist"/>
                <a:sym typeface="Urbanist"/>
              </a:rPr>
              <a:t>Strong Negative Correlation (-0.91)</a:t>
            </a:r>
            <a:r>
              <a:rPr lang="en-US" sz="1012" b="0" i="0" u="none" strike="noStrike" cap="none">
                <a:solidFill>
                  <a:srgbClr val="CBD5E1"/>
                </a:solidFill>
                <a:latin typeface="Urbanist"/>
                <a:ea typeface="Urbanist"/>
                <a:cs typeface="Urbanist"/>
                <a:sym typeface="Urbanist"/>
              </a:rPr>
              <a:t> between </a:t>
            </a:r>
            <a:r>
              <a:rPr lang="en-US" sz="1012" b="0" i="1" u="none" strike="noStrike" cap="none">
                <a:solidFill>
                  <a:srgbClr val="CBD5E1"/>
                </a:solidFill>
                <a:latin typeface="Urbanist"/>
                <a:ea typeface="Urbanist"/>
                <a:cs typeface="Urbanist"/>
                <a:sym typeface="Urbanist"/>
              </a:rPr>
              <a:t>Edit History</a:t>
            </a:r>
            <a:r>
              <a:rPr lang="en-US" sz="1012" b="0" i="0" u="none" strike="noStrike" cap="none">
                <a:solidFill>
                  <a:srgbClr val="CBD5E1"/>
                </a:solidFill>
                <a:latin typeface="Urbanist"/>
                <a:ea typeface="Urbanist"/>
                <a:cs typeface="Urbanist"/>
                <a:sym typeface="Urbanist"/>
              </a:rPr>
              <a:t> and </a:t>
            </a:r>
            <a:r>
              <a:rPr lang="en-US" sz="1012" b="0" i="1" u="none" strike="noStrike" cap="none">
                <a:solidFill>
                  <a:srgbClr val="CBD5E1"/>
                </a:solidFill>
                <a:latin typeface="Urbanist"/>
                <a:ea typeface="Urbanist"/>
                <a:cs typeface="Urbanist"/>
                <a:sym typeface="Urbanist"/>
              </a:rPr>
              <a:t>AI Confidence Score</a:t>
            </a:r>
            <a:r>
              <a:rPr lang="en-US" sz="1012" b="0" i="0" u="none" strike="noStrike" cap="none">
                <a:solidFill>
                  <a:srgbClr val="CBD5E1"/>
                </a:solidFill>
                <a:latin typeface="Urbanist"/>
                <a:ea typeface="Urbanist"/>
                <a:cs typeface="Urbanist"/>
                <a:sym typeface="Urbanist"/>
              </a:rPr>
              <a:t>. This mathematically validates our core hypothesis: Tracking the writing process is superior to static text scanning.</a:t>
            </a:r>
            <a:endParaRPr/>
          </a:p>
        </p:txBody>
      </p:sp>
      <p:sp>
        <p:nvSpPr>
          <p:cNvPr id="127" name="Google Shape;127;p13"/>
          <p:cNvSpPr txBox="1"/>
          <p:nvPr/>
        </p:nvSpPr>
        <p:spPr>
          <a:xfrm>
            <a:off x="5179218" y="3439715"/>
            <a:ext cx="2900362"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1" i="0" u="none" strike="noStrike" cap="none">
                <a:solidFill>
                  <a:srgbClr val="3B82F6"/>
                </a:solidFill>
                <a:latin typeface="Times New Roman"/>
                <a:ea typeface="Times New Roman"/>
                <a:cs typeface="Times New Roman"/>
                <a:sym typeface="Times New Roman"/>
              </a:rPr>
              <a:t>KEY INSIGHT 2: THE CITATION EFFECT</a:t>
            </a:r>
            <a:endParaRPr/>
          </a:p>
        </p:txBody>
      </p:sp>
      <p:sp>
        <p:nvSpPr>
          <p:cNvPr id="128" name="Google Shape;128;p13"/>
          <p:cNvSpPr txBox="1"/>
          <p:nvPr/>
        </p:nvSpPr>
        <p:spPr>
          <a:xfrm>
            <a:off x="5179218" y="3682602"/>
            <a:ext cx="2900362"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CBD5E1"/>
                </a:solidFill>
                <a:latin typeface="Urbanist"/>
                <a:ea typeface="Urbanist"/>
                <a:cs typeface="Urbanist"/>
                <a:sym typeface="Urbanist"/>
              </a:rPr>
              <a:t>Significant Negative Correlation (-0.65)</a:t>
            </a:r>
            <a:r>
              <a:rPr lang="en-US" sz="1012" b="0" i="0" u="none" strike="noStrike" cap="none">
                <a:solidFill>
                  <a:srgbClr val="CBD5E1"/>
                </a:solidFill>
                <a:latin typeface="Urbanist"/>
                <a:ea typeface="Urbanist"/>
                <a:cs typeface="Urbanist"/>
                <a:sym typeface="Urbanist"/>
              </a:rPr>
              <a:t> between </a:t>
            </a:r>
            <a:r>
              <a:rPr lang="en-US" sz="1012" b="0" i="1" u="none" strike="noStrike" cap="none">
                <a:solidFill>
                  <a:srgbClr val="CBD5E1"/>
                </a:solidFill>
                <a:latin typeface="Urbanist"/>
                <a:ea typeface="Urbanist"/>
                <a:cs typeface="Urbanist"/>
                <a:sym typeface="Urbanist"/>
              </a:rPr>
              <a:t>Citation Density</a:t>
            </a:r>
            <a:r>
              <a:rPr lang="en-US" sz="1012" b="0" i="0" u="none" strike="noStrike" cap="none">
                <a:solidFill>
                  <a:srgbClr val="CBD5E1"/>
                </a:solidFill>
                <a:latin typeface="Urbanist"/>
                <a:ea typeface="Urbanist"/>
                <a:cs typeface="Urbanist"/>
                <a:sym typeface="Urbanist"/>
              </a:rPr>
              <a:t> and </a:t>
            </a:r>
            <a:r>
              <a:rPr lang="en-US" sz="1012" b="0" i="1" u="none" strike="noStrike" cap="none">
                <a:solidFill>
                  <a:srgbClr val="CBD5E1"/>
                </a:solidFill>
                <a:latin typeface="Urbanist"/>
                <a:ea typeface="Urbanist"/>
                <a:cs typeface="Urbanist"/>
                <a:sym typeface="Urbanist"/>
              </a:rPr>
              <a:t>Similarity Score</a:t>
            </a:r>
            <a:r>
              <a:rPr lang="en-US" sz="1012" b="0" i="0" u="none" strike="noStrike" cap="none">
                <a:solidFill>
                  <a:srgbClr val="CBD5E1"/>
                </a:solidFill>
                <a:latin typeface="Urbanist"/>
                <a:ea typeface="Urbanist"/>
                <a:cs typeface="Urbanist"/>
                <a:sym typeface="Urbanist"/>
              </a:rPr>
              <a:t>. This proves the "Citation Auto-Fixer" tool successfully reduces plagiarism flags.</a:t>
            </a:r>
            <a:endParaRPr/>
          </a:p>
        </p:txBody>
      </p:sp>
      <p:sp>
        <p:nvSpPr>
          <p:cNvPr id="129" name="Google Shape;129;p13"/>
          <p:cNvSpPr/>
          <p:nvPr/>
        </p:nvSpPr>
        <p:spPr>
          <a:xfrm>
            <a:off x="2082291" y="4129087"/>
            <a:ext cx="107156" cy="107156"/>
          </a:xfrm>
          <a:prstGeom prst="roundRect">
            <a:avLst>
              <a:gd name="adj" fmla="val 20000"/>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30" name="Google Shape;130;p13"/>
          <p:cNvSpPr/>
          <p:nvPr/>
        </p:nvSpPr>
        <p:spPr>
          <a:xfrm>
            <a:off x="2599096" y="4129087"/>
            <a:ext cx="107156" cy="107156"/>
          </a:xfrm>
          <a:prstGeom prst="roundRect">
            <a:avLst>
              <a:gd name="adj" fmla="val 20000"/>
            </a:avLst>
          </a:prstGeom>
          <a:solidFill>
            <a:srgbClr val="1E1E1E"/>
          </a:solidFill>
          <a:ln w="9525" cap="flat" cmpd="sng">
            <a:solidFill>
              <a:srgbClr val="3333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31" name="Google Shape;131;p13"/>
          <p:cNvSpPr/>
          <p:nvPr/>
        </p:nvSpPr>
        <p:spPr>
          <a:xfrm>
            <a:off x="3096815" y="4129087"/>
            <a:ext cx="107156" cy="107156"/>
          </a:xfrm>
          <a:prstGeom prst="roundRect">
            <a:avLst>
              <a:gd name="adj" fmla="val 20000"/>
            </a:avLst>
          </a:prstGeom>
          <a:solidFill>
            <a:srgbClr val="7F1D1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5"/>
        <p:cNvGrpSpPr/>
        <p:nvPr/>
      </p:nvGrpSpPr>
      <p:grpSpPr>
        <a:xfrm>
          <a:off x="0" y="0"/>
          <a:ext cx="0" cy="0"/>
          <a:chOff x="0" y="0"/>
          <a:chExt cx="0" cy="0"/>
        </a:xfrm>
      </p:grpSpPr>
      <p:pic>
        <p:nvPicPr>
          <p:cNvPr id="136" name="Google Shape;136;p14"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37" name="Google Shape;137;p14" descr="image.png"/>
          <p:cNvPicPr preferRelativeResize="0"/>
          <p:nvPr/>
        </p:nvPicPr>
        <p:blipFill rotWithShape="1">
          <a:blip r:embed="rId4">
            <a:alphaModFix/>
          </a:blip>
          <a:srcRect/>
          <a:stretch/>
        </p:blipFill>
        <p:spPr>
          <a:xfrm>
            <a:off x="1293018" y="1796652"/>
            <a:ext cx="3057525" cy="2593181"/>
          </a:xfrm>
          <a:prstGeom prst="rect">
            <a:avLst/>
          </a:prstGeom>
          <a:noFill/>
          <a:ln>
            <a:noFill/>
          </a:ln>
        </p:spPr>
      </p:pic>
      <p:pic>
        <p:nvPicPr>
          <p:cNvPr id="138" name="Google Shape;138;p14" descr="image.png"/>
          <p:cNvPicPr preferRelativeResize="0"/>
          <p:nvPr/>
        </p:nvPicPr>
        <p:blipFill rotWithShape="1">
          <a:blip r:embed="rId5">
            <a:alphaModFix/>
          </a:blip>
          <a:srcRect/>
          <a:stretch/>
        </p:blipFill>
        <p:spPr>
          <a:xfrm>
            <a:off x="4636293" y="1832371"/>
            <a:ext cx="3214687" cy="1164431"/>
          </a:xfrm>
          <a:prstGeom prst="rect">
            <a:avLst/>
          </a:prstGeom>
          <a:noFill/>
          <a:ln>
            <a:noFill/>
          </a:ln>
        </p:spPr>
      </p:pic>
      <p:pic>
        <p:nvPicPr>
          <p:cNvPr id="139" name="Google Shape;139;p14" descr="image.png"/>
          <p:cNvPicPr preferRelativeResize="0"/>
          <p:nvPr/>
        </p:nvPicPr>
        <p:blipFill rotWithShape="1">
          <a:blip r:embed="rId6">
            <a:alphaModFix/>
          </a:blip>
          <a:srcRect/>
          <a:stretch/>
        </p:blipFill>
        <p:spPr>
          <a:xfrm>
            <a:off x="4636293" y="3139677"/>
            <a:ext cx="3214687" cy="1357312"/>
          </a:xfrm>
          <a:prstGeom prst="rect">
            <a:avLst/>
          </a:prstGeom>
          <a:noFill/>
          <a:ln>
            <a:noFill/>
          </a:ln>
        </p:spPr>
      </p:pic>
      <p:pic>
        <p:nvPicPr>
          <p:cNvPr id="140" name="Google Shape;140;p14" descr="image.png"/>
          <p:cNvPicPr preferRelativeResize="0"/>
          <p:nvPr/>
        </p:nvPicPr>
        <p:blipFill rotWithShape="1">
          <a:blip r:embed="rId7">
            <a:alphaModFix/>
          </a:blip>
          <a:srcRect/>
          <a:stretch/>
        </p:blipFill>
        <p:spPr>
          <a:xfrm>
            <a:off x="3486150" y="2268140"/>
            <a:ext cx="714375" cy="571500"/>
          </a:xfrm>
          <a:prstGeom prst="rect">
            <a:avLst/>
          </a:prstGeom>
          <a:noFill/>
          <a:ln>
            <a:noFill/>
          </a:ln>
        </p:spPr>
      </p:pic>
      <p:pic>
        <p:nvPicPr>
          <p:cNvPr id="141" name="Google Shape;141;p14" descr="image.png"/>
          <p:cNvPicPr preferRelativeResize="0"/>
          <p:nvPr/>
        </p:nvPicPr>
        <p:blipFill rotWithShape="1">
          <a:blip r:embed="rId8">
            <a:alphaModFix/>
          </a:blip>
          <a:srcRect/>
          <a:stretch/>
        </p:blipFill>
        <p:spPr>
          <a:xfrm>
            <a:off x="1443037" y="2853927"/>
            <a:ext cx="571500" cy="571500"/>
          </a:xfrm>
          <a:prstGeom prst="rect">
            <a:avLst/>
          </a:prstGeom>
          <a:noFill/>
          <a:ln>
            <a:noFill/>
          </a:ln>
        </p:spPr>
      </p:pic>
      <p:pic>
        <p:nvPicPr>
          <p:cNvPr id="142" name="Google Shape;142;p14" descr="image.png"/>
          <p:cNvPicPr preferRelativeResize="0"/>
          <p:nvPr/>
        </p:nvPicPr>
        <p:blipFill rotWithShape="1">
          <a:blip r:embed="rId9">
            <a:alphaModFix/>
          </a:blip>
          <a:srcRect/>
          <a:stretch/>
        </p:blipFill>
        <p:spPr>
          <a:xfrm>
            <a:off x="2028825" y="2853927"/>
            <a:ext cx="714375" cy="571500"/>
          </a:xfrm>
          <a:prstGeom prst="rect">
            <a:avLst/>
          </a:prstGeom>
          <a:noFill/>
          <a:ln>
            <a:noFill/>
          </a:ln>
        </p:spPr>
      </p:pic>
      <p:pic>
        <p:nvPicPr>
          <p:cNvPr id="143" name="Google Shape;143;p14" descr="image.png"/>
          <p:cNvPicPr preferRelativeResize="0"/>
          <p:nvPr/>
        </p:nvPicPr>
        <p:blipFill rotWithShape="1">
          <a:blip r:embed="rId10">
            <a:alphaModFix/>
          </a:blip>
          <a:srcRect/>
          <a:stretch/>
        </p:blipFill>
        <p:spPr>
          <a:xfrm>
            <a:off x="2757487" y="2853927"/>
            <a:ext cx="714375" cy="571500"/>
          </a:xfrm>
          <a:prstGeom prst="rect">
            <a:avLst/>
          </a:prstGeom>
          <a:noFill/>
          <a:ln>
            <a:noFill/>
          </a:ln>
        </p:spPr>
      </p:pic>
      <p:pic>
        <p:nvPicPr>
          <p:cNvPr id="144" name="Google Shape;144;p14" descr="image.png"/>
          <p:cNvPicPr preferRelativeResize="0"/>
          <p:nvPr/>
        </p:nvPicPr>
        <p:blipFill rotWithShape="1">
          <a:blip r:embed="rId11">
            <a:alphaModFix/>
          </a:blip>
          <a:srcRect/>
          <a:stretch/>
        </p:blipFill>
        <p:spPr>
          <a:xfrm>
            <a:off x="3486150" y="2853927"/>
            <a:ext cx="714375" cy="571500"/>
          </a:xfrm>
          <a:prstGeom prst="rect">
            <a:avLst/>
          </a:prstGeom>
          <a:noFill/>
          <a:ln>
            <a:noFill/>
          </a:ln>
        </p:spPr>
      </p:pic>
      <p:pic>
        <p:nvPicPr>
          <p:cNvPr id="145" name="Google Shape;145;p14" descr="image.png"/>
          <p:cNvPicPr preferRelativeResize="0"/>
          <p:nvPr/>
        </p:nvPicPr>
        <p:blipFill rotWithShape="1">
          <a:blip r:embed="rId12">
            <a:alphaModFix/>
          </a:blip>
          <a:srcRect/>
          <a:stretch/>
        </p:blipFill>
        <p:spPr>
          <a:xfrm>
            <a:off x="1443037" y="3439715"/>
            <a:ext cx="571500" cy="571500"/>
          </a:xfrm>
          <a:prstGeom prst="rect">
            <a:avLst/>
          </a:prstGeom>
          <a:noFill/>
          <a:ln>
            <a:noFill/>
          </a:ln>
        </p:spPr>
      </p:pic>
      <p:pic>
        <p:nvPicPr>
          <p:cNvPr id="146" name="Google Shape;146;p14" descr="image.png"/>
          <p:cNvPicPr preferRelativeResize="0"/>
          <p:nvPr/>
        </p:nvPicPr>
        <p:blipFill rotWithShape="1">
          <a:blip r:embed="rId13">
            <a:alphaModFix/>
          </a:blip>
          <a:srcRect/>
          <a:stretch/>
        </p:blipFill>
        <p:spPr>
          <a:xfrm>
            <a:off x="2028825" y="3439715"/>
            <a:ext cx="714375" cy="571500"/>
          </a:xfrm>
          <a:prstGeom prst="rect">
            <a:avLst/>
          </a:prstGeom>
          <a:noFill/>
          <a:ln>
            <a:noFill/>
          </a:ln>
        </p:spPr>
      </p:pic>
      <p:pic>
        <p:nvPicPr>
          <p:cNvPr id="147" name="Google Shape;147;p14" descr="image.png"/>
          <p:cNvPicPr preferRelativeResize="0"/>
          <p:nvPr/>
        </p:nvPicPr>
        <p:blipFill rotWithShape="1">
          <a:blip r:embed="rId14">
            <a:alphaModFix/>
          </a:blip>
          <a:srcRect/>
          <a:stretch/>
        </p:blipFill>
        <p:spPr>
          <a:xfrm>
            <a:off x="2757487" y="3439715"/>
            <a:ext cx="714375" cy="571500"/>
          </a:xfrm>
          <a:prstGeom prst="rect">
            <a:avLst/>
          </a:prstGeom>
          <a:noFill/>
          <a:ln>
            <a:noFill/>
          </a:ln>
        </p:spPr>
      </p:pic>
      <p:pic>
        <p:nvPicPr>
          <p:cNvPr id="148" name="Google Shape;148;p14" descr="image.png"/>
          <p:cNvPicPr preferRelativeResize="0"/>
          <p:nvPr/>
        </p:nvPicPr>
        <p:blipFill rotWithShape="1">
          <a:blip r:embed="rId15">
            <a:alphaModFix/>
          </a:blip>
          <a:srcRect/>
          <a:stretch/>
        </p:blipFill>
        <p:spPr>
          <a:xfrm>
            <a:off x="3486150" y="3439715"/>
            <a:ext cx="714375" cy="571500"/>
          </a:xfrm>
          <a:prstGeom prst="rect">
            <a:avLst/>
          </a:prstGeom>
          <a:noFill/>
          <a:ln>
            <a:noFill/>
          </a:ln>
        </p:spPr>
      </p:pic>
      <p:sp>
        <p:nvSpPr>
          <p:cNvPr id="149" name="Google Shape;149;p14"/>
          <p:cNvSpPr txBox="1"/>
          <p:nvPr/>
        </p:nvSpPr>
        <p:spPr>
          <a:xfrm>
            <a:off x="364331" y="292893"/>
            <a:ext cx="8779668" cy="364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0" i="0" u="none" strike="noStrike" cap="none">
                <a:solidFill>
                  <a:srgbClr val="FFFFFF"/>
                </a:solidFill>
                <a:latin typeface="Urbanist SemiBold"/>
                <a:ea typeface="Urbanist SemiBold"/>
                <a:cs typeface="Urbanist SemiBold"/>
                <a:sym typeface="Urbanist SemiBold"/>
              </a:rPr>
              <a:t>Model Performance: Confusion Matrix</a:t>
            </a:r>
            <a:endParaRPr/>
          </a:p>
        </p:txBody>
      </p:sp>
      <p:sp>
        <p:nvSpPr>
          <p:cNvPr id="150" name="Google Shape;150;p14"/>
          <p:cNvSpPr txBox="1"/>
          <p:nvPr/>
        </p:nvSpPr>
        <p:spPr>
          <a:xfrm>
            <a:off x="364331" y="785812"/>
            <a:ext cx="8415337"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Evaluating the Guardian AI's accuracy in distinguishing between legitimate human paraphrasing and AI-generated obfuscation.</a:t>
            </a:r>
            <a:endParaRPr/>
          </a:p>
        </p:txBody>
      </p:sp>
      <p:sp>
        <p:nvSpPr>
          <p:cNvPr id="151" name="Google Shape;151;p14"/>
          <p:cNvSpPr txBox="1"/>
          <p:nvPr/>
        </p:nvSpPr>
        <p:spPr>
          <a:xfrm>
            <a:off x="1374099" y="2060971"/>
            <a:ext cx="2895361" cy="1357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1" i="0" u="none" strike="noStrike" cap="none">
                <a:solidFill>
                  <a:srgbClr val="94A3B8"/>
                </a:solidFill>
                <a:latin typeface="Urbanist"/>
                <a:ea typeface="Urbanist"/>
                <a:cs typeface="Urbanist"/>
                <a:sym typeface="Urbanist"/>
              </a:rPr>
              <a:t>Predicted Class</a:t>
            </a:r>
            <a:endParaRPr/>
          </a:p>
        </p:txBody>
      </p:sp>
      <p:sp>
        <p:nvSpPr>
          <p:cNvPr id="152" name="Google Shape;152;p14"/>
          <p:cNvSpPr txBox="1"/>
          <p:nvPr/>
        </p:nvSpPr>
        <p:spPr>
          <a:xfrm>
            <a:off x="397705" y="3042946"/>
            <a:ext cx="338100" cy="207749"/>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dirty="0">
                <a:solidFill>
                  <a:srgbClr val="94A3B8"/>
                </a:solidFill>
                <a:latin typeface="Times"/>
                <a:ea typeface="Times"/>
                <a:cs typeface="Times"/>
                <a:sym typeface="Times"/>
              </a:rPr>
              <a:t>Actual Class</a:t>
            </a:r>
            <a:endParaRPr dirty="0"/>
          </a:p>
        </p:txBody>
      </p:sp>
      <p:sp>
        <p:nvSpPr>
          <p:cNvPr id="153" name="Google Shape;153;p14"/>
          <p:cNvSpPr txBox="1"/>
          <p:nvPr/>
        </p:nvSpPr>
        <p:spPr>
          <a:xfrm>
            <a:off x="1443037" y="2268140"/>
            <a:ext cx="500062" cy="571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Human</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Written</a:t>
            </a:r>
            <a:endParaRPr/>
          </a:p>
        </p:txBody>
      </p:sp>
      <p:sp>
        <p:nvSpPr>
          <p:cNvPr id="154" name="Google Shape;154;p14"/>
          <p:cNvSpPr txBox="1"/>
          <p:nvPr/>
        </p:nvSpPr>
        <p:spPr>
          <a:xfrm>
            <a:off x="2028825" y="2268140"/>
            <a:ext cx="642937" cy="571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AI</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Generated</a:t>
            </a:r>
            <a:endParaRPr/>
          </a:p>
        </p:txBody>
      </p:sp>
      <p:sp>
        <p:nvSpPr>
          <p:cNvPr id="155" name="Google Shape;155;p14"/>
          <p:cNvSpPr txBox="1"/>
          <p:nvPr/>
        </p:nvSpPr>
        <p:spPr>
          <a:xfrm>
            <a:off x="2757487" y="2268140"/>
            <a:ext cx="642937" cy="571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Hybrid</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(Mixed)</a:t>
            </a:r>
            <a:endParaRPr/>
          </a:p>
        </p:txBody>
      </p:sp>
      <p:sp>
        <p:nvSpPr>
          <p:cNvPr id="156" name="Google Shape;156;p14"/>
          <p:cNvSpPr txBox="1"/>
          <p:nvPr/>
        </p:nvSpPr>
        <p:spPr>
          <a:xfrm>
            <a:off x="2028825" y="4061221"/>
            <a:ext cx="714375"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Human</a:t>
            </a:r>
            <a:endParaRPr/>
          </a:p>
        </p:txBody>
      </p:sp>
      <p:sp>
        <p:nvSpPr>
          <p:cNvPr id="157" name="Google Shape;157;p14"/>
          <p:cNvSpPr txBox="1"/>
          <p:nvPr/>
        </p:nvSpPr>
        <p:spPr>
          <a:xfrm>
            <a:off x="2757487" y="4061221"/>
            <a:ext cx="714375"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AI Gen</a:t>
            </a:r>
            <a:endParaRPr/>
          </a:p>
        </p:txBody>
      </p:sp>
      <p:sp>
        <p:nvSpPr>
          <p:cNvPr id="158" name="Google Shape;158;p14"/>
          <p:cNvSpPr txBox="1"/>
          <p:nvPr/>
        </p:nvSpPr>
        <p:spPr>
          <a:xfrm>
            <a:off x="3486150" y="4061221"/>
            <a:ext cx="714375"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Hybrid</a:t>
            </a:r>
            <a:endParaRPr/>
          </a:p>
        </p:txBody>
      </p:sp>
      <p:sp>
        <p:nvSpPr>
          <p:cNvPr id="159" name="Google Shape;159;p14"/>
          <p:cNvSpPr txBox="1"/>
          <p:nvPr/>
        </p:nvSpPr>
        <p:spPr>
          <a:xfrm>
            <a:off x="4807743" y="1939527"/>
            <a:ext cx="2900362"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1" i="0" u="none" strike="noStrike" cap="none">
                <a:solidFill>
                  <a:srgbClr val="10B981"/>
                </a:solidFill>
                <a:latin typeface="Times New Roman"/>
                <a:ea typeface="Times New Roman"/>
                <a:cs typeface="Times New Roman"/>
                <a:sym typeface="Times New Roman"/>
              </a:rPr>
              <a:t>MODEL PRECISION</a:t>
            </a:r>
            <a:endParaRPr/>
          </a:p>
        </p:txBody>
      </p:sp>
      <p:sp>
        <p:nvSpPr>
          <p:cNvPr id="160" name="Google Shape;160;p14"/>
          <p:cNvSpPr txBox="1"/>
          <p:nvPr/>
        </p:nvSpPr>
        <p:spPr>
          <a:xfrm>
            <a:off x="4807743" y="2182415"/>
            <a:ext cx="2900362"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The model achieves an impressive </a:t>
            </a:r>
            <a:r>
              <a:rPr lang="en-US" sz="1012" b="1" i="0" u="none" strike="noStrike" cap="none">
                <a:solidFill>
                  <a:srgbClr val="CBD5E1"/>
                </a:solidFill>
                <a:latin typeface="Urbanist"/>
                <a:ea typeface="Urbanist"/>
                <a:cs typeface="Urbanist"/>
                <a:sym typeface="Urbanist"/>
              </a:rPr>
              <a:t>96% sensitivity</a:t>
            </a:r>
            <a:r>
              <a:rPr lang="en-US" sz="1012" b="0" i="0" u="none" strike="noStrike" cap="none">
                <a:solidFill>
                  <a:srgbClr val="CBD5E1"/>
                </a:solidFill>
                <a:latin typeface="Urbanist"/>
                <a:ea typeface="Urbanist"/>
                <a:cs typeface="Urbanist"/>
                <a:sym typeface="Urbanist"/>
              </a:rPr>
              <a:t> in correctly identifying fully AI-generated content, ensuring high integrity for certificates.</a:t>
            </a:r>
            <a:endParaRPr/>
          </a:p>
        </p:txBody>
      </p:sp>
      <p:sp>
        <p:nvSpPr>
          <p:cNvPr id="161" name="Google Shape;161;p14"/>
          <p:cNvSpPr txBox="1"/>
          <p:nvPr/>
        </p:nvSpPr>
        <p:spPr>
          <a:xfrm>
            <a:off x="4807743" y="3246834"/>
            <a:ext cx="2900362"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1" i="0" u="none" strike="noStrike" cap="none">
                <a:solidFill>
                  <a:srgbClr val="F59E0B"/>
                </a:solidFill>
                <a:latin typeface="Times New Roman"/>
                <a:ea typeface="Times New Roman"/>
                <a:cs typeface="Times New Roman"/>
                <a:sym typeface="Times New Roman"/>
              </a:rPr>
              <a:t>THE "HYBRID" CHALLENGE</a:t>
            </a:r>
            <a:endParaRPr/>
          </a:p>
        </p:txBody>
      </p:sp>
      <p:sp>
        <p:nvSpPr>
          <p:cNvPr id="162" name="Google Shape;162;p14"/>
          <p:cNvSpPr txBox="1"/>
          <p:nvPr/>
        </p:nvSpPr>
        <p:spPr>
          <a:xfrm>
            <a:off x="4807743" y="3489721"/>
            <a:ext cx="2900362"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While accuracy drops slightly to 85% for "Hybrid" content, this is still </a:t>
            </a:r>
            <a:r>
              <a:rPr lang="en-US" sz="1012" b="1" i="0" u="none" strike="noStrike" cap="none">
                <a:solidFill>
                  <a:srgbClr val="CBD5E1"/>
                </a:solidFill>
                <a:latin typeface="Urbanist"/>
                <a:ea typeface="Urbanist"/>
                <a:cs typeface="Urbanist"/>
                <a:sym typeface="Urbanist"/>
              </a:rPr>
              <a:t>20 points higher</a:t>
            </a:r>
            <a:r>
              <a:rPr lang="en-US" sz="1012" b="0" i="0" u="none" strike="noStrike" cap="none">
                <a:solidFill>
                  <a:srgbClr val="CBD5E1"/>
                </a:solidFill>
                <a:latin typeface="Urbanist"/>
                <a:ea typeface="Urbanist"/>
                <a:cs typeface="Urbanist"/>
                <a:sym typeface="Urbanist"/>
              </a:rPr>
              <a:t> than standard industry classifiers, favoring the student in edge cases.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6"/>
        <p:cNvGrpSpPr/>
        <p:nvPr/>
      </p:nvGrpSpPr>
      <p:grpSpPr>
        <a:xfrm>
          <a:off x="0" y="0"/>
          <a:ext cx="0" cy="0"/>
          <a:chOff x="0" y="0"/>
          <a:chExt cx="0" cy="0"/>
        </a:xfrm>
      </p:grpSpPr>
      <p:pic>
        <p:nvPicPr>
          <p:cNvPr id="167" name="Google Shape;167;p15"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68" name="Google Shape;168;p15" descr="image.png"/>
          <p:cNvPicPr preferRelativeResize="0"/>
          <p:nvPr/>
        </p:nvPicPr>
        <p:blipFill rotWithShape="1">
          <a:blip r:embed="rId4">
            <a:alphaModFix/>
          </a:blip>
          <a:srcRect/>
          <a:stretch/>
        </p:blipFill>
        <p:spPr>
          <a:xfrm>
            <a:off x="921543" y="1803796"/>
            <a:ext cx="3800475" cy="2507456"/>
          </a:xfrm>
          <a:prstGeom prst="rect">
            <a:avLst/>
          </a:prstGeom>
          <a:noFill/>
          <a:ln>
            <a:noFill/>
          </a:ln>
        </p:spPr>
      </p:pic>
      <p:pic>
        <p:nvPicPr>
          <p:cNvPr id="169" name="Google Shape;169;p15" descr="image.png"/>
          <p:cNvPicPr preferRelativeResize="0"/>
          <p:nvPr/>
        </p:nvPicPr>
        <p:blipFill rotWithShape="1">
          <a:blip r:embed="rId5">
            <a:alphaModFix/>
          </a:blip>
          <a:srcRect/>
          <a:stretch/>
        </p:blipFill>
        <p:spPr>
          <a:xfrm>
            <a:off x="5007768" y="2450306"/>
            <a:ext cx="3214687" cy="1357312"/>
          </a:xfrm>
          <a:prstGeom prst="rect">
            <a:avLst/>
          </a:prstGeom>
          <a:noFill/>
          <a:ln>
            <a:noFill/>
          </a:ln>
        </p:spPr>
      </p:pic>
      <p:pic>
        <p:nvPicPr>
          <p:cNvPr id="170" name="Google Shape;170;p15" descr="image.png"/>
          <p:cNvPicPr preferRelativeResize="0"/>
          <p:nvPr/>
        </p:nvPicPr>
        <p:blipFill rotWithShape="1">
          <a:blip r:embed="rId6">
            <a:alphaModFix/>
          </a:blip>
          <a:srcRect/>
          <a:stretch/>
        </p:blipFill>
        <p:spPr>
          <a:xfrm>
            <a:off x="3414712" y="2246709"/>
            <a:ext cx="571500" cy="357187"/>
          </a:xfrm>
          <a:prstGeom prst="rect">
            <a:avLst/>
          </a:prstGeom>
          <a:noFill/>
          <a:ln>
            <a:noFill/>
          </a:ln>
        </p:spPr>
      </p:pic>
      <p:pic>
        <p:nvPicPr>
          <p:cNvPr id="171" name="Google Shape;171;p15" descr="image.png"/>
          <p:cNvPicPr preferRelativeResize="0"/>
          <p:nvPr/>
        </p:nvPicPr>
        <p:blipFill rotWithShape="1">
          <a:blip r:embed="rId7">
            <a:alphaModFix/>
          </a:blip>
          <a:srcRect/>
          <a:stretch/>
        </p:blipFill>
        <p:spPr>
          <a:xfrm>
            <a:off x="4000500" y="2246709"/>
            <a:ext cx="571500" cy="357187"/>
          </a:xfrm>
          <a:prstGeom prst="rect">
            <a:avLst/>
          </a:prstGeom>
          <a:noFill/>
          <a:ln>
            <a:noFill/>
          </a:ln>
        </p:spPr>
      </p:pic>
      <p:pic>
        <p:nvPicPr>
          <p:cNvPr id="172" name="Google Shape;172;p15" descr="image.png"/>
          <p:cNvPicPr preferRelativeResize="0"/>
          <p:nvPr/>
        </p:nvPicPr>
        <p:blipFill rotWithShape="1">
          <a:blip r:embed="rId8">
            <a:alphaModFix/>
          </a:blip>
          <a:srcRect/>
          <a:stretch/>
        </p:blipFill>
        <p:spPr>
          <a:xfrm>
            <a:off x="1071562" y="2618184"/>
            <a:ext cx="571500" cy="357187"/>
          </a:xfrm>
          <a:prstGeom prst="rect">
            <a:avLst/>
          </a:prstGeom>
          <a:noFill/>
          <a:ln>
            <a:noFill/>
          </a:ln>
        </p:spPr>
      </p:pic>
      <p:pic>
        <p:nvPicPr>
          <p:cNvPr id="173" name="Google Shape;173;p15" descr="image.png"/>
          <p:cNvPicPr preferRelativeResize="0"/>
          <p:nvPr/>
        </p:nvPicPr>
        <p:blipFill rotWithShape="1">
          <a:blip r:embed="rId9">
            <a:alphaModFix/>
          </a:blip>
          <a:srcRect/>
          <a:stretch/>
        </p:blipFill>
        <p:spPr>
          <a:xfrm>
            <a:off x="1657350" y="2618184"/>
            <a:ext cx="571500" cy="357187"/>
          </a:xfrm>
          <a:prstGeom prst="rect">
            <a:avLst/>
          </a:prstGeom>
          <a:noFill/>
          <a:ln>
            <a:noFill/>
          </a:ln>
        </p:spPr>
      </p:pic>
      <p:pic>
        <p:nvPicPr>
          <p:cNvPr id="174" name="Google Shape;174;p15" descr="image.png"/>
          <p:cNvPicPr preferRelativeResize="0"/>
          <p:nvPr/>
        </p:nvPicPr>
        <p:blipFill rotWithShape="1">
          <a:blip r:embed="rId10">
            <a:alphaModFix/>
          </a:blip>
          <a:srcRect/>
          <a:stretch/>
        </p:blipFill>
        <p:spPr>
          <a:xfrm>
            <a:off x="2243137" y="2618184"/>
            <a:ext cx="571500" cy="357187"/>
          </a:xfrm>
          <a:prstGeom prst="rect">
            <a:avLst/>
          </a:prstGeom>
          <a:noFill/>
          <a:ln>
            <a:noFill/>
          </a:ln>
        </p:spPr>
      </p:pic>
      <p:pic>
        <p:nvPicPr>
          <p:cNvPr id="175" name="Google Shape;175;p15" descr="image.png"/>
          <p:cNvPicPr preferRelativeResize="0"/>
          <p:nvPr/>
        </p:nvPicPr>
        <p:blipFill rotWithShape="1">
          <a:blip r:embed="rId11">
            <a:alphaModFix/>
          </a:blip>
          <a:srcRect/>
          <a:stretch/>
        </p:blipFill>
        <p:spPr>
          <a:xfrm>
            <a:off x="2828925" y="2618184"/>
            <a:ext cx="571500" cy="357187"/>
          </a:xfrm>
          <a:prstGeom prst="rect">
            <a:avLst/>
          </a:prstGeom>
          <a:noFill/>
          <a:ln>
            <a:noFill/>
          </a:ln>
        </p:spPr>
      </p:pic>
      <p:pic>
        <p:nvPicPr>
          <p:cNvPr id="176" name="Google Shape;176;p15" descr="image.png"/>
          <p:cNvPicPr preferRelativeResize="0"/>
          <p:nvPr/>
        </p:nvPicPr>
        <p:blipFill rotWithShape="1">
          <a:blip r:embed="rId12">
            <a:alphaModFix/>
          </a:blip>
          <a:srcRect/>
          <a:stretch/>
        </p:blipFill>
        <p:spPr>
          <a:xfrm>
            <a:off x="3414712" y="2618184"/>
            <a:ext cx="571500" cy="357187"/>
          </a:xfrm>
          <a:prstGeom prst="rect">
            <a:avLst/>
          </a:prstGeom>
          <a:noFill/>
          <a:ln>
            <a:noFill/>
          </a:ln>
        </p:spPr>
      </p:pic>
      <p:pic>
        <p:nvPicPr>
          <p:cNvPr id="177" name="Google Shape;177;p15" descr="image.png"/>
          <p:cNvPicPr preferRelativeResize="0"/>
          <p:nvPr/>
        </p:nvPicPr>
        <p:blipFill rotWithShape="1">
          <a:blip r:embed="rId13">
            <a:alphaModFix/>
          </a:blip>
          <a:srcRect/>
          <a:stretch/>
        </p:blipFill>
        <p:spPr>
          <a:xfrm>
            <a:off x="4000500" y="2618184"/>
            <a:ext cx="571500" cy="357187"/>
          </a:xfrm>
          <a:prstGeom prst="rect">
            <a:avLst/>
          </a:prstGeom>
          <a:noFill/>
          <a:ln>
            <a:noFill/>
          </a:ln>
        </p:spPr>
      </p:pic>
      <p:pic>
        <p:nvPicPr>
          <p:cNvPr id="178" name="Google Shape;178;p15" descr="image.png"/>
          <p:cNvPicPr preferRelativeResize="0"/>
          <p:nvPr/>
        </p:nvPicPr>
        <p:blipFill rotWithShape="1">
          <a:blip r:embed="rId14">
            <a:alphaModFix/>
          </a:blip>
          <a:srcRect/>
          <a:stretch/>
        </p:blipFill>
        <p:spPr>
          <a:xfrm>
            <a:off x="1071562" y="2989659"/>
            <a:ext cx="571500" cy="357187"/>
          </a:xfrm>
          <a:prstGeom prst="rect">
            <a:avLst/>
          </a:prstGeom>
          <a:noFill/>
          <a:ln>
            <a:noFill/>
          </a:ln>
        </p:spPr>
      </p:pic>
      <p:pic>
        <p:nvPicPr>
          <p:cNvPr id="179" name="Google Shape;179;p15" descr="image.png"/>
          <p:cNvPicPr preferRelativeResize="0"/>
          <p:nvPr/>
        </p:nvPicPr>
        <p:blipFill rotWithShape="1">
          <a:blip r:embed="rId15">
            <a:alphaModFix/>
          </a:blip>
          <a:srcRect/>
          <a:stretch/>
        </p:blipFill>
        <p:spPr>
          <a:xfrm>
            <a:off x="1657350" y="2989659"/>
            <a:ext cx="571500" cy="357187"/>
          </a:xfrm>
          <a:prstGeom prst="rect">
            <a:avLst/>
          </a:prstGeom>
          <a:noFill/>
          <a:ln>
            <a:noFill/>
          </a:ln>
        </p:spPr>
      </p:pic>
      <p:pic>
        <p:nvPicPr>
          <p:cNvPr id="180" name="Google Shape;180;p15" descr="image.png"/>
          <p:cNvPicPr preferRelativeResize="0"/>
          <p:nvPr/>
        </p:nvPicPr>
        <p:blipFill rotWithShape="1">
          <a:blip r:embed="rId16">
            <a:alphaModFix/>
          </a:blip>
          <a:srcRect/>
          <a:stretch/>
        </p:blipFill>
        <p:spPr>
          <a:xfrm>
            <a:off x="2243137" y="2989659"/>
            <a:ext cx="571500" cy="357187"/>
          </a:xfrm>
          <a:prstGeom prst="rect">
            <a:avLst/>
          </a:prstGeom>
          <a:noFill/>
          <a:ln>
            <a:noFill/>
          </a:ln>
        </p:spPr>
      </p:pic>
      <p:pic>
        <p:nvPicPr>
          <p:cNvPr id="181" name="Google Shape;181;p15" descr="image.png"/>
          <p:cNvPicPr preferRelativeResize="0"/>
          <p:nvPr/>
        </p:nvPicPr>
        <p:blipFill rotWithShape="1">
          <a:blip r:embed="rId17">
            <a:alphaModFix/>
          </a:blip>
          <a:srcRect/>
          <a:stretch/>
        </p:blipFill>
        <p:spPr>
          <a:xfrm>
            <a:off x="2828925" y="2989659"/>
            <a:ext cx="571500" cy="357187"/>
          </a:xfrm>
          <a:prstGeom prst="rect">
            <a:avLst/>
          </a:prstGeom>
          <a:noFill/>
          <a:ln>
            <a:noFill/>
          </a:ln>
        </p:spPr>
      </p:pic>
      <p:pic>
        <p:nvPicPr>
          <p:cNvPr id="182" name="Google Shape;182;p15" descr="image.png"/>
          <p:cNvPicPr preferRelativeResize="0"/>
          <p:nvPr/>
        </p:nvPicPr>
        <p:blipFill rotWithShape="1">
          <a:blip r:embed="rId18">
            <a:alphaModFix/>
          </a:blip>
          <a:srcRect/>
          <a:stretch/>
        </p:blipFill>
        <p:spPr>
          <a:xfrm>
            <a:off x="3414712" y="2989659"/>
            <a:ext cx="571500" cy="357187"/>
          </a:xfrm>
          <a:prstGeom prst="rect">
            <a:avLst/>
          </a:prstGeom>
          <a:noFill/>
          <a:ln>
            <a:noFill/>
          </a:ln>
        </p:spPr>
      </p:pic>
      <p:pic>
        <p:nvPicPr>
          <p:cNvPr id="183" name="Google Shape;183;p15" descr="image.png"/>
          <p:cNvPicPr preferRelativeResize="0"/>
          <p:nvPr/>
        </p:nvPicPr>
        <p:blipFill rotWithShape="1">
          <a:blip r:embed="rId19">
            <a:alphaModFix/>
          </a:blip>
          <a:srcRect/>
          <a:stretch/>
        </p:blipFill>
        <p:spPr>
          <a:xfrm>
            <a:off x="4000500" y="2989659"/>
            <a:ext cx="571500" cy="357187"/>
          </a:xfrm>
          <a:prstGeom prst="rect">
            <a:avLst/>
          </a:prstGeom>
          <a:noFill/>
          <a:ln>
            <a:noFill/>
          </a:ln>
        </p:spPr>
      </p:pic>
      <p:pic>
        <p:nvPicPr>
          <p:cNvPr id="184" name="Google Shape;184;p15" descr="image.png"/>
          <p:cNvPicPr preferRelativeResize="0"/>
          <p:nvPr/>
        </p:nvPicPr>
        <p:blipFill rotWithShape="1">
          <a:blip r:embed="rId20">
            <a:alphaModFix/>
          </a:blip>
          <a:srcRect/>
          <a:stretch/>
        </p:blipFill>
        <p:spPr>
          <a:xfrm>
            <a:off x="1071562" y="3361134"/>
            <a:ext cx="571500" cy="357187"/>
          </a:xfrm>
          <a:prstGeom prst="rect">
            <a:avLst/>
          </a:prstGeom>
          <a:noFill/>
          <a:ln>
            <a:noFill/>
          </a:ln>
        </p:spPr>
      </p:pic>
      <p:pic>
        <p:nvPicPr>
          <p:cNvPr id="185" name="Google Shape;185;p15" descr="image.png"/>
          <p:cNvPicPr preferRelativeResize="0"/>
          <p:nvPr/>
        </p:nvPicPr>
        <p:blipFill rotWithShape="1">
          <a:blip r:embed="rId6">
            <a:alphaModFix/>
          </a:blip>
          <a:srcRect/>
          <a:stretch/>
        </p:blipFill>
        <p:spPr>
          <a:xfrm>
            <a:off x="1657350" y="3361134"/>
            <a:ext cx="571500" cy="357187"/>
          </a:xfrm>
          <a:prstGeom prst="rect">
            <a:avLst/>
          </a:prstGeom>
          <a:noFill/>
          <a:ln>
            <a:noFill/>
          </a:ln>
        </p:spPr>
      </p:pic>
      <p:pic>
        <p:nvPicPr>
          <p:cNvPr id="186" name="Google Shape;186;p15" descr="image.png"/>
          <p:cNvPicPr preferRelativeResize="0"/>
          <p:nvPr/>
        </p:nvPicPr>
        <p:blipFill rotWithShape="1">
          <a:blip r:embed="rId16">
            <a:alphaModFix/>
          </a:blip>
          <a:srcRect/>
          <a:stretch/>
        </p:blipFill>
        <p:spPr>
          <a:xfrm>
            <a:off x="2243137" y="3361134"/>
            <a:ext cx="571500" cy="357187"/>
          </a:xfrm>
          <a:prstGeom prst="rect">
            <a:avLst/>
          </a:prstGeom>
          <a:noFill/>
          <a:ln>
            <a:noFill/>
          </a:ln>
        </p:spPr>
      </p:pic>
      <p:pic>
        <p:nvPicPr>
          <p:cNvPr id="187" name="Google Shape;187;p15" descr="image.png"/>
          <p:cNvPicPr preferRelativeResize="0"/>
          <p:nvPr/>
        </p:nvPicPr>
        <p:blipFill rotWithShape="1">
          <a:blip r:embed="rId21">
            <a:alphaModFix/>
          </a:blip>
          <a:srcRect/>
          <a:stretch/>
        </p:blipFill>
        <p:spPr>
          <a:xfrm>
            <a:off x="2828925" y="3361134"/>
            <a:ext cx="571500" cy="357187"/>
          </a:xfrm>
          <a:prstGeom prst="rect">
            <a:avLst/>
          </a:prstGeom>
          <a:noFill/>
          <a:ln>
            <a:noFill/>
          </a:ln>
        </p:spPr>
      </p:pic>
      <p:pic>
        <p:nvPicPr>
          <p:cNvPr id="188" name="Google Shape;188;p15" descr="image.png"/>
          <p:cNvPicPr preferRelativeResize="0"/>
          <p:nvPr/>
        </p:nvPicPr>
        <p:blipFill rotWithShape="1">
          <a:blip r:embed="rId22">
            <a:alphaModFix/>
          </a:blip>
          <a:srcRect/>
          <a:stretch/>
        </p:blipFill>
        <p:spPr>
          <a:xfrm>
            <a:off x="3414712" y="3361134"/>
            <a:ext cx="571500" cy="357187"/>
          </a:xfrm>
          <a:prstGeom prst="rect">
            <a:avLst/>
          </a:prstGeom>
          <a:noFill/>
          <a:ln>
            <a:noFill/>
          </a:ln>
        </p:spPr>
      </p:pic>
      <p:pic>
        <p:nvPicPr>
          <p:cNvPr id="189" name="Google Shape;189;p15" descr="image.png"/>
          <p:cNvPicPr preferRelativeResize="0"/>
          <p:nvPr/>
        </p:nvPicPr>
        <p:blipFill rotWithShape="1">
          <a:blip r:embed="rId23">
            <a:alphaModFix/>
          </a:blip>
          <a:srcRect/>
          <a:stretch/>
        </p:blipFill>
        <p:spPr>
          <a:xfrm>
            <a:off x="4000500" y="3361134"/>
            <a:ext cx="571500" cy="357187"/>
          </a:xfrm>
          <a:prstGeom prst="rect">
            <a:avLst/>
          </a:prstGeom>
          <a:noFill/>
          <a:ln>
            <a:noFill/>
          </a:ln>
        </p:spPr>
      </p:pic>
      <p:sp>
        <p:nvSpPr>
          <p:cNvPr id="190" name="Google Shape;190;p15"/>
          <p:cNvSpPr txBox="1"/>
          <p:nvPr/>
        </p:nvSpPr>
        <p:spPr>
          <a:xfrm>
            <a:off x="364331" y="292893"/>
            <a:ext cx="8779668" cy="364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0" i="0" u="none" strike="noStrike" cap="none">
                <a:solidFill>
                  <a:srgbClr val="FFFFFF"/>
                </a:solidFill>
                <a:latin typeface="Urbanist SemiBold"/>
                <a:ea typeface="Urbanist SemiBold"/>
                <a:cs typeface="Urbanist SemiBold"/>
                <a:sym typeface="Urbanist SemiBold"/>
              </a:rPr>
              <a:t>Temporal Analysis: The "Panic" Effect</a:t>
            </a:r>
            <a:endParaRPr/>
          </a:p>
        </p:txBody>
      </p:sp>
      <p:sp>
        <p:nvSpPr>
          <p:cNvPr id="191" name="Google Shape;191;p15"/>
          <p:cNvSpPr txBox="1"/>
          <p:nvPr/>
        </p:nvSpPr>
        <p:spPr>
          <a:xfrm>
            <a:off x="364331" y="785812"/>
            <a:ext cx="8415337" cy="19288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Mapping average Integrity Scores against submission windows reveals a critical behavioral pattern.</a:t>
            </a:r>
            <a:endParaRPr/>
          </a:p>
        </p:txBody>
      </p:sp>
      <p:sp>
        <p:nvSpPr>
          <p:cNvPr id="192" name="Google Shape;192;p15"/>
          <p:cNvSpPr txBox="1"/>
          <p:nvPr/>
        </p:nvSpPr>
        <p:spPr>
          <a:xfrm>
            <a:off x="984051" y="2053827"/>
            <a:ext cx="3675459" cy="121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87" b="1" i="0" u="none" strike="noStrike" cap="none">
                <a:solidFill>
                  <a:srgbClr val="94A3B8"/>
                </a:solidFill>
                <a:latin typeface="Urbanist"/>
                <a:ea typeface="Urbanist"/>
                <a:cs typeface="Urbanist"/>
                <a:sym typeface="Urbanist"/>
              </a:rPr>
              <a:t>Hours Before Deadline</a:t>
            </a:r>
            <a:endParaRPr/>
          </a:p>
        </p:txBody>
      </p:sp>
      <p:sp>
        <p:nvSpPr>
          <p:cNvPr id="193" name="Google Shape;193;p15"/>
          <p:cNvSpPr txBox="1"/>
          <p:nvPr/>
        </p:nvSpPr>
        <p:spPr>
          <a:xfrm>
            <a:off x="1071562" y="2246709"/>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Comp</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Sci</a:t>
            </a:r>
            <a:endParaRPr/>
          </a:p>
        </p:txBody>
      </p:sp>
      <p:sp>
        <p:nvSpPr>
          <p:cNvPr id="194" name="Google Shape;194;p15"/>
          <p:cNvSpPr txBox="1"/>
          <p:nvPr/>
        </p:nvSpPr>
        <p:spPr>
          <a:xfrm>
            <a:off x="1657350" y="2246709"/>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Liberal</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Arts</a:t>
            </a:r>
            <a:endParaRPr/>
          </a:p>
        </p:txBody>
      </p:sp>
      <p:sp>
        <p:nvSpPr>
          <p:cNvPr id="195" name="Google Shape;195;p15"/>
          <p:cNvSpPr txBox="1"/>
          <p:nvPr/>
        </p:nvSpPr>
        <p:spPr>
          <a:xfrm>
            <a:off x="2243137" y="2246709"/>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Business</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Mgmt</a:t>
            </a:r>
            <a:endParaRPr/>
          </a:p>
        </p:txBody>
      </p:sp>
      <p:sp>
        <p:nvSpPr>
          <p:cNvPr id="196" name="Google Shape;196;p15"/>
          <p:cNvSpPr txBox="1"/>
          <p:nvPr/>
        </p:nvSpPr>
        <p:spPr>
          <a:xfrm>
            <a:off x="2828925" y="2246709"/>
            <a:ext cx="500062" cy="3571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Life</a:t>
            </a:r>
            <a:br>
              <a:rPr lang="en-US" sz="1350" b="0" i="0" u="none" strike="noStrike" cap="none">
                <a:solidFill>
                  <a:schemeClr val="dk1"/>
                </a:solidFill>
                <a:latin typeface="Calibri"/>
                <a:ea typeface="Calibri"/>
                <a:cs typeface="Calibri"/>
                <a:sym typeface="Calibri"/>
              </a:rPr>
            </a:br>
            <a:r>
              <a:rPr lang="en-US" sz="675" b="0" i="0" u="none" strike="noStrike" cap="none">
                <a:solidFill>
                  <a:srgbClr val="94A3B8"/>
                </a:solidFill>
                <a:latin typeface="Times"/>
                <a:ea typeface="Times"/>
                <a:cs typeface="Times"/>
                <a:sym typeface="Times"/>
              </a:rPr>
              <a:t> Sci</a:t>
            </a:r>
            <a:endParaRPr/>
          </a:p>
        </p:txBody>
      </p:sp>
      <p:sp>
        <p:nvSpPr>
          <p:cNvPr id="197" name="Google Shape;197;p15"/>
          <p:cNvSpPr txBox="1"/>
          <p:nvPr/>
        </p:nvSpPr>
        <p:spPr>
          <a:xfrm>
            <a:off x="1657350" y="376832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&gt;48h</a:t>
            </a:r>
            <a:endParaRPr/>
          </a:p>
        </p:txBody>
      </p:sp>
      <p:sp>
        <p:nvSpPr>
          <p:cNvPr id="198" name="Google Shape;198;p15"/>
          <p:cNvSpPr txBox="1"/>
          <p:nvPr/>
        </p:nvSpPr>
        <p:spPr>
          <a:xfrm>
            <a:off x="2243137" y="376832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24h</a:t>
            </a:r>
            <a:endParaRPr/>
          </a:p>
        </p:txBody>
      </p:sp>
      <p:sp>
        <p:nvSpPr>
          <p:cNvPr id="199" name="Google Shape;199;p15"/>
          <p:cNvSpPr txBox="1"/>
          <p:nvPr/>
        </p:nvSpPr>
        <p:spPr>
          <a:xfrm>
            <a:off x="2828925" y="376832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12h</a:t>
            </a:r>
            <a:endParaRPr/>
          </a:p>
        </p:txBody>
      </p:sp>
      <p:sp>
        <p:nvSpPr>
          <p:cNvPr id="200" name="Google Shape;200;p15"/>
          <p:cNvSpPr txBox="1"/>
          <p:nvPr/>
        </p:nvSpPr>
        <p:spPr>
          <a:xfrm>
            <a:off x="3414712" y="376832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6h</a:t>
            </a:r>
            <a:endParaRPr/>
          </a:p>
        </p:txBody>
      </p:sp>
      <p:sp>
        <p:nvSpPr>
          <p:cNvPr id="201" name="Google Shape;201;p15"/>
          <p:cNvSpPr txBox="1"/>
          <p:nvPr/>
        </p:nvSpPr>
        <p:spPr>
          <a:xfrm>
            <a:off x="4000500" y="3768327"/>
            <a:ext cx="571500" cy="17859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675" b="0" i="0" u="none" strike="noStrike" cap="none">
                <a:solidFill>
                  <a:srgbClr val="94A3B8"/>
                </a:solidFill>
                <a:latin typeface="Times"/>
                <a:ea typeface="Times"/>
                <a:cs typeface="Times"/>
                <a:sym typeface="Times"/>
              </a:rPr>
              <a:t>&lt;1h</a:t>
            </a:r>
            <a:endParaRPr/>
          </a:p>
        </p:txBody>
      </p:sp>
      <p:sp>
        <p:nvSpPr>
          <p:cNvPr id="202" name="Google Shape;202;p15"/>
          <p:cNvSpPr txBox="1"/>
          <p:nvPr/>
        </p:nvSpPr>
        <p:spPr>
          <a:xfrm>
            <a:off x="5179218" y="2557462"/>
            <a:ext cx="2900362"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87" b="1" i="0" u="none" strike="noStrike" cap="none">
                <a:solidFill>
                  <a:srgbClr val="EF4444"/>
                </a:solidFill>
                <a:latin typeface="Times New Roman"/>
                <a:ea typeface="Times New Roman"/>
                <a:cs typeface="Times New Roman"/>
                <a:sym typeface="Times New Roman"/>
              </a:rPr>
              <a:t>THE "PANIC ZONE"</a:t>
            </a:r>
            <a:endParaRPr/>
          </a:p>
        </p:txBody>
      </p:sp>
      <p:sp>
        <p:nvSpPr>
          <p:cNvPr id="203" name="Google Shape;203;p15"/>
          <p:cNvSpPr txBox="1"/>
          <p:nvPr/>
        </p:nvSpPr>
        <p:spPr>
          <a:xfrm>
            <a:off x="5179218" y="2800350"/>
            <a:ext cx="2900362"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0" i="0" u="none" strike="noStrike" cap="none">
                <a:solidFill>
                  <a:srgbClr val="CBD5E1"/>
                </a:solidFill>
                <a:latin typeface="Urbanist"/>
                <a:ea typeface="Urbanist"/>
                <a:cs typeface="Urbanist"/>
                <a:sym typeface="Urbanist"/>
              </a:rPr>
              <a:t>Integrity scores drop to 38-42% within </a:t>
            </a:r>
            <a:r>
              <a:rPr lang="en-US" sz="1012" b="1" i="0" u="none" strike="noStrike" cap="none">
                <a:solidFill>
                  <a:srgbClr val="CBD5E1"/>
                </a:solidFill>
                <a:latin typeface="Urbanist"/>
                <a:ea typeface="Urbanist"/>
                <a:cs typeface="Urbanist"/>
                <a:sym typeface="Urbanist"/>
              </a:rPr>
              <a:t>1 hour</a:t>
            </a:r>
            <a:r>
              <a:rPr lang="en-US" sz="1012" b="0" i="0" u="none" strike="noStrike" cap="none">
                <a:solidFill>
                  <a:srgbClr val="CBD5E1"/>
                </a:solidFill>
                <a:latin typeface="Urbanist"/>
                <a:ea typeface="Urbanist"/>
                <a:cs typeface="Urbanist"/>
                <a:sym typeface="Urbanist"/>
              </a:rPr>
              <a:t> of the deadline. This validates the need for our "Draft Check" feature to prevent last-minute panic copying.</a:t>
            </a:r>
            <a:endParaRPr/>
          </a:p>
        </p:txBody>
      </p:sp>
      <p:sp>
        <p:nvSpPr>
          <p:cNvPr id="204" name="Google Shape;204;p15"/>
          <p:cNvSpPr/>
          <p:nvPr/>
        </p:nvSpPr>
        <p:spPr>
          <a:xfrm>
            <a:off x="1946559" y="4054077"/>
            <a:ext cx="107156" cy="107156"/>
          </a:xfrm>
          <a:prstGeom prst="roundRect">
            <a:avLst>
              <a:gd name="adj" fmla="val 20000"/>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205" name="Google Shape;205;p15"/>
          <p:cNvSpPr/>
          <p:nvPr/>
        </p:nvSpPr>
        <p:spPr>
          <a:xfrm>
            <a:off x="2648991" y="4054077"/>
            <a:ext cx="107156" cy="107156"/>
          </a:xfrm>
          <a:prstGeom prst="roundRect">
            <a:avLst>
              <a:gd name="adj" fmla="val 20000"/>
            </a:avLst>
          </a:prstGeom>
          <a:solidFill>
            <a:srgbClr val="F8717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206" name="Google Shape;206;p15"/>
          <p:cNvSpPr/>
          <p:nvPr/>
        </p:nvSpPr>
        <p:spPr>
          <a:xfrm>
            <a:off x="3203971" y="4054077"/>
            <a:ext cx="107156" cy="107156"/>
          </a:xfrm>
          <a:prstGeom prst="roundRect">
            <a:avLst>
              <a:gd name="adj" fmla="val 20000"/>
            </a:avLst>
          </a:prstGeom>
          <a:solidFill>
            <a:srgbClr val="B91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0"/>
        <p:cNvGrpSpPr/>
        <p:nvPr/>
      </p:nvGrpSpPr>
      <p:grpSpPr>
        <a:xfrm>
          <a:off x="0" y="0"/>
          <a:ext cx="0" cy="0"/>
          <a:chOff x="0" y="0"/>
          <a:chExt cx="0" cy="0"/>
        </a:xfrm>
      </p:grpSpPr>
      <p:pic>
        <p:nvPicPr>
          <p:cNvPr id="111" name="Google Shape;111;p14"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12" name="Google Shape;112;p14" descr="image.png"/>
          <p:cNvPicPr preferRelativeResize="0"/>
          <p:nvPr/>
        </p:nvPicPr>
        <p:blipFill rotWithShape="1">
          <a:blip r:embed="rId4">
            <a:alphaModFix/>
          </a:blip>
          <a:srcRect/>
          <a:stretch/>
        </p:blipFill>
        <p:spPr>
          <a:xfrm>
            <a:off x="364331" y="2039652"/>
            <a:ext cx="2662162" cy="2820106"/>
          </a:xfrm>
          <a:prstGeom prst="rect">
            <a:avLst/>
          </a:prstGeom>
          <a:noFill/>
          <a:ln>
            <a:noFill/>
          </a:ln>
        </p:spPr>
      </p:pic>
      <p:pic>
        <p:nvPicPr>
          <p:cNvPr id="113" name="Google Shape;113;p14" descr="image.png"/>
          <p:cNvPicPr preferRelativeResize="0"/>
          <p:nvPr/>
        </p:nvPicPr>
        <p:blipFill rotWithShape="1">
          <a:blip r:embed="rId5">
            <a:alphaModFix/>
          </a:blip>
          <a:srcRect/>
          <a:stretch/>
        </p:blipFill>
        <p:spPr>
          <a:xfrm>
            <a:off x="3240806" y="2039652"/>
            <a:ext cx="2662274" cy="2820106"/>
          </a:xfrm>
          <a:prstGeom prst="rect">
            <a:avLst/>
          </a:prstGeom>
          <a:noFill/>
          <a:ln>
            <a:noFill/>
          </a:ln>
        </p:spPr>
      </p:pic>
      <p:pic>
        <p:nvPicPr>
          <p:cNvPr id="114" name="Google Shape;114;p14" descr="image.png"/>
          <p:cNvPicPr preferRelativeResize="0"/>
          <p:nvPr/>
        </p:nvPicPr>
        <p:blipFill rotWithShape="1">
          <a:blip r:embed="rId6">
            <a:alphaModFix/>
          </a:blip>
          <a:srcRect/>
          <a:stretch/>
        </p:blipFill>
        <p:spPr>
          <a:xfrm>
            <a:off x="6117393" y="2039652"/>
            <a:ext cx="2662162" cy="2820106"/>
          </a:xfrm>
          <a:prstGeom prst="rect">
            <a:avLst/>
          </a:prstGeom>
          <a:noFill/>
          <a:ln>
            <a:noFill/>
          </a:ln>
        </p:spPr>
      </p:pic>
      <p:sp>
        <p:nvSpPr>
          <p:cNvPr id="115" name="Google Shape;115;p14"/>
          <p:cNvSpPr/>
          <p:nvPr/>
        </p:nvSpPr>
        <p:spPr>
          <a:xfrm>
            <a:off x="1681125" y="2046794"/>
            <a:ext cx="28575" cy="2805822"/>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116" name="Google Shape;116;p14" descr="image.png"/>
          <p:cNvPicPr preferRelativeResize="0"/>
          <p:nvPr/>
        </p:nvPicPr>
        <p:blipFill rotWithShape="1">
          <a:blip r:embed="rId7">
            <a:alphaModFix/>
          </a:blip>
          <a:srcRect/>
          <a:stretch/>
        </p:blipFill>
        <p:spPr>
          <a:xfrm>
            <a:off x="585787" y="2261108"/>
            <a:ext cx="228600" cy="228600"/>
          </a:xfrm>
          <a:prstGeom prst="rect">
            <a:avLst/>
          </a:prstGeom>
          <a:noFill/>
          <a:ln>
            <a:noFill/>
          </a:ln>
        </p:spPr>
      </p:pic>
      <p:sp>
        <p:nvSpPr>
          <p:cNvPr id="117" name="Google Shape;117;p14"/>
          <p:cNvSpPr txBox="1"/>
          <p:nvPr/>
        </p:nvSpPr>
        <p:spPr>
          <a:xfrm>
            <a:off x="585787" y="2739739"/>
            <a:ext cx="2330212"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FFFFFF"/>
                </a:solidFill>
                <a:latin typeface="Urbanist"/>
                <a:ea typeface="Urbanist"/>
                <a:cs typeface="Urbanist"/>
                <a:sym typeface="Urbanist"/>
              </a:rPr>
              <a:t>AI Precision</a:t>
            </a:r>
            <a:endParaRPr/>
          </a:p>
        </p:txBody>
      </p:sp>
      <p:sp>
        <p:nvSpPr>
          <p:cNvPr id="118" name="Google Shape;118;p14"/>
          <p:cNvSpPr txBox="1"/>
          <p:nvPr/>
        </p:nvSpPr>
        <p:spPr>
          <a:xfrm>
            <a:off x="585787" y="3018345"/>
            <a:ext cx="2219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1" i="0" u="none" strike="noStrike" cap="none">
                <a:solidFill>
                  <a:srgbClr val="FFFFFF"/>
                </a:solidFill>
                <a:latin typeface="JetBrains Mono"/>
                <a:ea typeface="JetBrains Mono"/>
                <a:cs typeface="JetBrains Mono"/>
                <a:sym typeface="JetBrains Mono"/>
              </a:rPr>
              <a:t>96%</a:t>
            </a:r>
            <a:endParaRPr/>
          </a:p>
        </p:txBody>
      </p:sp>
      <p:sp>
        <p:nvSpPr>
          <p:cNvPr id="119" name="Google Shape;119;p14"/>
          <p:cNvSpPr txBox="1"/>
          <p:nvPr/>
        </p:nvSpPr>
        <p:spPr>
          <a:xfrm>
            <a:off x="585787" y="3532695"/>
            <a:ext cx="2219250" cy="731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00" b="1" i="0" u="none" strike="noStrike" cap="none">
                <a:solidFill>
                  <a:srgbClr val="CBD5E1"/>
                </a:solidFill>
                <a:latin typeface="Urbanist"/>
                <a:ea typeface="Urbanist"/>
                <a:cs typeface="Urbanist"/>
                <a:sym typeface="Urbanist"/>
              </a:rPr>
              <a:t>Sensitivity Rate</a:t>
            </a:r>
            <a:r>
              <a:rPr lang="en-US" sz="900" b="0" i="0" u="none" strike="noStrike" cap="none">
                <a:solidFill>
                  <a:srgbClr val="CBD5E1"/>
                </a:solidFill>
                <a:latin typeface="Urbanist"/>
                <a:ea typeface="Urbanist"/>
                <a:cs typeface="Urbanist"/>
                <a:sym typeface="Urbanist"/>
              </a:rPr>
              <a:t> in detecting AI-generated text during controlled stress tests. The "Hybrid" detection rate maintained an industry-leading 85%.</a:t>
            </a:r>
            <a:endParaRPr/>
          </a:p>
        </p:txBody>
      </p:sp>
      <p:sp>
        <p:nvSpPr>
          <p:cNvPr id="120" name="Google Shape;120;p14"/>
          <p:cNvSpPr txBox="1"/>
          <p:nvPr/>
        </p:nvSpPr>
        <p:spPr>
          <a:xfrm>
            <a:off x="585787" y="4378337"/>
            <a:ext cx="2219250" cy="159952"/>
          </a:xfrm>
          <a:prstGeom prst="rect">
            <a:avLst/>
          </a:prstGeom>
          <a:noFill/>
          <a:ln>
            <a:noFill/>
          </a:ln>
        </p:spPr>
        <p:txBody>
          <a:bodyPr spcFirstLastPara="1" wrap="square" lIns="114300" tIns="0" rIns="0" bIns="0" anchor="t" anchorCtr="0">
            <a:spAutoFit/>
          </a:bodyPr>
          <a:lstStyle/>
          <a:p>
            <a:pPr marL="0" marR="0" lvl="0" indent="0" algn="l" rtl="0">
              <a:lnSpc>
                <a:spcPct val="159904"/>
              </a:lnSpc>
              <a:spcBef>
                <a:spcPts val="0"/>
              </a:spcBef>
              <a:spcAft>
                <a:spcPts val="0"/>
              </a:spcAft>
              <a:buNone/>
            </a:pPr>
            <a:r>
              <a:rPr lang="en-US" sz="787" b="0" i="0" u="none" strike="noStrike" cap="none">
                <a:solidFill>
                  <a:srgbClr val="10B981"/>
                </a:solidFill>
                <a:latin typeface="Urbanist"/>
                <a:ea typeface="Urbanist"/>
                <a:cs typeface="Urbanist"/>
                <a:sym typeface="Urbanist"/>
              </a:rPr>
              <a:t>Validates "Glass Box" Hypothesis</a:t>
            </a:r>
            <a:endParaRPr/>
          </a:p>
        </p:txBody>
      </p:sp>
      <p:sp>
        <p:nvSpPr>
          <p:cNvPr id="121" name="Google Shape;121;p14"/>
          <p:cNvSpPr/>
          <p:nvPr/>
        </p:nvSpPr>
        <p:spPr>
          <a:xfrm>
            <a:off x="4557656" y="2046794"/>
            <a:ext cx="28575" cy="2805822"/>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122" name="Google Shape;122;p14" descr="image.png"/>
          <p:cNvPicPr preferRelativeResize="0"/>
          <p:nvPr/>
        </p:nvPicPr>
        <p:blipFill rotWithShape="1">
          <a:blip r:embed="rId8">
            <a:alphaModFix/>
          </a:blip>
          <a:srcRect/>
          <a:stretch/>
        </p:blipFill>
        <p:spPr>
          <a:xfrm>
            <a:off x="3462262" y="2261108"/>
            <a:ext cx="228600" cy="228600"/>
          </a:xfrm>
          <a:prstGeom prst="rect">
            <a:avLst/>
          </a:prstGeom>
          <a:noFill/>
          <a:ln>
            <a:noFill/>
          </a:ln>
        </p:spPr>
      </p:pic>
      <p:sp>
        <p:nvSpPr>
          <p:cNvPr id="123" name="Google Shape;123;p14"/>
          <p:cNvSpPr txBox="1"/>
          <p:nvPr/>
        </p:nvSpPr>
        <p:spPr>
          <a:xfrm>
            <a:off x="3462262" y="2739739"/>
            <a:ext cx="233033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FFFFFF"/>
                </a:solidFill>
                <a:latin typeface="Urbanist"/>
                <a:ea typeface="Urbanist"/>
                <a:cs typeface="Urbanist"/>
                <a:sym typeface="Urbanist"/>
              </a:rPr>
              <a:t>Privacy Audit</a:t>
            </a:r>
            <a:endParaRPr/>
          </a:p>
        </p:txBody>
      </p:sp>
      <p:sp>
        <p:nvSpPr>
          <p:cNvPr id="124" name="Google Shape;124;p14"/>
          <p:cNvSpPr txBox="1"/>
          <p:nvPr/>
        </p:nvSpPr>
        <p:spPr>
          <a:xfrm>
            <a:off x="3462262" y="3018345"/>
            <a:ext cx="221936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1" i="0" u="none" strike="noStrike" cap="none">
                <a:solidFill>
                  <a:srgbClr val="FFFFFF"/>
                </a:solidFill>
                <a:latin typeface="JetBrains Mono"/>
                <a:ea typeface="JetBrains Mono"/>
                <a:cs typeface="JetBrains Mono"/>
                <a:sym typeface="JetBrains Mono"/>
              </a:rPr>
              <a:t>0kb</a:t>
            </a:r>
            <a:endParaRPr/>
          </a:p>
        </p:txBody>
      </p:sp>
      <p:sp>
        <p:nvSpPr>
          <p:cNvPr id="125" name="Google Shape;125;p14"/>
          <p:cNvSpPr txBox="1"/>
          <p:nvPr/>
        </p:nvSpPr>
        <p:spPr>
          <a:xfrm>
            <a:off x="3462262" y="3532695"/>
            <a:ext cx="2219361" cy="731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00" b="1" i="0" u="none" strike="noStrike" cap="none">
                <a:solidFill>
                  <a:srgbClr val="CBD5E1"/>
                </a:solidFill>
                <a:latin typeface="Urbanist"/>
                <a:ea typeface="Urbanist"/>
                <a:cs typeface="Urbanist"/>
                <a:sym typeface="Urbanist"/>
              </a:rPr>
              <a:t>PII Egress.</a:t>
            </a:r>
            <a:r>
              <a:rPr lang="en-US" sz="900" b="0" i="0" u="none" strike="noStrike" cap="none">
                <a:solidFill>
                  <a:srgbClr val="CBD5E1"/>
                </a:solidFill>
                <a:latin typeface="Urbanist"/>
                <a:ea typeface="Urbanist"/>
                <a:cs typeface="Urbanist"/>
                <a:sym typeface="Urbanist"/>
              </a:rPr>
              <a:t> Network packet analysis confirmed that ZERO student text data left the local browser environment during "Vault Mode" operations.</a:t>
            </a:r>
            <a:endParaRPr/>
          </a:p>
        </p:txBody>
      </p:sp>
      <p:sp>
        <p:nvSpPr>
          <p:cNvPr id="126" name="Google Shape;126;p14"/>
          <p:cNvSpPr txBox="1"/>
          <p:nvPr/>
        </p:nvSpPr>
        <p:spPr>
          <a:xfrm>
            <a:off x="3462262" y="4378337"/>
            <a:ext cx="2219361" cy="159952"/>
          </a:xfrm>
          <a:prstGeom prst="rect">
            <a:avLst/>
          </a:prstGeom>
          <a:noFill/>
          <a:ln>
            <a:noFill/>
          </a:ln>
        </p:spPr>
        <p:txBody>
          <a:bodyPr spcFirstLastPara="1" wrap="square" lIns="114300" tIns="0" rIns="0" bIns="0" anchor="t" anchorCtr="0">
            <a:spAutoFit/>
          </a:bodyPr>
          <a:lstStyle/>
          <a:p>
            <a:pPr marL="0" marR="0" lvl="0" indent="0" algn="l" rtl="0">
              <a:lnSpc>
                <a:spcPct val="159904"/>
              </a:lnSpc>
              <a:spcBef>
                <a:spcPts val="0"/>
              </a:spcBef>
              <a:spcAft>
                <a:spcPts val="0"/>
              </a:spcAft>
              <a:buNone/>
            </a:pPr>
            <a:r>
              <a:rPr lang="en-US" sz="787" b="0" i="0" u="none" strike="noStrike" cap="none">
                <a:solidFill>
                  <a:srgbClr val="3B82F6"/>
                </a:solidFill>
                <a:latin typeface="Urbanist"/>
                <a:ea typeface="Urbanist"/>
                <a:cs typeface="Urbanist"/>
                <a:sym typeface="Urbanist"/>
              </a:rPr>
              <a:t>Validates "Data Sovereignty" Goal</a:t>
            </a:r>
            <a:endParaRPr/>
          </a:p>
        </p:txBody>
      </p:sp>
      <p:sp>
        <p:nvSpPr>
          <p:cNvPr id="127" name="Google Shape;127;p14"/>
          <p:cNvSpPr/>
          <p:nvPr/>
        </p:nvSpPr>
        <p:spPr>
          <a:xfrm>
            <a:off x="7434187" y="2046794"/>
            <a:ext cx="28575" cy="2805822"/>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pic>
        <p:nvPicPr>
          <p:cNvPr id="128" name="Google Shape;128;p14" descr="image.png"/>
          <p:cNvPicPr preferRelativeResize="0"/>
          <p:nvPr/>
        </p:nvPicPr>
        <p:blipFill rotWithShape="1">
          <a:blip r:embed="rId9">
            <a:alphaModFix/>
          </a:blip>
          <a:srcRect/>
          <a:stretch/>
        </p:blipFill>
        <p:spPr>
          <a:xfrm>
            <a:off x="6338850" y="2261108"/>
            <a:ext cx="171450" cy="228600"/>
          </a:xfrm>
          <a:prstGeom prst="rect">
            <a:avLst/>
          </a:prstGeom>
          <a:noFill/>
          <a:ln>
            <a:noFill/>
          </a:ln>
        </p:spPr>
      </p:pic>
      <p:sp>
        <p:nvSpPr>
          <p:cNvPr id="129" name="Google Shape;129;p14"/>
          <p:cNvSpPr txBox="1"/>
          <p:nvPr/>
        </p:nvSpPr>
        <p:spPr>
          <a:xfrm>
            <a:off x="6338850" y="2739739"/>
            <a:ext cx="2330212"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FFFFFF"/>
                </a:solidFill>
                <a:latin typeface="Urbanist"/>
                <a:ea typeface="Urbanist"/>
                <a:cs typeface="Urbanist"/>
                <a:sym typeface="Urbanist"/>
              </a:rPr>
              <a:t>Utility Impact</a:t>
            </a:r>
            <a:endParaRPr/>
          </a:p>
        </p:txBody>
      </p:sp>
      <p:sp>
        <p:nvSpPr>
          <p:cNvPr id="130" name="Google Shape;130;p14"/>
          <p:cNvSpPr txBox="1"/>
          <p:nvPr/>
        </p:nvSpPr>
        <p:spPr>
          <a:xfrm>
            <a:off x="6338850" y="3018345"/>
            <a:ext cx="221925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62" b="1" i="0" u="none" strike="noStrike" cap="none">
                <a:solidFill>
                  <a:srgbClr val="FFFFFF"/>
                </a:solidFill>
                <a:latin typeface="JetBrains Mono"/>
                <a:ea typeface="JetBrains Mono"/>
                <a:cs typeface="JetBrains Mono"/>
                <a:sym typeface="JetBrains Mono"/>
              </a:rPr>
              <a:t>-65%</a:t>
            </a:r>
            <a:endParaRPr/>
          </a:p>
        </p:txBody>
      </p:sp>
      <p:sp>
        <p:nvSpPr>
          <p:cNvPr id="131" name="Google Shape;131;p14"/>
          <p:cNvSpPr txBox="1"/>
          <p:nvPr/>
        </p:nvSpPr>
        <p:spPr>
          <a:xfrm>
            <a:off x="6338850" y="3532695"/>
            <a:ext cx="2219250" cy="7313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00" b="1" i="0" u="none" strike="noStrike" cap="none">
                <a:solidFill>
                  <a:srgbClr val="CBD5E1"/>
                </a:solidFill>
                <a:latin typeface="Urbanist"/>
                <a:ea typeface="Urbanist"/>
                <a:cs typeface="Urbanist"/>
                <a:sym typeface="Urbanist"/>
              </a:rPr>
              <a:t>Plagiarism Flags.</a:t>
            </a:r>
            <a:r>
              <a:rPr lang="en-US" sz="900" b="0" i="0" u="none" strike="noStrike" cap="none">
                <a:solidFill>
                  <a:srgbClr val="CBD5E1"/>
                </a:solidFill>
                <a:latin typeface="Urbanist"/>
                <a:ea typeface="Urbanist"/>
                <a:cs typeface="Urbanist"/>
                <a:sym typeface="Urbanist"/>
              </a:rPr>
              <a:t> Students using the "Citation Auto-Fixer" saw a 65% reduction in accidental plagiarism flags compared to the control group.</a:t>
            </a:r>
            <a:endParaRPr/>
          </a:p>
        </p:txBody>
      </p:sp>
      <p:sp>
        <p:nvSpPr>
          <p:cNvPr id="132" name="Google Shape;132;p14"/>
          <p:cNvSpPr txBox="1"/>
          <p:nvPr/>
        </p:nvSpPr>
        <p:spPr>
          <a:xfrm>
            <a:off x="6338850" y="4378337"/>
            <a:ext cx="2219250" cy="159952"/>
          </a:xfrm>
          <a:prstGeom prst="rect">
            <a:avLst/>
          </a:prstGeom>
          <a:noFill/>
          <a:ln>
            <a:noFill/>
          </a:ln>
        </p:spPr>
        <p:txBody>
          <a:bodyPr spcFirstLastPara="1" wrap="square" lIns="114300" tIns="0" rIns="0" bIns="0" anchor="t" anchorCtr="0">
            <a:spAutoFit/>
          </a:bodyPr>
          <a:lstStyle/>
          <a:p>
            <a:pPr marL="0" marR="0" lvl="0" indent="0" algn="l" rtl="0">
              <a:lnSpc>
                <a:spcPct val="159904"/>
              </a:lnSpc>
              <a:spcBef>
                <a:spcPts val="0"/>
              </a:spcBef>
              <a:spcAft>
                <a:spcPts val="0"/>
              </a:spcAft>
              <a:buNone/>
            </a:pPr>
            <a:r>
              <a:rPr lang="en-US" sz="787" b="0" i="0" u="none" strike="noStrike" cap="none">
                <a:solidFill>
                  <a:srgbClr val="F59E0B"/>
                </a:solidFill>
                <a:latin typeface="Urbanist"/>
                <a:ea typeface="Urbanist"/>
                <a:cs typeface="Urbanist"/>
                <a:sym typeface="Urbanist"/>
              </a:rPr>
              <a:t>Validates "Formative Tool" Goal</a:t>
            </a:r>
            <a:endParaRPr/>
          </a:p>
        </p:txBody>
      </p:sp>
      <p:pic>
        <p:nvPicPr>
          <p:cNvPr id="133" name="Google Shape;133;p14" descr="image.png"/>
          <p:cNvPicPr preferRelativeResize="0"/>
          <p:nvPr/>
        </p:nvPicPr>
        <p:blipFill rotWithShape="1">
          <a:blip r:embed="rId10">
            <a:alphaModFix/>
          </a:blip>
          <a:srcRect/>
          <a:stretch/>
        </p:blipFill>
        <p:spPr>
          <a:xfrm>
            <a:off x="585787" y="4399768"/>
            <a:ext cx="85725" cy="100012"/>
          </a:xfrm>
          <a:prstGeom prst="rect">
            <a:avLst/>
          </a:prstGeom>
          <a:noFill/>
          <a:ln>
            <a:noFill/>
          </a:ln>
        </p:spPr>
      </p:pic>
      <p:pic>
        <p:nvPicPr>
          <p:cNvPr id="134" name="Google Shape;134;p14" descr="image.png"/>
          <p:cNvPicPr preferRelativeResize="0"/>
          <p:nvPr/>
        </p:nvPicPr>
        <p:blipFill rotWithShape="1">
          <a:blip r:embed="rId11">
            <a:alphaModFix/>
          </a:blip>
          <a:srcRect/>
          <a:stretch/>
        </p:blipFill>
        <p:spPr>
          <a:xfrm>
            <a:off x="3462262" y="4399768"/>
            <a:ext cx="85725" cy="100012"/>
          </a:xfrm>
          <a:prstGeom prst="rect">
            <a:avLst/>
          </a:prstGeom>
          <a:noFill/>
          <a:ln>
            <a:noFill/>
          </a:ln>
        </p:spPr>
      </p:pic>
      <p:pic>
        <p:nvPicPr>
          <p:cNvPr id="135" name="Google Shape;135;p14" descr="image.png"/>
          <p:cNvPicPr preferRelativeResize="0"/>
          <p:nvPr/>
        </p:nvPicPr>
        <p:blipFill rotWithShape="1">
          <a:blip r:embed="rId12">
            <a:alphaModFix/>
          </a:blip>
          <a:srcRect/>
          <a:stretch/>
        </p:blipFill>
        <p:spPr>
          <a:xfrm>
            <a:off x="6338850" y="4399768"/>
            <a:ext cx="85725" cy="100012"/>
          </a:xfrm>
          <a:prstGeom prst="rect">
            <a:avLst/>
          </a:prstGeom>
          <a:noFill/>
          <a:ln>
            <a:noFill/>
          </a:ln>
        </p:spPr>
      </p:pic>
      <p:sp>
        <p:nvSpPr>
          <p:cNvPr id="136" name="Google Shape;136;p14"/>
          <p:cNvSpPr txBox="1"/>
          <p:nvPr/>
        </p:nvSpPr>
        <p:spPr>
          <a:xfrm>
            <a:off x="364331" y="283740"/>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Hypothesis Validation &amp; Technical Audits</a:t>
            </a:r>
            <a:endParaRPr/>
          </a:p>
        </p:txBody>
      </p:sp>
      <p:sp>
        <p:nvSpPr>
          <p:cNvPr id="137" name="Google Shape;137;p14"/>
          <p:cNvSpPr/>
          <p:nvPr/>
        </p:nvSpPr>
        <p:spPr>
          <a:xfrm>
            <a:off x="364331" y="840953"/>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
        <p:nvSpPr>
          <p:cNvPr id="138" name="Google Shape;138;p14"/>
          <p:cNvSpPr txBox="1"/>
          <p:nvPr/>
        </p:nvSpPr>
        <p:spPr>
          <a:xfrm>
            <a:off x="364331" y="1262434"/>
            <a:ext cx="3064668" cy="20571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012" b="0" i="0" u="none" strike="noStrike" cap="none">
                <a:solidFill>
                  <a:srgbClr val="CBD5E1"/>
                </a:solidFill>
                <a:latin typeface="Urbanist"/>
                <a:ea typeface="Urbanist"/>
                <a:cs typeface="Urbanist"/>
                <a:sym typeface="Urbanist"/>
              </a:rPr>
              <a:t>Confirming the core pillars: Accuracy, Privacy, and Utility.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4"/>
        <p:cNvGrpSpPr/>
        <p:nvPr/>
      </p:nvGrpSpPr>
      <p:grpSpPr>
        <a:xfrm>
          <a:off x="0" y="0"/>
          <a:ext cx="0" cy="0"/>
          <a:chOff x="0" y="0"/>
          <a:chExt cx="0" cy="0"/>
        </a:xfrm>
      </p:grpSpPr>
      <p:pic>
        <p:nvPicPr>
          <p:cNvPr id="215" name="Google Shape;215;p21"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216" name="Google Shape;216;p21" descr="image.png"/>
          <p:cNvPicPr preferRelativeResize="0"/>
          <p:nvPr/>
        </p:nvPicPr>
        <p:blipFill rotWithShape="1">
          <a:blip r:embed="rId4">
            <a:alphaModFix/>
          </a:blip>
          <a:srcRect/>
          <a:stretch/>
        </p:blipFill>
        <p:spPr>
          <a:xfrm>
            <a:off x="364331" y="1885950"/>
            <a:ext cx="2662162" cy="2400300"/>
          </a:xfrm>
          <a:prstGeom prst="rect">
            <a:avLst/>
          </a:prstGeom>
          <a:noFill/>
          <a:ln>
            <a:noFill/>
          </a:ln>
        </p:spPr>
      </p:pic>
      <p:pic>
        <p:nvPicPr>
          <p:cNvPr id="217" name="Google Shape;217;p21" descr="image.png"/>
          <p:cNvPicPr preferRelativeResize="0"/>
          <p:nvPr/>
        </p:nvPicPr>
        <p:blipFill rotWithShape="1">
          <a:blip r:embed="rId5">
            <a:alphaModFix/>
          </a:blip>
          <a:srcRect/>
          <a:stretch/>
        </p:blipFill>
        <p:spPr>
          <a:xfrm>
            <a:off x="3240806" y="1885950"/>
            <a:ext cx="2662274" cy="2400300"/>
          </a:xfrm>
          <a:prstGeom prst="rect">
            <a:avLst/>
          </a:prstGeom>
          <a:noFill/>
          <a:ln>
            <a:noFill/>
          </a:ln>
        </p:spPr>
      </p:pic>
      <p:pic>
        <p:nvPicPr>
          <p:cNvPr id="218" name="Google Shape;218;p21" descr="image.png"/>
          <p:cNvPicPr preferRelativeResize="0"/>
          <p:nvPr/>
        </p:nvPicPr>
        <p:blipFill rotWithShape="1">
          <a:blip r:embed="rId6">
            <a:alphaModFix/>
          </a:blip>
          <a:srcRect/>
          <a:stretch/>
        </p:blipFill>
        <p:spPr>
          <a:xfrm>
            <a:off x="6117393" y="1885950"/>
            <a:ext cx="2662162" cy="2400300"/>
          </a:xfrm>
          <a:prstGeom prst="rect">
            <a:avLst/>
          </a:prstGeom>
          <a:noFill/>
          <a:ln>
            <a:noFill/>
          </a:ln>
        </p:spPr>
      </p:pic>
      <p:sp>
        <p:nvSpPr>
          <p:cNvPr id="219" name="Google Shape;219;p21"/>
          <p:cNvSpPr txBox="1"/>
          <p:nvPr/>
        </p:nvSpPr>
        <p:spPr>
          <a:xfrm>
            <a:off x="585787" y="2550318"/>
            <a:ext cx="2330212"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Decentralization</a:t>
            </a:r>
            <a:endParaRPr/>
          </a:p>
        </p:txBody>
      </p:sp>
      <p:sp>
        <p:nvSpPr>
          <p:cNvPr id="220" name="Google Shape;220;p21"/>
          <p:cNvSpPr txBox="1"/>
          <p:nvPr/>
        </p:nvSpPr>
        <p:spPr>
          <a:xfrm>
            <a:off x="585787" y="3007518"/>
            <a:ext cx="22192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Move the ledger from local simulation to a permissioned </a:t>
            </a:r>
            <a:r>
              <a:rPr lang="en-US" sz="1125" b="1" i="0" u="none" strike="noStrike" cap="none">
                <a:solidFill>
                  <a:srgbClr val="CBD5E1"/>
                </a:solidFill>
                <a:latin typeface="Urbanist"/>
                <a:ea typeface="Urbanist"/>
                <a:cs typeface="Urbanist"/>
                <a:sym typeface="Urbanist"/>
              </a:rPr>
              <a:t>Hyperledger</a:t>
            </a:r>
            <a:r>
              <a:rPr lang="en-US" sz="1125" b="0" i="0" u="none" strike="noStrike" cap="none">
                <a:solidFill>
                  <a:srgbClr val="CBD5E1"/>
                </a:solidFill>
                <a:latin typeface="Urbanist"/>
                <a:ea typeface="Urbanist"/>
                <a:cs typeface="Urbanist"/>
                <a:sym typeface="Urbanist"/>
              </a:rPr>
              <a:t> network for cross-institution verification.</a:t>
            </a:r>
            <a:endParaRPr/>
          </a:p>
        </p:txBody>
      </p:sp>
      <p:sp>
        <p:nvSpPr>
          <p:cNvPr id="221" name="Google Shape;221;p21"/>
          <p:cNvSpPr txBox="1"/>
          <p:nvPr/>
        </p:nvSpPr>
        <p:spPr>
          <a:xfrm>
            <a:off x="3462262" y="2550318"/>
            <a:ext cx="2330330"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Local LLMs</a:t>
            </a:r>
            <a:endParaRPr/>
          </a:p>
        </p:txBody>
      </p:sp>
      <p:sp>
        <p:nvSpPr>
          <p:cNvPr id="222" name="Google Shape;222;p21"/>
          <p:cNvSpPr txBox="1"/>
          <p:nvPr/>
        </p:nvSpPr>
        <p:spPr>
          <a:xfrm>
            <a:off x="3462262" y="3007518"/>
            <a:ext cx="2219361"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Implement </a:t>
            </a:r>
            <a:r>
              <a:rPr lang="en-US" sz="1125" b="1" i="0" u="none" strike="noStrike" cap="none">
                <a:solidFill>
                  <a:srgbClr val="CBD5E1"/>
                </a:solidFill>
                <a:latin typeface="Urbanist"/>
                <a:ea typeface="Urbanist"/>
                <a:cs typeface="Urbanist"/>
                <a:sym typeface="Urbanist"/>
              </a:rPr>
              <a:t>WebASM Llama-3</a:t>
            </a:r>
            <a:r>
              <a:rPr lang="en-US" sz="1125" b="0" i="0" u="none" strike="noStrike" cap="none">
                <a:solidFill>
                  <a:srgbClr val="CBD5E1"/>
                </a:solidFill>
                <a:latin typeface="Urbanist"/>
                <a:ea typeface="Urbanist"/>
                <a:cs typeface="Urbanist"/>
                <a:sym typeface="Urbanist"/>
              </a:rPr>
              <a:t> models to run AI analysis entirely in the browser, removing OpenAI dependencies.</a:t>
            </a:r>
            <a:endParaRPr/>
          </a:p>
        </p:txBody>
      </p:sp>
      <p:sp>
        <p:nvSpPr>
          <p:cNvPr id="223" name="Google Shape;223;p21"/>
          <p:cNvSpPr txBox="1"/>
          <p:nvPr/>
        </p:nvSpPr>
        <p:spPr>
          <a:xfrm>
            <a:off x="6338850" y="2550318"/>
            <a:ext cx="2330212" cy="207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Urbanist"/>
                <a:ea typeface="Urbanist"/>
                <a:cs typeface="Urbanist"/>
                <a:sym typeface="Urbanist"/>
              </a:rPr>
              <a:t>LTI Integration</a:t>
            </a:r>
            <a:endParaRPr/>
          </a:p>
        </p:txBody>
      </p:sp>
      <p:sp>
        <p:nvSpPr>
          <p:cNvPr id="224" name="Google Shape;224;p21"/>
          <p:cNvSpPr txBox="1"/>
          <p:nvPr/>
        </p:nvSpPr>
        <p:spPr>
          <a:xfrm>
            <a:off x="6338850" y="3007518"/>
            <a:ext cx="22192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Seamless integration with Canvas, Blackboard, and Moodle using LTI 1.3 standards for gradebook syncing.</a:t>
            </a:r>
            <a:endParaRPr/>
          </a:p>
        </p:txBody>
      </p:sp>
      <p:pic>
        <p:nvPicPr>
          <p:cNvPr id="225" name="Google Shape;225;p21" descr="image.png"/>
          <p:cNvPicPr preferRelativeResize="0"/>
          <p:nvPr/>
        </p:nvPicPr>
        <p:blipFill rotWithShape="1">
          <a:blip r:embed="rId7">
            <a:alphaModFix/>
          </a:blip>
          <a:srcRect/>
          <a:stretch/>
        </p:blipFill>
        <p:spPr>
          <a:xfrm>
            <a:off x="585787" y="2114550"/>
            <a:ext cx="228600" cy="228600"/>
          </a:xfrm>
          <a:prstGeom prst="rect">
            <a:avLst/>
          </a:prstGeom>
          <a:noFill/>
          <a:ln>
            <a:noFill/>
          </a:ln>
        </p:spPr>
      </p:pic>
      <p:pic>
        <p:nvPicPr>
          <p:cNvPr id="226" name="Google Shape;226;p21" descr="image.png"/>
          <p:cNvPicPr preferRelativeResize="0"/>
          <p:nvPr/>
        </p:nvPicPr>
        <p:blipFill rotWithShape="1">
          <a:blip r:embed="rId8">
            <a:alphaModFix/>
          </a:blip>
          <a:srcRect/>
          <a:stretch/>
        </p:blipFill>
        <p:spPr>
          <a:xfrm>
            <a:off x="3462262" y="2114550"/>
            <a:ext cx="228600" cy="228600"/>
          </a:xfrm>
          <a:prstGeom prst="rect">
            <a:avLst/>
          </a:prstGeom>
          <a:noFill/>
          <a:ln>
            <a:noFill/>
          </a:ln>
        </p:spPr>
      </p:pic>
      <p:pic>
        <p:nvPicPr>
          <p:cNvPr id="227" name="Google Shape;227;p21" descr="image.png"/>
          <p:cNvPicPr preferRelativeResize="0"/>
          <p:nvPr/>
        </p:nvPicPr>
        <p:blipFill rotWithShape="1">
          <a:blip r:embed="rId9">
            <a:alphaModFix/>
          </a:blip>
          <a:srcRect/>
          <a:stretch/>
        </p:blipFill>
        <p:spPr>
          <a:xfrm>
            <a:off x="6338850" y="2114550"/>
            <a:ext cx="285750" cy="228600"/>
          </a:xfrm>
          <a:prstGeom prst="rect">
            <a:avLst/>
          </a:prstGeom>
          <a:noFill/>
          <a:ln>
            <a:noFill/>
          </a:ln>
        </p:spPr>
      </p:pic>
      <p:sp>
        <p:nvSpPr>
          <p:cNvPr id="228" name="Google Shape;228;p21"/>
          <p:cNvSpPr txBox="1"/>
          <p:nvPr/>
        </p:nvSpPr>
        <p:spPr>
          <a:xfrm>
            <a:off x="364331" y="857250"/>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Future Roadmap</a:t>
            </a:r>
            <a:endParaRPr/>
          </a:p>
        </p:txBody>
      </p:sp>
      <p:sp>
        <p:nvSpPr>
          <p:cNvPr id="229" name="Google Shape;229;p21"/>
          <p:cNvSpPr/>
          <p:nvPr/>
        </p:nvSpPr>
        <p:spPr>
          <a:xfrm>
            <a:off x="364331" y="1378743"/>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3"/>
        <p:cNvGrpSpPr/>
        <p:nvPr/>
      </p:nvGrpSpPr>
      <p:grpSpPr>
        <a:xfrm>
          <a:off x="0" y="0"/>
          <a:ext cx="0" cy="0"/>
          <a:chOff x="0" y="0"/>
          <a:chExt cx="0" cy="0"/>
        </a:xfrm>
      </p:grpSpPr>
      <p:pic>
        <p:nvPicPr>
          <p:cNvPr id="234" name="Google Shape;234;p22" descr="image.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35" name="Google Shape;235;p22"/>
          <p:cNvSpPr txBox="1"/>
          <p:nvPr/>
        </p:nvSpPr>
        <p:spPr>
          <a:xfrm>
            <a:off x="3339504" y="1204503"/>
            <a:ext cx="2464878" cy="47397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2800" b="1" i="0" u="none" strike="noStrike" cap="none" dirty="0">
                <a:solidFill>
                  <a:srgbClr val="FFFFFF"/>
                </a:solidFill>
                <a:latin typeface="Urbanist"/>
                <a:ea typeface="Urbanist"/>
                <a:cs typeface="Urbanist"/>
                <a:sym typeface="Urbanist"/>
              </a:rPr>
              <a:t>Conclusion</a:t>
            </a:r>
            <a:endParaRPr sz="2800" dirty="0"/>
          </a:p>
        </p:txBody>
      </p:sp>
      <p:sp>
        <p:nvSpPr>
          <p:cNvPr id="236" name="Google Shape;236;p22"/>
          <p:cNvSpPr txBox="1"/>
          <p:nvPr/>
        </p:nvSpPr>
        <p:spPr>
          <a:xfrm>
            <a:off x="1714500" y="1984511"/>
            <a:ext cx="5715000" cy="685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The </a:t>
            </a:r>
            <a:r>
              <a:rPr lang="en-US" sz="1125" b="1" i="0" u="none" strike="noStrike" cap="none">
                <a:solidFill>
                  <a:srgbClr val="CBD5E1"/>
                </a:solidFill>
                <a:latin typeface="Urbanist"/>
                <a:ea typeface="Urbanist"/>
                <a:cs typeface="Urbanist"/>
                <a:sym typeface="Urbanist"/>
              </a:rPr>
              <a:t>Academic Integrity Guardian</a:t>
            </a:r>
            <a:r>
              <a:rPr lang="en-US" sz="1125" b="0" i="0" u="none" strike="noStrike" cap="none">
                <a:solidFill>
                  <a:srgbClr val="CBD5E1"/>
                </a:solidFill>
                <a:latin typeface="Urbanist"/>
                <a:ea typeface="Urbanist"/>
                <a:cs typeface="Urbanist"/>
                <a:sym typeface="Urbanist"/>
              </a:rPr>
              <a:t> successfully shifts the paradigm from "Policing" to "Empowerment." By combining the semantic power of AI with the immutability of cryptography, we protect student privacy while restoring trust in the academic process.</a:t>
            </a:r>
            <a:endParaRPr/>
          </a:p>
        </p:txBody>
      </p:sp>
      <p:pic>
        <p:nvPicPr>
          <p:cNvPr id="237" name="Google Shape;237;p22" descr="image.png"/>
          <p:cNvPicPr preferRelativeResize="0"/>
          <p:nvPr/>
        </p:nvPicPr>
        <p:blipFill rotWithShape="1">
          <a:blip r:embed="rId4">
            <a:alphaModFix/>
          </a:blip>
          <a:srcRect/>
          <a:stretch/>
        </p:blipFill>
        <p:spPr>
          <a:xfrm>
            <a:off x="3846909" y="3170373"/>
            <a:ext cx="285750" cy="285750"/>
          </a:xfrm>
          <a:prstGeom prst="rect">
            <a:avLst/>
          </a:prstGeom>
          <a:noFill/>
          <a:ln>
            <a:noFill/>
          </a:ln>
        </p:spPr>
      </p:pic>
      <p:sp>
        <p:nvSpPr>
          <p:cNvPr id="238" name="Google Shape;238;p22"/>
          <p:cNvSpPr txBox="1"/>
          <p:nvPr/>
        </p:nvSpPr>
        <p:spPr>
          <a:xfrm>
            <a:off x="3796902" y="3641861"/>
            <a:ext cx="385762" cy="19697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800" b="0" i="0" u="none" strike="noStrike" cap="none" dirty="0">
                <a:solidFill>
                  <a:srgbClr val="FFFFFF"/>
                </a:solidFill>
                <a:latin typeface="Urbanist"/>
                <a:ea typeface="Urbanist"/>
                <a:cs typeface="Urbanist"/>
                <a:sym typeface="Urbanist"/>
              </a:rPr>
              <a:t>Verified</a:t>
            </a:r>
            <a:endParaRPr sz="800" dirty="0"/>
          </a:p>
        </p:txBody>
      </p:sp>
      <p:pic>
        <p:nvPicPr>
          <p:cNvPr id="239" name="Google Shape;239;p22" descr="image.png"/>
          <p:cNvPicPr preferRelativeResize="0"/>
          <p:nvPr/>
        </p:nvPicPr>
        <p:blipFill rotWithShape="1">
          <a:blip r:embed="rId5">
            <a:alphaModFix/>
          </a:blip>
          <a:srcRect/>
          <a:stretch/>
        </p:blipFill>
        <p:spPr>
          <a:xfrm>
            <a:off x="4429125" y="3170373"/>
            <a:ext cx="285750" cy="285750"/>
          </a:xfrm>
          <a:prstGeom prst="rect">
            <a:avLst/>
          </a:prstGeom>
          <a:noFill/>
          <a:ln>
            <a:noFill/>
          </a:ln>
        </p:spPr>
      </p:pic>
      <p:sp>
        <p:nvSpPr>
          <p:cNvPr id="240" name="Google Shape;240;p22"/>
          <p:cNvSpPr txBox="1"/>
          <p:nvPr/>
        </p:nvSpPr>
        <p:spPr>
          <a:xfrm>
            <a:off x="4396977" y="3641861"/>
            <a:ext cx="385762" cy="2215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900" b="0" i="0" u="none" strike="noStrike" cap="none" dirty="0">
                <a:solidFill>
                  <a:srgbClr val="FFFFFF"/>
                </a:solidFill>
                <a:latin typeface="Urbanist"/>
                <a:ea typeface="Urbanist"/>
                <a:cs typeface="Urbanist"/>
                <a:sym typeface="Urbanist"/>
              </a:rPr>
              <a:t>Private</a:t>
            </a:r>
            <a:endParaRPr dirty="0"/>
          </a:p>
        </p:txBody>
      </p:sp>
      <p:pic>
        <p:nvPicPr>
          <p:cNvPr id="241" name="Google Shape;241;p22" descr="image.png"/>
          <p:cNvPicPr preferRelativeResize="0"/>
          <p:nvPr/>
        </p:nvPicPr>
        <p:blipFill rotWithShape="1">
          <a:blip r:embed="rId6">
            <a:alphaModFix/>
          </a:blip>
          <a:srcRect/>
          <a:stretch/>
        </p:blipFill>
        <p:spPr>
          <a:xfrm>
            <a:off x="4975621" y="3170373"/>
            <a:ext cx="357187" cy="285750"/>
          </a:xfrm>
          <a:prstGeom prst="rect">
            <a:avLst/>
          </a:prstGeom>
          <a:noFill/>
          <a:ln>
            <a:noFill/>
          </a:ln>
        </p:spPr>
      </p:pic>
      <p:sp>
        <p:nvSpPr>
          <p:cNvPr id="242" name="Google Shape;242;p22"/>
          <p:cNvSpPr txBox="1"/>
          <p:nvPr/>
        </p:nvSpPr>
        <p:spPr>
          <a:xfrm>
            <a:off x="4961334" y="3641861"/>
            <a:ext cx="385762" cy="19697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800" b="0" i="0" u="none" strike="noStrike" cap="none" dirty="0">
                <a:solidFill>
                  <a:srgbClr val="FFFFFF"/>
                </a:solidFill>
                <a:latin typeface="Urbanist"/>
                <a:ea typeface="Urbanist"/>
                <a:cs typeface="Urbanist"/>
                <a:sym typeface="Urbanist"/>
              </a:rPr>
              <a:t>Original</a:t>
            </a:r>
            <a:endParaRPr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6"/>
        <p:cNvGrpSpPr/>
        <p:nvPr/>
      </p:nvGrpSpPr>
      <p:grpSpPr>
        <a:xfrm>
          <a:off x="0" y="0"/>
          <a:ext cx="0" cy="0"/>
          <a:chOff x="0" y="0"/>
          <a:chExt cx="0" cy="0"/>
        </a:xfrm>
      </p:grpSpPr>
      <p:pic>
        <p:nvPicPr>
          <p:cNvPr id="247" name="Google Shape;247;p23" descr="image.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48" name="Google Shape;248;p23"/>
          <p:cNvSpPr txBox="1"/>
          <p:nvPr/>
        </p:nvSpPr>
        <p:spPr>
          <a:xfrm>
            <a:off x="621506" y="244316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249" name="Google Shape;249;p23"/>
          <p:cNvSpPr txBox="1"/>
          <p:nvPr/>
        </p:nvSpPr>
        <p:spPr>
          <a:xfrm>
            <a:off x="650081" y="2443162"/>
            <a:ext cx="4843462"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[1] OpenAI API Documentation. (2024). </a:t>
            </a:r>
            <a:r>
              <a:rPr lang="en-US" sz="1125" b="0" i="1" u="none" strike="noStrike" cap="none">
                <a:solidFill>
                  <a:srgbClr val="CBD5E1"/>
                </a:solidFill>
                <a:latin typeface="Urbanist"/>
                <a:ea typeface="Urbanist"/>
                <a:cs typeface="Urbanist"/>
                <a:sym typeface="Urbanist"/>
              </a:rPr>
              <a:t>Structured Outputs and JSON Schema.</a:t>
            </a:r>
            <a:endParaRPr/>
          </a:p>
        </p:txBody>
      </p:sp>
      <p:sp>
        <p:nvSpPr>
          <p:cNvPr id="250" name="Google Shape;250;p23"/>
          <p:cNvSpPr txBox="1"/>
          <p:nvPr/>
        </p:nvSpPr>
        <p:spPr>
          <a:xfrm>
            <a:off x="621506" y="267176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251" name="Google Shape;251;p23"/>
          <p:cNvSpPr txBox="1"/>
          <p:nvPr/>
        </p:nvSpPr>
        <p:spPr>
          <a:xfrm>
            <a:off x="650081" y="2671762"/>
            <a:ext cx="4843462"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[2] MDN Web Docs. (2023). </a:t>
            </a:r>
            <a:r>
              <a:rPr lang="en-US" sz="1125" b="0" i="1" u="none" strike="noStrike" cap="none">
                <a:solidFill>
                  <a:srgbClr val="CBD5E1"/>
                </a:solidFill>
                <a:latin typeface="Urbanist"/>
                <a:ea typeface="Urbanist"/>
                <a:cs typeface="Urbanist"/>
                <a:sym typeface="Urbanist"/>
              </a:rPr>
              <a:t>Web Crypto API - SHA-256 Implementation.</a:t>
            </a:r>
            <a:endParaRPr/>
          </a:p>
        </p:txBody>
      </p:sp>
      <p:sp>
        <p:nvSpPr>
          <p:cNvPr id="252" name="Google Shape;252;p23"/>
          <p:cNvSpPr txBox="1"/>
          <p:nvPr/>
        </p:nvSpPr>
        <p:spPr>
          <a:xfrm>
            <a:off x="621506" y="290036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253" name="Google Shape;253;p23"/>
          <p:cNvSpPr txBox="1"/>
          <p:nvPr/>
        </p:nvSpPr>
        <p:spPr>
          <a:xfrm>
            <a:off x="650081" y="2900362"/>
            <a:ext cx="4843462"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[3] European Commission. (2019). </a:t>
            </a:r>
            <a:r>
              <a:rPr lang="en-US" sz="1125" b="0" i="1" u="none" strike="noStrike" cap="none">
                <a:solidFill>
                  <a:srgbClr val="CBD5E1"/>
                </a:solidFill>
                <a:latin typeface="Urbanist"/>
                <a:ea typeface="Urbanist"/>
                <a:cs typeface="Urbanist"/>
                <a:sym typeface="Urbanist"/>
              </a:rPr>
              <a:t>Ethics Guidelines for Trustworthy AI.</a:t>
            </a:r>
            <a:endParaRPr/>
          </a:p>
        </p:txBody>
      </p:sp>
      <p:sp>
        <p:nvSpPr>
          <p:cNvPr id="254" name="Google Shape;254;p23"/>
          <p:cNvSpPr txBox="1"/>
          <p:nvPr/>
        </p:nvSpPr>
        <p:spPr>
          <a:xfrm>
            <a:off x="621506" y="312896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255" name="Google Shape;255;p23"/>
          <p:cNvSpPr txBox="1"/>
          <p:nvPr/>
        </p:nvSpPr>
        <p:spPr>
          <a:xfrm>
            <a:off x="650081" y="3128962"/>
            <a:ext cx="4843462"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[4] React Documentation. (2024). </a:t>
            </a:r>
            <a:r>
              <a:rPr lang="en-US" sz="1125" b="0" i="1" u="none" strike="noStrike" cap="none">
                <a:solidFill>
                  <a:srgbClr val="CBD5E1"/>
                </a:solidFill>
                <a:latin typeface="Urbanist"/>
                <a:ea typeface="Urbanist"/>
                <a:cs typeface="Urbanist"/>
                <a:sym typeface="Urbanist"/>
              </a:rPr>
              <a:t>React 19 Server Components &amp; Actions.</a:t>
            </a:r>
            <a:endParaRPr/>
          </a:p>
        </p:txBody>
      </p:sp>
      <p:sp>
        <p:nvSpPr>
          <p:cNvPr id="256" name="Google Shape;256;p23"/>
          <p:cNvSpPr txBox="1"/>
          <p:nvPr/>
        </p:nvSpPr>
        <p:spPr>
          <a:xfrm>
            <a:off x="621506" y="3357562"/>
            <a:ext cx="285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Urbanist"/>
                <a:ea typeface="Urbanist"/>
                <a:cs typeface="Urbanist"/>
                <a:sym typeface="Urbanist"/>
              </a:rPr>
              <a:t>•</a:t>
            </a:r>
            <a:endParaRPr/>
          </a:p>
        </p:txBody>
      </p:sp>
      <p:sp>
        <p:nvSpPr>
          <p:cNvPr id="257" name="Google Shape;257;p23"/>
          <p:cNvSpPr txBox="1"/>
          <p:nvPr/>
        </p:nvSpPr>
        <p:spPr>
          <a:xfrm>
            <a:off x="650081" y="3357562"/>
            <a:ext cx="4843462" cy="228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CBD5E1"/>
                </a:solidFill>
                <a:latin typeface="Urbanist"/>
                <a:ea typeface="Urbanist"/>
                <a:cs typeface="Urbanist"/>
                <a:sym typeface="Urbanist"/>
              </a:rPr>
              <a:t>[5] Design Thinking Methodology. (2023). </a:t>
            </a:r>
            <a:r>
              <a:rPr lang="en-US" sz="1125" b="0" i="1" u="none" strike="noStrike" cap="none">
                <a:solidFill>
                  <a:srgbClr val="CBD5E1"/>
                </a:solidFill>
                <a:latin typeface="Urbanist"/>
                <a:ea typeface="Urbanist"/>
                <a:cs typeface="Urbanist"/>
                <a:sym typeface="Urbanist"/>
              </a:rPr>
              <a:t>Interaction Design Foundation.</a:t>
            </a:r>
            <a:endParaRPr/>
          </a:p>
        </p:txBody>
      </p:sp>
      <p:sp>
        <p:nvSpPr>
          <p:cNvPr id="258" name="Google Shape;258;p23"/>
          <p:cNvSpPr txBox="1"/>
          <p:nvPr/>
        </p:nvSpPr>
        <p:spPr>
          <a:xfrm>
            <a:off x="364331" y="1428750"/>
            <a:ext cx="8779668" cy="4214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FFFFFF"/>
                </a:solidFill>
                <a:latin typeface="Urbanist SemiBold"/>
                <a:ea typeface="Urbanist SemiBold"/>
                <a:cs typeface="Urbanist SemiBold"/>
                <a:sym typeface="Urbanist SemiBold"/>
              </a:rPr>
              <a:t>References</a:t>
            </a:r>
            <a:endParaRPr/>
          </a:p>
        </p:txBody>
      </p:sp>
      <p:sp>
        <p:nvSpPr>
          <p:cNvPr id="259" name="Google Shape;259;p23"/>
          <p:cNvSpPr/>
          <p:nvPr/>
        </p:nvSpPr>
        <p:spPr>
          <a:xfrm>
            <a:off x="364331" y="1950243"/>
            <a:ext cx="8415337" cy="7143"/>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2360</Words>
  <Application>Microsoft Office PowerPoint</Application>
  <PresentationFormat>On-screen Show (16:9)</PresentationFormat>
  <Paragraphs>309</Paragraphs>
  <Slides>52</Slides>
  <Notes>46</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52</vt:i4>
      </vt:variant>
    </vt:vector>
  </HeadingPairs>
  <TitlesOfParts>
    <vt:vector size="68" baseType="lpstr">
      <vt:lpstr>Unbounded</vt:lpstr>
      <vt:lpstr>Times New Roman</vt:lpstr>
      <vt:lpstr>Average</vt:lpstr>
      <vt:lpstr>Unbounded Light</vt:lpstr>
      <vt:lpstr>Oswald</vt:lpstr>
      <vt:lpstr>Calibri</vt:lpstr>
      <vt:lpstr>Cabin</vt:lpstr>
      <vt:lpstr>Arial</vt:lpstr>
      <vt:lpstr>Urbanist SemiBold</vt:lpstr>
      <vt:lpstr>Times</vt:lpstr>
      <vt:lpstr>Urbanist</vt:lpstr>
      <vt:lpstr>JetBrains Mono</vt:lpstr>
      <vt:lpstr>Office Theme</vt:lpstr>
      <vt:lpstr>Slate</vt:lpstr>
      <vt:lpstr>Office Theme</vt:lpstr>
      <vt:lpstr>Office Theme</vt:lpstr>
      <vt:lpstr>AI POWERED PLAGIARISM AND DATA INTEGRITY GUARDIAN FOR ACADEMIC SUBMISSIONS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Sohan Sridhar</cp:lastModifiedBy>
  <cp:revision>2</cp:revision>
  <dcterms:modified xsi:type="dcterms:W3CDTF">2026-01-19T05:52:17Z</dcterms:modified>
</cp:coreProperties>
</file>